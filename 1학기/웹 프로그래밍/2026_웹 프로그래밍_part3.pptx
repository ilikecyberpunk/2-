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ink/ink2.xml" ContentType="application/inkml+xml"/>
  <Override PartName="/ppt/ink/ink9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3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71" r:id="rId5"/>
  </p:sldMasterIdLst>
  <p:notesMasterIdLst>
    <p:notesMasterId r:id="rId7"/>
  </p:notesMasterIdLst>
  <p:sldIdLst>
    <p:sldId id="256" r:id="rId9"/>
    <p:sldId id="422" r:id="rId10"/>
    <p:sldId id="423" r:id="rId11"/>
    <p:sldId id="424" r:id="rId12"/>
    <p:sldId id="425" r:id="rId13"/>
    <p:sldId id="426" r:id="rId14"/>
    <p:sldId id="427" r:id="rId15"/>
    <p:sldId id="428" r:id="rId16"/>
    <p:sldId id="429" r:id="rId17"/>
    <p:sldId id="430" r:id="rId18"/>
    <p:sldId id="431" r:id="rId19"/>
    <p:sldId id="432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41" r:id="rId29"/>
    <p:sldId id="442" r:id="rId30"/>
    <p:sldId id="443" r:id="rId31"/>
    <p:sldId id="444" r:id="rId32"/>
    <p:sldId id="445" r:id="rId33"/>
    <p:sldId id="448" r:id="rId34"/>
    <p:sldId id="449" r:id="rId35"/>
    <p:sldId id="450" r:id="rId36"/>
    <p:sldId id="451" r:id="rId37"/>
    <p:sldId id="452" r:id="rId38"/>
    <p:sldId id="453" r:id="rId39"/>
    <p:sldId id="454" r:id="rId40"/>
    <p:sldId id="446" r:id="rId41"/>
    <p:sldId id="447" r:id="rId42"/>
    <p:sldId id="455" r:id="rId43"/>
    <p:sldId id="457" r:id="rId44"/>
  </p:sldIdLst>
  <p:sldSz cx="9144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0">
          <p15:clr>
            <a:srgbClr val="A4A3A4"/>
          </p15:clr>
        </p15:guide>
        <p15:guide id="2" pos="2876" userDrawn="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840" autoAdjust="0"/>
    <p:restoredTop sz="94660"/>
  </p:normalViewPr>
  <p:slideViewPr>
    <p:cSldViewPr snapToGrid="1" snapToObjects="1">
      <p:cViewPr varScale="1">
        <p:scale>
          <a:sx n="97" d="100"/>
          <a:sy n="97" d="100"/>
        </p:scale>
        <p:origin x="1992" y="306"/>
      </p:cViewPr>
      <p:guideLst>
        <p:guide orient="horz" pos="2156"/>
        <p:guide pos="28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5" Type="http://schemas.openxmlformats.org/officeDocument/2006/relationships/slideMaster" Target="slideMasters/slideMaster1.xml"></Relationship><Relationship Id="rId6" Type="http://schemas.openxmlformats.org/officeDocument/2006/relationships/theme" Target="theme/theme1.xml"></Relationship><Relationship Id="rId7" Type="http://schemas.openxmlformats.org/officeDocument/2006/relationships/notesMaster" Target="notesMasters/notesMaster1.xml"></Relationship><Relationship Id="rId9" Type="http://schemas.openxmlformats.org/officeDocument/2006/relationships/slide" Target="slides/slide1.xml"></Relationship><Relationship Id="rId10" Type="http://schemas.openxmlformats.org/officeDocument/2006/relationships/slide" Target="slides/slide2.xml"></Relationship><Relationship Id="rId11" Type="http://schemas.openxmlformats.org/officeDocument/2006/relationships/slide" Target="slides/slide3.xml"></Relationship><Relationship Id="rId12" Type="http://schemas.openxmlformats.org/officeDocument/2006/relationships/slide" Target="slides/slide4.xml"></Relationship><Relationship Id="rId13" Type="http://schemas.openxmlformats.org/officeDocument/2006/relationships/slide" Target="slides/slide5.xml"></Relationship><Relationship Id="rId14" Type="http://schemas.openxmlformats.org/officeDocument/2006/relationships/slide" Target="slides/slide6.xml"></Relationship><Relationship Id="rId15" Type="http://schemas.openxmlformats.org/officeDocument/2006/relationships/slide" Target="slides/slide7.xml"></Relationship><Relationship Id="rId16" Type="http://schemas.openxmlformats.org/officeDocument/2006/relationships/slide" Target="slides/slide8.xml"></Relationship><Relationship Id="rId17" Type="http://schemas.openxmlformats.org/officeDocument/2006/relationships/slide" Target="slides/slide9.xml"></Relationship><Relationship Id="rId18" Type="http://schemas.openxmlformats.org/officeDocument/2006/relationships/slide" Target="slides/slide10.xml"></Relationship><Relationship Id="rId19" Type="http://schemas.openxmlformats.org/officeDocument/2006/relationships/slide" Target="slides/slide11.xml"></Relationship><Relationship Id="rId20" Type="http://schemas.openxmlformats.org/officeDocument/2006/relationships/slide" Target="slides/slide12.xml"></Relationship><Relationship Id="rId21" Type="http://schemas.openxmlformats.org/officeDocument/2006/relationships/slide" Target="slides/slide13.xml"></Relationship><Relationship Id="rId22" Type="http://schemas.openxmlformats.org/officeDocument/2006/relationships/slide" Target="slides/slide14.xml"></Relationship><Relationship Id="rId23" Type="http://schemas.openxmlformats.org/officeDocument/2006/relationships/slide" Target="slides/slide15.xml"></Relationship><Relationship Id="rId24" Type="http://schemas.openxmlformats.org/officeDocument/2006/relationships/slide" Target="slides/slide16.xml"></Relationship><Relationship Id="rId25" Type="http://schemas.openxmlformats.org/officeDocument/2006/relationships/slide" Target="slides/slide17.xml"></Relationship><Relationship Id="rId26" Type="http://schemas.openxmlformats.org/officeDocument/2006/relationships/slide" Target="slides/slide18.xml"></Relationship><Relationship Id="rId27" Type="http://schemas.openxmlformats.org/officeDocument/2006/relationships/slide" Target="slides/slide19.xml"></Relationship><Relationship Id="rId28" Type="http://schemas.openxmlformats.org/officeDocument/2006/relationships/slide" Target="slides/slide20.xml"></Relationship><Relationship Id="rId29" Type="http://schemas.openxmlformats.org/officeDocument/2006/relationships/slide" Target="slides/slide21.xml"></Relationship><Relationship Id="rId30" Type="http://schemas.openxmlformats.org/officeDocument/2006/relationships/slide" Target="slides/slide22.xml"></Relationship><Relationship Id="rId31" Type="http://schemas.openxmlformats.org/officeDocument/2006/relationships/slide" Target="slides/slide23.xml"></Relationship><Relationship Id="rId32" Type="http://schemas.openxmlformats.org/officeDocument/2006/relationships/slide" Target="slides/slide24.xml"></Relationship><Relationship Id="rId33" Type="http://schemas.openxmlformats.org/officeDocument/2006/relationships/slide" Target="slides/slide25.xml"></Relationship><Relationship Id="rId34" Type="http://schemas.openxmlformats.org/officeDocument/2006/relationships/slide" Target="slides/slide26.xml"></Relationship><Relationship Id="rId35" Type="http://schemas.openxmlformats.org/officeDocument/2006/relationships/slide" Target="slides/slide27.xml"></Relationship><Relationship Id="rId36" Type="http://schemas.openxmlformats.org/officeDocument/2006/relationships/slide" Target="slides/slide28.xml"></Relationship><Relationship Id="rId37" Type="http://schemas.openxmlformats.org/officeDocument/2006/relationships/slide" Target="slides/slide29.xml"></Relationship><Relationship Id="rId38" Type="http://schemas.openxmlformats.org/officeDocument/2006/relationships/slide" Target="slides/slide30.xml"></Relationship><Relationship Id="rId39" Type="http://schemas.openxmlformats.org/officeDocument/2006/relationships/slide" Target="slides/slide31.xml"></Relationship><Relationship Id="rId40" Type="http://schemas.openxmlformats.org/officeDocument/2006/relationships/slide" Target="slides/slide32.xml"></Relationship><Relationship Id="rId41" Type="http://schemas.openxmlformats.org/officeDocument/2006/relationships/slide" Target="slides/slide33.xml"></Relationship><Relationship Id="rId42" Type="http://schemas.openxmlformats.org/officeDocument/2006/relationships/slide" Target="slides/slide34.xml"></Relationship><Relationship Id="rId43" Type="http://schemas.openxmlformats.org/officeDocument/2006/relationships/slide" Target="slides/slide35.xml"></Relationship><Relationship Id="rId44" Type="http://schemas.openxmlformats.org/officeDocument/2006/relationships/slide" Target="slides/slide36.xml"></Relationship><Relationship Id="rId46" Type="http://schemas.openxmlformats.org/officeDocument/2006/relationships/viewProps" Target="viewProps.xml"></Relationship><Relationship Id="rId47" Type="http://schemas.openxmlformats.org/officeDocument/2006/relationships/presProps" Target="presProps.xml"></Relationship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2151 0,'-52'105,"-248"319,-53 17,-106-53,-88 35,248-229,210-141,72-35,-1-1,1-17,34 18,18-18,124 0,282-53,194-18,-159 18,-35 36,-352 17,-1 0,-18 0,-52 0,0 0,-1 0,-17-18,-17 1,-36-36,-159-88,-176-89,141 71,0 1,-176-142,229 159,17 17,54 1,-71-54,141 125,-35-19,70 53,18 1,-18 17,18 17,0 36,0 159,124 370,158 318,-35-195,35-88,-211-422,-36-125,-35-35,0-17,0 0,0-36,18 18,-18-53,35-53,0-141,53-70,36-71,105-177,-105 301,-36 87,-35 89,-18 0,-17 70,-18 1,0-1,0 0,17 1,1-19,17-34,-17-54,70-34,-70 105,-1 17,1 1,-18 53,-18-1,18-17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2434 0,'-71'105,"-70"89,-353 494,71-176,88-71,158-247,-52 123,17-34,1-1,175-229,-34 35,35-53,35 0,0-35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0 299,'176'-53,"247"-70,-123 52,-159 36,-17 18,-36 34,-71 36,19 53,-19 35,-34 53,-54 18,18-106,-70 105,-71-52,-53 17,159-140,70-19,-35-17,53 18,-18-18,18-18,18 1,106-1,70 0,-106 18,106 0,-106 18,53 17,-70-17,-36 17,-35 36,-53-1,-106 89,-52 17,-54-34,194-90,-123 1,89-35,-54-18,159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1411 0,'-18'70,"-176"300,-124 142,-140 246,193-264,159-353,71-105,18-1,17-35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158 0,'0'158,"0"266,-17-1,-19-159,-34 54,52-53,1-54,17-70,0-70,0-1,17-17,-17-17,18-19,-18-17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1075 194,'-88'-36,"-159"-70,-105 54,158 104,88 160,53 123,18-123,35-124,0-35,0-35,35-1,53-17,0 0,265-88,35-53,-229 70,70-34,-17-19,-142 71,36-35,-35 17,-54 71,19-52,-19 52,-17 17,-35 18,-36 54,-70 158,35-71,-123 530,141-336,35-158,35-71,18-71,-17-17,-1-18,-17 36,0 0,35-71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2518 486,'-148'360,"-296"339,84-107,-212 107,234-339,253-255,-63 22,148-84,-21-22,-1-21,22 21,22-42,41 21,43-42,127 20,592-41,-20 63,-255 0,-338-21,42 0,-170-1,-20 1,-1 21,-42-21,1 21,-22-21,-22 0,-41-22,-43-41,-169-128,-1122-1016,635 509,296 295,-21 43,382 276,84 84,42 42,0 42,63 22,22 105,42 64,170 572,-170-255,127 255,-127-191,-105-402,20 21,1 42,-1-106,-42-105,-21-64,22 0,-22-42,0 0,0-21,0 21,63-149,43-147,127-128,211-465,-63-42,-169 274,-127 382,-85 190,21 64,-21 21,0 21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3555 0,'0'42,"-275"233,-85 127,-232 85,295-233,-380 381,275-275,127-43,42-84,85-42,127-128,-1-42,65-21,-1 0,43 0,21 0,126 0,382 64,64 20,-340-20,1-22,42 22,-233-43,-63-21,-1 0,1 21,-21-21,-22 21,0-21,1 0,-22 0,0 0,-21-21,-21-21,0-1,-64-62,-42-65,-106-63,-63-84,42 63,-508-402,254 254,42 21,127 42,-126-42,338 275,85 85,42 63,0 1,0 41,0 86,0 105,84 85,43 63,233 868,-148-635,-64-84,-64-255,22 22,-63-254,-22-1,0-41,0-1,21-21,-20-21,-1 0,0-21,21-64,128-338,-86 275,107-233,-22 127,-21-43,0 43,85-232,-106 253,21 0,43-212,-128 297,-20 21,-43 106,21 0,-21 0,0 21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3619 380,'-127'212,"-212"148,-21-21,-105-1,-318 213,402-297,296-191,127-63,1 0,20 0,22-21,21 21,359-85,170 1,-233 20,487-63,-571 127,105 0,-338 0,-85-21,0 0,-85-43,-275-190,106 85,-550-233,-1186-297,1398 488,274 62,86 44,232 84,21 21,21 126,64 23,148 210,42 65,64 105,-191-233,149 212,-191-296,21 21,-127-170,43 43,-64-64,21-42,0-42,0-64,21-42,22-212,21-148,-22 297,22-297,-1 211,-84 191,64-21,-43 85,64-43,-64 22,64-43,-22 64,-42 21,-21-1,43 1,-43 0,21 21,-21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3365 0,'-21'105,"-43"107,1-64,-1 0,-486 614,359-550,-274 317,338-360,-170 149,22-22,42 1,85-65,64-62,-22-1,0 22,0 63,64-170,-22 1,1 0,42-1,-22 1,-20-22,42-20,21-1,0-21,-22 0,-20 22,21 41,-21-62,42 20,0-21,-21-21,21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677 0,'-21'0,"-1"21,-41 21,-1-21,22 21,-21-20,20 20,-20-21,-43 43,64-22,-1 0,-41 1,63-22,84-21,-42 0,43 0,-43 0,63 0,1 0,21 0,-64 0,-21 0,22 0,-22 0,-42 0,0 0,21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190 0,'0'42,"0"-21,0 64,-64 190,1-21,0-21,63-106,0-127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719 0,'-21'42,"21"-21,-85 106,1 42,-1 22,0-85,-126 148,147-149,22-41,21-43,21 0,-21-21,21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0,'0'42,"0"42,0-20,0 42,0 42,0 42,0-126,0-22,0-21,0 1,0-1,0-21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67E21-F3AE-43E5-8344-710FD999BB11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8DAAC-260C-484A-B0EF-1E8BC18453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59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8DAAC-260C-484A-B0EF-1E8BC184537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975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0" y="1497013"/>
            <a:ext cx="9144000" cy="50800"/>
            <a:chOff x="0" y="583"/>
            <a:chExt cx="5760" cy="50"/>
          </a:xfrm>
        </p:grpSpPr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0" y="6288088"/>
            <a:ext cx="9144000" cy="50800"/>
            <a:chOff x="0" y="583"/>
            <a:chExt cx="5760" cy="50"/>
          </a:xfrm>
        </p:grpSpPr>
        <p:sp>
          <p:nvSpPr>
            <p:cNvPr id="9" name="Rectangle 1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" name="Rectangle 13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614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143000" y="1676400"/>
            <a:ext cx="7010400" cy="1752600"/>
          </a:xfrm>
        </p:spPr>
        <p:txBody>
          <a:bodyPr anchor="ctr"/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62000" y="4343400"/>
            <a:ext cx="7696200" cy="1752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000" b="1"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3E709-C6A3-4DBD-82F7-6E5ED028B1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제목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913" y="146050"/>
            <a:ext cx="7772400" cy="762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차트 개체 틀 2"/>
          <p:cNvSpPr>
            <a:spLocks noGrp="1"/>
          </p:cNvSpPr>
          <p:nvPr>
            <p:ph type="chart" idx="1"/>
          </p:nvPr>
        </p:nvSpPr>
        <p:spPr>
          <a:xfrm>
            <a:off x="444500" y="1152525"/>
            <a:ext cx="7772400" cy="5019675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66BAE-B407-4D4C-92B0-3DCDF5F79E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12000" y="641985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300">
                <a:solidFill>
                  <a:schemeClr val="tx2"/>
                </a:solidFill>
                <a:latin typeface="+mn-ea"/>
                <a:ea typeface="굴림" pitchFamily="50" charset="-127"/>
              </a:defRPr>
            </a:lvl1pPr>
          </a:lstStyle>
          <a:p>
            <a:pPr>
              <a:defRPr/>
            </a:pPr>
            <a:fld id="{7654FC3B-6869-4E9F-A7F1-8E695089650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4500" y="1152525"/>
            <a:ext cx="7772400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96938" y="6392863"/>
            <a:ext cx="3109912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defRPr kumimoji="0">
                <a:solidFill>
                  <a:srgbClr val="40458C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0" y="954088"/>
            <a:ext cx="9144000" cy="50800"/>
            <a:chOff x="0" y="583"/>
            <a:chExt cx="5760" cy="50"/>
          </a:xfrm>
        </p:grpSpPr>
        <p:sp>
          <p:nvSpPr>
            <p:cNvPr id="1035" name="Rectangle 14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6" name="Rectangle 17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0" y="6383338"/>
            <a:ext cx="9144000" cy="60325"/>
            <a:chOff x="0" y="583"/>
            <a:chExt cx="5760" cy="50"/>
          </a:xfrm>
        </p:grpSpPr>
        <p:sp>
          <p:nvSpPr>
            <p:cNvPr id="1033" name="Rectangle 2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4" name="Rectangle 23"/>
            <p:cNvSpPr>
              <a:spLocks noChangeArrowheads="1"/>
            </p:cNvSpPr>
            <p:nvPr userDrawn="1"/>
          </p:nvSpPr>
          <p:spPr bwMode="auto">
            <a:xfrm>
              <a:off x="1638" y="590"/>
              <a:ext cx="4122" cy="43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10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4605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40458C"/>
        </a:buClr>
        <a:buFont typeface="Wingdings" pitchFamily="2" charset="2"/>
        <a:buChar char="n"/>
        <a:defRPr kumimoji="1" sz="2200">
          <a:solidFill>
            <a:srgbClr val="40458C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Times New Roman" pitchFamily="18" charset="0"/>
        <a:buChar char="–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customXml" Target="../ink/ink1.xml"></Relationship><Relationship Id="rId2" Type="http://schemas.openxmlformats.org/officeDocument/2006/relationships/image" Target="../media/fImage355627841.emf"></Relationship><Relationship Id="rId3" Type="http://schemas.openxmlformats.org/officeDocument/2006/relationships/customXml" Target="../ink/ink2.xml"></Relationship><Relationship Id="rId4" Type="http://schemas.openxmlformats.org/officeDocument/2006/relationships/image" Target="../media/fImage4442798467.emf"></Relationship><Relationship Id="rId5" Type="http://schemas.openxmlformats.org/officeDocument/2006/relationships/slideLayout" Target="../slideLayouts/slideLayout2.xml"></Relationship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image" Target="../media/image4.png"></Relationship><Relationship Id="rId25" Type="http://schemas.openxmlformats.org/officeDocument/2006/relationships/customXml" Target="../ink/ink3.xml"></Relationship><Relationship Id="rId26" Type="http://schemas.openxmlformats.org/officeDocument/2006/relationships/image" Target="../media/fImage9567241.emf"></Relationship><Relationship Id="rId27" Type="http://schemas.openxmlformats.org/officeDocument/2006/relationships/customXml" Target="../ink/ink4.xml"></Relationship><Relationship Id="rId28" Type="http://schemas.openxmlformats.org/officeDocument/2006/relationships/image" Target="../media/fImage1996738467.emf"></Relationship><Relationship Id="rId29" Type="http://schemas.openxmlformats.org/officeDocument/2006/relationships/customXml" Target="../ink/ink5.xml"></Relationship><Relationship Id="rId30" Type="http://schemas.openxmlformats.org/officeDocument/2006/relationships/image" Target="../media/fImage756746334.emf"></Relationship><Relationship Id="rId31" Type="http://schemas.openxmlformats.org/officeDocument/2006/relationships/customXml" Target="../ink/ink6.xml"></Relationship><Relationship Id="rId32" Type="http://schemas.openxmlformats.org/officeDocument/2006/relationships/image" Target="../media/fImage956756500.emf"></Relationship><Relationship Id="rId33" Type="http://schemas.openxmlformats.org/officeDocument/2006/relationships/customXml" Target="../ink/ink7.xml"></Relationship><Relationship Id="rId34" Type="http://schemas.openxmlformats.org/officeDocument/2006/relationships/image" Target="../media/fImage1956769169.emf"></Relationship><Relationship Id="rId35" Type="http://schemas.openxmlformats.org/officeDocument/2006/relationships/customXml" Target="../ink/ink8.xml"></Relationship><Relationship Id="rId36" Type="http://schemas.openxmlformats.org/officeDocument/2006/relationships/image" Target="../media/fImage3076775724.emf"></Relationship><Relationship Id="rId37" Type="http://schemas.openxmlformats.org/officeDocument/2006/relationships/slideLayout" Target="../slideLayouts/slideLayout2.xml"></Relationship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customXml" Target="../ink/ink9.xml"></Relationship><Relationship Id="rId2" Type="http://schemas.openxmlformats.org/officeDocument/2006/relationships/image" Target="../media/fImage37562861478.emf"></Relationship><Relationship Id="rId3" Type="http://schemas.openxmlformats.org/officeDocument/2006/relationships/slideLayout" Target="../slideLayouts/slideLayout2.xml"></Relationship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
<Relationships xmlns="http://schemas.openxmlformats.org/package/2006/relationships"><Relationship Id="rId3" Type="http://schemas.openxmlformats.org/officeDocument/2006/relationships/image" Target="../media/image10.png"></Relationship><Relationship Id="rId2" Type="http://schemas.openxmlformats.org/officeDocument/2006/relationships/notesSlide" Target="../notesSlides/notesSlide15.xml"></Relationship><Relationship Id="rId4" Type="http://schemas.openxmlformats.org/officeDocument/2006/relationships/customXml" Target="../ink/ink10.xml"></Relationship><Relationship Id="rId5" Type="http://schemas.openxmlformats.org/officeDocument/2006/relationships/image" Target="../media/fImage299628841.emf"></Relationship><Relationship Id="rId6" Type="http://schemas.openxmlformats.org/officeDocument/2006/relationships/slideLayout" Target="../slideLayouts/slideLayout2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customXml" Target="../ink/ink11.xml"></Relationship><Relationship Id="rId2" Type="http://schemas.openxmlformats.org/officeDocument/2006/relationships/image" Target="../media/fImage17162898467.emf"></Relationship><Relationship Id="rId3" Type="http://schemas.openxmlformats.org/officeDocument/2006/relationships/customXml" Target="../ink/ink12.xml"></Relationship><Relationship Id="rId4" Type="http://schemas.openxmlformats.org/officeDocument/2006/relationships/image" Target="../media/fImage14762906334.emf"></Relationship><Relationship Id="rId5" Type="http://schemas.openxmlformats.org/officeDocument/2006/relationships/customXml" Target="../ink/ink13.xml"></Relationship><Relationship Id="rId6" Type="http://schemas.openxmlformats.org/officeDocument/2006/relationships/image" Target="../media/fImage7162916500.emf"></Relationship><Relationship Id="rId7" Type="http://schemas.openxmlformats.org/officeDocument/2006/relationships/customXml" Target="../ink/ink14.xml"></Relationship><Relationship Id="rId8" Type="http://schemas.openxmlformats.org/officeDocument/2006/relationships/image" Target="../media/fImage9162929169.emf"></Relationship><Relationship Id="rId9" Type="http://schemas.openxmlformats.org/officeDocument/2006/relationships/customXml" Target="../ink/ink15.xml"></Relationship><Relationship Id="rId10" Type="http://schemas.openxmlformats.org/officeDocument/2006/relationships/image" Target="../media/fImage8762935724.emf"></Relationship><Relationship Id="rId11" Type="http://schemas.openxmlformats.org/officeDocument/2006/relationships/slideLayout" Target="../slideLayouts/slideLayout2.xml"></Relationship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ko-KR" altLang="en-US" dirty="0"/>
              <a:t>웹 프로그래밍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/>
              <a:t>3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ko-KR" altLang="en-US" dirty="0"/>
              <a:t>금오공과대학교</a:t>
            </a:r>
            <a:endParaRPr lang="en-US" altLang="ko-KR" dirty="0"/>
          </a:p>
          <a:p>
            <a:r>
              <a:rPr lang="ko-KR" altLang="en-US" dirty="0"/>
              <a:t>조재한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03F85-8E2A-7937-4F08-CDFEBA84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en-US" altLang="ko-KR" dirty="0"/>
              <a:t>CSS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25B004-467F-FED1-40E6-D16A1B6B4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3035" cy="502031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ko-KR" sz="3400" b="1" dirty="0"/>
              <a:t>CSS </a:t>
            </a:r>
            <a:r>
              <a:rPr lang="ko-KR" altLang="en-US" sz="3400" b="1"/>
              <a:t>란 무엇인가</a:t>
            </a:r>
            <a:r>
              <a:rPr lang="en-US" altLang="ko-KR" sz="3400" b="1"/>
              <a:t>? </a:t>
            </a:r>
            <a:endParaRPr lang="en-US" altLang="ko-KR" sz="3400" b="1" dirty="0"/>
          </a:p>
          <a:p>
            <a:pPr lvl="1">
              <a:lnSpc>
                <a:spcPct val="170000"/>
              </a:lnSpc>
            </a:pPr>
            <a:r>
              <a:rPr lang="en-US" altLang="ko-KR" sz="2500" dirty="0"/>
              <a:t>CSS(Cascading Style Sheets) </a:t>
            </a:r>
            <a:r>
              <a:rPr lang="ko-KR" altLang="en-US" sz="2500" dirty="0"/>
              <a:t>는 웹 페이지의 스타일과 디자인을 정의하는 언어이다</a:t>
            </a:r>
            <a:r>
              <a:rPr lang="en-US" altLang="ko-KR" sz="2500" dirty="0"/>
              <a:t>. </a:t>
            </a:r>
          </a:p>
          <a:p>
            <a:pPr lvl="1">
              <a:lnSpc>
                <a:spcPct val="170000"/>
              </a:lnSpc>
            </a:pPr>
            <a:r>
              <a:rPr lang="en-US" altLang="ko-KR" sz="2500" dirty="0"/>
              <a:t>HTML </a:t>
            </a:r>
            <a:r>
              <a:rPr lang="ko-KR" altLang="en-US" sz="2500" dirty="0"/>
              <a:t>이 웹 페이지의 구조와 콘텐츠를 정의한다면</a:t>
            </a:r>
            <a:r>
              <a:rPr lang="en-US" altLang="ko-KR" sz="2500" dirty="0"/>
              <a:t>, CSS </a:t>
            </a:r>
            <a:r>
              <a:rPr lang="ko-KR" altLang="en-US" sz="2500" dirty="0"/>
              <a:t>는 이를 시각적으로 표 현하고 꾸미는 역할을 담당한다</a:t>
            </a:r>
            <a:r>
              <a:rPr lang="en-US" altLang="ko-KR" sz="2500" dirty="0"/>
              <a:t>. </a:t>
            </a:r>
          </a:p>
          <a:p>
            <a:pPr>
              <a:lnSpc>
                <a:spcPct val="170000"/>
              </a:lnSpc>
            </a:pPr>
            <a:r>
              <a:rPr lang="en-US" altLang="ko-KR" sz="3400" b="1" dirty="0"/>
              <a:t>CSS </a:t>
            </a:r>
            <a:r>
              <a:rPr lang="ko-KR" altLang="en-US" sz="3400" b="1" dirty="0"/>
              <a:t>의 역사 </a:t>
            </a:r>
          </a:p>
          <a:p>
            <a:pPr lvl="1">
              <a:lnSpc>
                <a:spcPct val="170000"/>
              </a:lnSpc>
            </a:pPr>
            <a:r>
              <a:rPr lang="en-US" altLang="ko-KR" sz="2500" dirty="0"/>
              <a:t>W3C</a:t>
            </a:r>
            <a:r>
              <a:rPr lang="ko-KR" altLang="en-US" sz="2500" dirty="0"/>
              <a:t>가 </a:t>
            </a:r>
            <a:r>
              <a:rPr lang="en-US" altLang="ko-KR" sz="2500" dirty="0"/>
              <a:t>1996</a:t>
            </a:r>
            <a:r>
              <a:rPr lang="ko-KR" altLang="en-US" sz="2500" dirty="0"/>
              <a:t>년에 </a:t>
            </a:r>
            <a:r>
              <a:rPr lang="en-US" altLang="ko-KR" sz="2500" dirty="0"/>
              <a:t>CSS </a:t>
            </a:r>
            <a:r>
              <a:rPr lang="ko-KR" altLang="en-US" sz="2500" dirty="0"/>
              <a:t>를 처음 소개했다</a:t>
            </a:r>
            <a:r>
              <a:rPr lang="en-US" altLang="ko-KR" sz="2500" dirty="0"/>
              <a:t>. </a:t>
            </a:r>
          </a:p>
          <a:p>
            <a:pPr lvl="1">
              <a:lnSpc>
                <a:spcPct val="170000"/>
              </a:lnSpc>
            </a:pPr>
            <a:r>
              <a:rPr lang="en-US" altLang="ko-KR" sz="2500" dirty="0"/>
              <a:t>CSS</a:t>
            </a:r>
            <a:r>
              <a:rPr lang="ko-KR" altLang="en-US" sz="2500" dirty="0"/>
              <a:t>는 </a:t>
            </a:r>
            <a:r>
              <a:rPr lang="en-US" altLang="ko-KR" sz="2500" dirty="0"/>
              <a:t>CSS1, CSS2, CSS3 </a:t>
            </a:r>
            <a:r>
              <a:rPr lang="ko-KR" altLang="en-US" sz="2500" dirty="0"/>
              <a:t>버전으로 발전했으며</a:t>
            </a:r>
            <a:r>
              <a:rPr lang="en-US" altLang="ko-KR" sz="2500" dirty="0"/>
              <a:t>, </a:t>
            </a:r>
            <a:r>
              <a:rPr lang="ko-KR" altLang="en-US" sz="2500" dirty="0"/>
              <a:t>현재는 </a:t>
            </a:r>
            <a:r>
              <a:rPr lang="en-US" altLang="ko-KR" sz="2500" dirty="0"/>
              <a:t>CSS3 </a:t>
            </a:r>
            <a:r>
              <a:rPr lang="ko-KR" altLang="en-US" sz="2500" dirty="0"/>
              <a:t>와 일부 </a:t>
            </a:r>
            <a:r>
              <a:rPr lang="en-US" altLang="ko-KR" sz="2500" dirty="0"/>
              <a:t>CSS4 </a:t>
            </a:r>
            <a:r>
              <a:rPr lang="ko-KR" altLang="en-US" sz="2500" dirty="0"/>
              <a:t>모듈을 사용하고 있다</a:t>
            </a:r>
            <a:r>
              <a:rPr lang="en-US" altLang="ko-KR" sz="2500" dirty="0"/>
              <a:t>. </a:t>
            </a:r>
          </a:p>
          <a:p>
            <a:pPr>
              <a:lnSpc>
                <a:spcPct val="170000"/>
              </a:lnSpc>
            </a:pPr>
            <a:r>
              <a:rPr lang="en-US" altLang="ko-KR" sz="3400" b="1" dirty="0"/>
              <a:t>CSS </a:t>
            </a:r>
            <a:r>
              <a:rPr lang="ko-KR" altLang="en-US" sz="3400" b="1" dirty="0"/>
              <a:t>의 주요 특징 </a:t>
            </a:r>
          </a:p>
          <a:p>
            <a:pPr lvl="1">
              <a:lnSpc>
                <a:spcPct val="170000"/>
              </a:lnSpc>
            </a:pPr>
            <a:r>
              <a:rPr lang="ko-KR" altLang="en-US" sz="2500" b="1" dirty="0"/>
              <a:t>스타일 재사용성 </a:t>
            </a:r>
          </a:p>
          <a:p>
            <a:pPr lvl="2">
              <a:lnSpc>
                <a:spcPct val="170000"/>
              </a:lnSpc>
            </a:pPr>
            <a:r>
              <a:rPr lang="ko-KR" altLang="en-US" sz="2500" dirty="0"/>
              <a:t>하나의 </a:t>
            </a:r>
            <a:r>
              <a:rPr lang="en-US" altLang="ko-KR" sz="2500" dirty="0"/>
              <a:t>CSS </a:t>
            </a:r>
            <a:r>
              <a:rPr lang="ko-KR" altLang="en-US" sz="2500" dirty="0"/>
              <a:t>파일을 여러 </a:t>
            </a:r>
            <a:r>
              <a:rPr lang="en-US" altLang="ko-KR" sz="2500" dirty="0"/>
              <a:t>HTML </a:t>
            </a:r>
            <a:r>
              <a:rPr lang="ko-KR" altLang="en-US" sz="2500" dirty="0"/>
              <a:t>문서에 적용할 수 있다</a:t>
            </a:r>
            <a:r>
              <a:rPr lang="en-US" altLang="ko-KR" sz="2500" dirty="0"/>
              <a:t>. </a:t>
            </a:r>
          </a:p>
          <a:p>
            <a:pPr lvl="1">
              <a:lnSpc>
                <a:spcPct val="170000"/>
              </a:lnSpc>
            </a:pPr>
            <a:r>
              <a:rPr lang="ko-KR" altLang="en-US" sz="2500" b="1" dirty="0"/>
              <a:t>효율적인 유지보수 </a:t>
            </a:r>
          </a:p>
          <a:p>
            <a:pPr lvl="2">
              <a:lnSpc>
                <a:spcPct val="170000"/>
              </a:lnSpc>
            </a:pPr>
            <a:r>
              <a:rPr lang="ko-KR" altLang="en-US" sz="2500" dirty="0"/>
              <a:t>모든 디자인 요소를 중앙에서 일괄 관리할 수 있다</a:t>
            </a:r>
            <a:r>
              <a:rPr lang="en-US" altLang="ko-KR" sz="2500" dirty="0"/>
              <a:t>. </a:t>
            </a:r>
          </a:p>
          <a:p>
            <a:pPr lvl="1">
              <a:lnSpc>
                <a:spcPct val="170000"/>
              </a:lnSpc>
            </a:pPr>
            <a:r>
              <a:rPr lang="ko-KR" altLang="en-US" sz="2500" b="1" dirty="0"/>
              <a:t>향상된 접근성 </a:t>
            </a:r>
          </a:p>
          <a:p>
            <a:pPr lvl="2">
              <a:lnSpc>
                <a:spcPct val="170000"/>
              </a:lnSpc>
            </a:pPr>
            <a:r>
              <a:rPr lang="ko-KR" altLang="en-US" sz="2500" dirty="0"/>
              <a:t>콘텐츠와 디자인을 분리하여 사용자 경험을 개선할 수 있다</a:t>
            </a:r>
            <a:r>
              <a:rPr lang="en-US" altLang="ko-KR" sz="2500" dirty="0"/>
              <a:t>.</a:t>
            </a:r>
            <a:endParaRPr lang="ko-KR" altLang="en-US" sz="25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DB9BD2-534A-0F7B-CA6F-720FF030D9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0D4E6F-E3DF-A191-87AB-A7EE9249E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">
            <p14:nvContentPartPr>
              <p14:cNvPr id="6" name="잉크 1"/>
              <p14:cNvContentPartPr/>
              <p14:nvPr/>
            </p14:nvContentPartPr>
            <p14:xfrm>
              <a:off x="5594350" y="495300"/>
              <a:ext cx="901700" cy="1263650"/>
            </p14:xfrm>
          </p:contentPart>
        </mc:Choice>
        <mc:Fallback>
          <p:pic>
            <p:nvPicPr>
              <p:cNvPr id="6" name="잉크 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94350" y="495300"/>
                <a:ext cx="901700" cy="1263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2"/>
              <p14:cNvContentPartPr/>
              <p14:nvPr/>
            </p14:nvContentPartPr>
            <p14:xfrm>
              <a:off x="2641600" y="4210050"/>
              <a:ext cx="6350" cy="6350"/>
            </p14:xfrm>
          </p:contentPart>
        </mc:Choice>
        <mc:Fallback>
          <p:pic>
            <p:nvPicPr>
              <p:cNvPr id="7" name="잉크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1600" y="4210050"/>
                <a:ext cx="6350" cy="63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2168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AA078C-C2B2-B419-7117-172A616B7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기본구조</a:t>
            </a:r>
            <a:r>
              <a:rPr lang="en-US" altLang="ko-KR" dirty="0"/>
              <a:t>/</a:t>
            </a:r>
            <a:r>
              <a:rPr lang="ko-KR" altLang="en-US" dirty="0"/>
              <a:t>적용방법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C59906-773A-FAB5-BCB8-AD33E968E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z="1700" b="1" dirty="0"/>
              <a:t>CSS </a:t>
            </a:r>
            <a:r>
              <a:rPr lang="ko-KR" altLang="en-US" sz="1700" b="1" dirty="0"/>
              <a:t>기본구조</a:t>
            </a:r>
            <a:endParaRPr lang="en-US" altLang="ko-KR" sz="1700" b="1" dirty="0"/>
          </a:p>
          <a:p>
            <a:pPr lvl="1"/>
            <a:r>
              <a:rPr lang="ko-KR" altLang="en-US" sz="1400" b="1" dirty="0"/>
              <a:t>선택자</a:t>
            </a:r>
            <a:endParaRPr lang="en-US" altLang="ko-KR" sz="1400" b="1" dirty="0"/>
          </a:p>
          <a:p>
            <a:pPr lvl="2"/>
            <a:r>
              <a:rPr lang="ko-KR" altLang="en-US" sz="1400" dirty="0"/>
              <a:t>스타일을 적용할 </a:t>
            </a:r>
            <a:r>
              <a:rPr lang="en-US" altLang="ko-KR" sz="1400" dirty="0"/>
              <a:t>HTML </a:t>
            </a:r>
            <a:r>
              <a:rPr lang="ko-KR" altLang="en-US" sz="1400" dirty="0"/>
              <a:t>요소를 지정한다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lvl="1"/>
            <a:r>
              <a:rPr lang="ko-KR" altLang="en-US" sz="1400" b="1" dirty="0"/>
              <a:t>속성</a:t>
            </a:r>
            <a:endParaRPr lang="en-US" altLang="ko-KR" sz="1400" b="1" dirty="0"/>
          </a:p>
          <a:p>
            <a:pPr lvl="2"/>
            <a:r>
              <a:rPr lang="ko-KR" altLang="en-US" sz="1400" dirty="0"/>
              <a:t>변경하려는 스타일의 종류이다</a:t>
            </a:r>
            <a:r>
              <a:rPr lang="en-US" altLang="ko-KR" sz="1400" dirty="0"/>
              <a:t>. </a:t>
            </a:r>
          </a:p>
          <a:p>
            <a:pPr lvl="3"/>
            <a:r>
              <a:rPr lang="ko-KR" altLang="en-US" sz="1400" dirty="0">
                <a:solidFill>
                  <a:srgbClr val="FF0000"/>
                </a:solidFill>
              </a:rPr>
              <a:t>예</a:t>
            </a:r>
            <a:r>
              <a:rPr lang="en-US" altLang="ko-KR" sz="1400" dirty="0">
                <a:solidFill>
                  <a:srgbClr val="FF0000"/>
                </a:solidFill>
              </a:rPr>
              <a:t>) color, font-size </a:t>
            </a:r>
            <a:r>
              <a:rPr lang="ko-KR" altLang="en-US" sz="1400" dirty="0">
                <a:solidFill>
                  <a:srgbClr val="FF0000"/>
                </a:solidFill>
              </a:rPr>
              <a:t>등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lvl="1"/>
            <a:r>
              <a:rPr lang="ko-KR" altLang="en-US" sz="1400" b="1" dirty="0"/>
              <a:t>값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lvl="2"/>
            <a:r>
              <a:rPr lang="ko-KR" altLang="en-US" sz="1400" dirty="0"/>
              <a:t>속성에 부여할 스타일 값이다</a:t>
            </a:r>
            <a:r>
              <a:rPr lang="en-US" altLang="ko-KR" sz="1400" dirty="0"/>
              <a:t>. </a:t>
            </a:r>
          </a:p>
          <a:p>
            <a:pPr lvl="3"/>
            <a:r>
              <a:rPr lang="ko-KR" altLang="en-US" sz="1400" dirty="0">
                <a:solidFill>
                  <a:srgbClr val="FF0000"/>
                </a:solidFill>
              </a:rPr>
              <a:t>예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red, 16px </a:t>
            </a:r>
            <a:r>
              <a:rPr lang="ko-KR" altLang="en-US" sz="1400" dirty="0">
                <a:solidFill>
                  <a:srgbClr val="FF0000"/>
                </a:solidFill>
              </a:rPr>
              <a:t>등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lvl="3"/>
            <a:endParaRPr lang="en-US" altLang="ko-KR" sz="1400" dirty="0">
              <a:solidFill>
                <a:srgbClr val="FF0000"/>
              </a:solidFill>
            </a:endParaRPr>
          </a:p>
          <a:p>
            <a:pPr lvl="3"/>
            <a:endParaRPr lang="en-US" altLang="ko-KR" sz="1400" dirty="0">
              <a:solidFill>
                <a:srgbClr val="FF0000"/>
              </a:solidFill>
            </a:endParaRPr>
          </a:p>
          <a:p>
            <a:pPr lvl="3"/>
            <a:endParaRPr lang="en-US" altLang="ko-KR" sz="1400" dirty="0">
              <a:solidFill>
                <a:srgbClr val="FF0000"/>
              </a:solidFill>
            </a:endParaRPr>
          </a:p>
          <a:p>
            <a:pPr lvl="3"/>
            <a:endParaRPr lang="en-US" altLang="ko-KR" sz="1400" dirty="0">
              <a:solidFill>
                <a:srgbClr val="FF0000"/>
              </a:solidFill>
            </a:endParaRPr>
          </a:p>
          <a:p>
            <a:pPr lvl="3"/>
            <a:endParaRPr lang="en-US" altLang="ko-KR" sz="1400" dirty="0">
              <a:solidFill>
                <a:srgbClr val="FF0000"/>
              </a:solidFill>
            </a:endParaRPr>
          </a:p>
          <a:p>
            <a:pPr lvl="3"/>
            <a:endParaRPr lang="en-US" altLang="ko-KR" sz="1400" dirty="0">
              <a:solidFill>
                <a:srgbClr val="FF0000"/>
              </a:solidFill>
            </a:endParaRPr>
          </a:p>
          <a:p>
            <a:pPr lvl="3"/>
            <a:endParaRPr lang="en-US" altLang="ko-KR" sz="1400" dirty="0">
              <a:solidFill>
                <a:srgbClr val="FF0000"/>
              </a:solidFill>
            </a:endParaRPr>
          </a:p>
          <a:p>
            <a:pPr lvl="3"/>
            <a:endParaRPr lang="en-US" altLang="ko-KR" sz="1400" dirty="0">
              <a:solidFill>
                <a:srgbClr val="FF0000"/>
              </a:solidFill>
            </a:endParaRPr>
          </a:p>
          <a:p>
            <a:pPr lvl="3"/>
            <a:endParaRPr lang="en-US" altLang="ko-KR" sz="1400" dirty="0">
              <a:solidFill>
                <a:srgbClr val="FF0000"/>
              </a:solidFill>
            </a:endParaRPr>
          </a:p>
          <a:p>
            <a:pPr lvl="2"/>
            <a:r>
              <a:rPr lang="ko-KR" altLang="en-US" sz="1400" b="1" dirty="0">
                <a:solidFill>
                  <a:srgbClr val="000000"/>
                </a:solidFill>
              </a:rPr>
              <a:t>위 코드를 적용하면 웹 페이지 중앙에 파란색 텍스트가 표시된다</a:t>
            </a:r>
            <a:r>
              <a:rPr lang="en-US" altLang="ko-KR" sz="1400" b="1" dirty="0">
                <a:solidFill>
                  <a:srgbClr val="000000"/>
                </a:solidFill>
              </a:rPr>
              <a:t>.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4C3C4D-4071-5B7D-805A-2E6D825BEB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E4D6BC-3A6F-2E60-FB20-FF8E7A3E4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6F8DE-C81E-085A-E87C-BB82EA28553F}"/>
              </a:ext>
            </a:extLst>
          </p:cNvPr>
          <p:cNvSpPr txBox="1"/>
          <p:nvPr/>
        </p:nvSpPr>
        <p:spPr>
          <a:xfrm>
            <a:off x="2123728" y="3662362"/>
            <a:ext cx="3415935" cy="181588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body</a:t>
            </a:r>
            <a:r>
              <a:rPr lang="en-US" altLang="ko-KR" sz="1400" dirty="0"/>
              <a:t> {</a:t>
            </a:r>
          </a:p>
          <a:p>
            <a:r>
              <a:rPr lang="en-US" altLang="ko-KR" sz="1400" dirty="0"/>
              <a:t>	background-color: #f0f0f0; </a:t>
            </a:r>
          </a:p>
          <a:p>
            <a:r>
              <a:rPr lang="en-US" altLang="ko-KR" sz="1400" dirty="0"/>
              <a:t>	font-family: Arial, sans-serif; </a:t>
            </a:r>
          </a:p>
          <a:p>
            <a:r>
              <a:rPr lang="en-US" altLang="ko-KR" sz="1400" dirty="0"/>
              <a:t>} </a:t>
            </a:r>
          </a:p>
          <a:p>
            <a:r>
              <a:rPr lang="en-US" altLang="ko-KR" sz="1400" b="1" dirty="0"/>
              <a:t>h1</a:t>
            </a:r>
            <a:r>
              <a:rPr lang="en-US" altLang="ko-KR" sz="1400" dirty="0"/>
              <a:t> { </a:t>
            </a:r>
          </a:p>
          <a:p>
            <a:r>
              <a:rPr lang="en-US" altLang="ko-KR" sz="1400" dirty="0"/>
              <a:t>	color: blue; </a:t>
            </a:r>
          </a:p>
          <a:p>
            <a:r>
              <a:rPr lang="en-US" altLang="ko-KR" sz="1400" dirty="0"/>
              <a:t>	text-align: center; </a:t>
            </a:r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0067CC-FB99-4B0E-DCC5-19C7B3CD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887" y="4856939"/>
            <a:ext cx="25622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22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8D499B-404B-0C61-ACB7-37F9A2C7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기본구조</a:t>
            </a:r>
            <a:r>
              <a:rPr lang="en-US" altLang="ko-KR" dirty="0"/>
              <a:t>/</a:t>
            </a:r>
            <a:r>
              <a:rPr lang="ko-KR" altLang="en-US" dirty="0"/>
              <a:t>적용방법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9F6F36-BC78-1FD0-C4F0-86215C937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231956" cy="5019675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CSS </a:t>
            </a:r>
            <a:r>
              <a:rPr lang="ko-KR" altLang="en-US" sz="1800" b="1" dirty="0"/>
              <a:t>적용방법</a:t>
            </a:r>
            <a:endParaRPr lang="en-US" altLang="ko-KR" sz="1800" b="1" dirty="0"/>
          </a:p>
          <a:p>
            <a:pPr lvl="1"/>
            <a:r>
              <a:rPr lang="ko-KR" altLang="en-US" sz="1600" b="1" dirty="0"/>
              <a:t>인라인 스타일 </a:t>
            </a:r>
            <a:endParaRPr lang="en-US" altLang="ko-KR" sz="1600" b="1" dirty="0"/>
          </a:p>
          <a:p>
            <a:pPr lvl="2"/>
            <a:r>
              <a:rPr lang="en-US" altLang="ko-KR" sz="1400" dirty="0"/>
              <a:t>HTML </a:t>
            </a:r>
            <a:r>
              <a:rPr lang="ko-KR" altLang="en-US" sz="1400" dirty="0"/>
              <a:t>요소에 직접 스타일 속성을 작성하는 것이다</a:t>
            </a:r>
            <a:r>
              <a:rPr lang="en-US" altLang="ko-KR" sz="1400" dirty="0"/>
              <a:t>. </a:t>
            </a:r>
          </a:p>
          <a:p>
            <a:pPr lvl="2"/>
            <a:r>
              <a:rPr lang="ko-KR" altLang="en-US" sz="1400" dirty="0"/>
              <a:t>사용 사례 </a:t>
            </a:r>
            <a:r>
              <a:rPr lang="en-US" altLang="ko-KR" sz="1400" dirty="0"/>
              <a:t>: </a:t>
            </a:r>
            <a:r>
              <a:rPr lang="ko-KR" altLang="en-US" sz="1400" dirty="0"/>
              <a:t>간단한 테스트나 개별 요소의 스타일을 조정할 때 사용된다</a:t>
            </a:r>
            <a:r>
              <a:rPr lang="en-US" altLang="ko-KR" sz="1400" dirty="0"/>
              <a:t>. </a:t>
            </a:r>
          </a:p>
          <a:p>
            <a:pPr lvl="3"/>
            <a:r>
              <a:rPr lang="en-US" altLang="ko-KR" sz="1400" dirty="0">
                <a:solidFill>
                  <a:srgbClr val="FF0000"/>
                </a:solidFill>
              </a:rPr>
              <a:t>&lt;p style="color: red; font-size: 14px;"&gt;</a:t>
            </a:r>
            <a:r>
              <a:rPr lang="ko-KR" altLang="en-US" sz="1400" dirty="0">
                <a:solidFill>
                  <a:srgbClr val="FF0000"/>
                </a:solidFill>
              </a:rPr>
              <a:t>이것은 인라인 스타일입니다</a:t>
            </a:r>
            <a:r>
              <a:rPr lang="en-US" altLang="ko-KR" sz="1400" dirty="0">
                <a:solidFill>
                  <a:srgbClr val="FF0000"/>
                </a:solidFill>
              </a:rPr>
              <a:t>.&lt;/p&gt;</a:t>
            </a:r>
          </a:p>
          <a:p>
            <a:pPr lvl="1"/>
            <a:r>
              <a:rPr lang="ko-KR" altLang="en-US" sz="1600" b="1" dirty="0"/>
              <a:t>내부 스타일 시트</a:t>
            </a:r>
            <a:endParaRPr lang="en-US" altLang="ko-KR" sz="1600" b="1" dirty="0"/>
          </a:p>
          <a:p>
            <a:pPr lvl="2"/>
            <a:r>
              <a:rPr lang="en-US" altLang="ko-KR" sz="1400" dirty="0"/>
              <a:t>HTML </a:t>
            </a:r>
            <a:r>
              <a:rPr lang="ko-KR" altLang="en-US" sz="1400" dirty="0"/>
              <a:t>문서의</a:t>
            </a:r>
            <a:r>
              <a:rPr lang="en-US" altLang="ko-KR" sz="1400" dirty="0"/>
              <a:t> &lt;head&gt;&lt;/head&gt; </a:t>
            </a:r>
            <a:r>
              <a:rPr lang="ko-KR" altLang="en-US" sz="1400" dirty="0"/>
              <a:t>태그내에서 </a:t>
            </a:r>
            <a:r>
              <a:rPr lang="en-US" altLang="ko-KR" sz="1400" dirty="0"/>
              <a:t>&lt;style&gt; </a:t>
            </a:r>
            <a:r>
              <a:rPr lang="ko-KR" altLang="en-US" sz="1400" dirty="0"/>
              <a:t>태그에 작성한다</a:t>
            </a:r>
            <a:r>
              <a:rPr lang="en-US" altLang="ko-KR" sz="1400" dirty="0"/>
              <a:t>.</a:t>
            </a:r>
          </a:p>
          <a:p>
            <a:pPr lvl="2"/>
            <a:r>
              <a:rPr lang="ko-KR" altLang="en-US" sz="1400" dirty="0"/>
              <a:t>사용 사례 </a:t>
            </a:r>
            <a:r>
              <a:rPr lang="en-US" altLang="ko-KR" sz="1400" dirty="0"/>
              <a:t>:</a:t>
            </a:r>
            <a:r>
              <a:rPr lang="ko-KR" altLang="en-US" sz="1400" dirty="0"/>
              <a:t> 단일 문서의 스타일만 필요할 때 사용될 수 있다</a:t>
            </a:r>
            <a:r>
              <a:rPr lang="en-US" altLang="ko-KR" sz="1400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232E5-7156-3642-06C4-52330212B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5976F9-1DB5-C615-272A-180B0B3D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33F388-FB13-D5F1-E0A8-14E196F4E0F9}"/>
              </a:ext>
            </a:extLst>
          </p:cNvPr>
          <p:cNvSpPr txBox="1"/>
          <p:nvPr/>
        </p:nvSpPr>
        <p:spPr>
          <a:xfrm>
            <a:off x="1691680" y="3760931"/>
            <a:ext cx="2582701" cy="1716688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&lt;style&gt;</a:t>
            </a:r>
          </a:p>
          <a:p>
            <a:pPr lvl="1">
              <a:lnSpc>
                <a:spcPct val="150000"/>
              </a:lnSpc>
            </a:pPr>
            <a:r>
              <a:rPr lang="en-US" altLang="ko-KR" sz="1200" dirty="0"/>
              <a:t> p {</a:t>
            </a:r>
          </a:p>
          <a:p>
            <a:pPr lvl="1">
              <a:lnSpc>
                <a:spcPct val="150000"/>
              </a:lnSpc>
            </a:pPr>
            <a:r>
              <a:rPr lang="en-US" altLang="ko-KR" sz="1200" dirty="0"/>
              <a:t> 	color: green;</a:t>
            </a:r>
          </a:p>
          <a:p>
            <a:pPr lvl="1">
              <a:lnSpc>
                <a:spcPct val="150000"/>
              </a:lnSpc>
            </a:pPr>
            <a:r>
              <a:rPr lang="en-US" altLang="ko-KR" sz="1200" dirty="0"/>
              <a:t> 	font-size: 16px;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      }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&lt;/style&gt;</a:t>
            </a:r>
            <a:endParaRPr lang="ko-KR" altLang="en-US" sz="12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7AD9D8B-1CEC-86ED-1644-F272CA8D8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711" y="4730213"/>
            <a:ext cx="283845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91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85A58-DA69-B2BB-A65D-2661F5A8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04986D-94E1-674F-6994-259A9BED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기본구조</a:t>
            </a:r>
            <a:r>
              <a:rPr lang="en-US" altLang="ko-KR" dirty="0"/>
              <a:t>/</a:t>
            </a:r>
            <a:r>
              <a:rPr lang="ko-KR" altLang="en-US" dirty="0"/>
              <a:t>적용방법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1CB5E3-D09C-7ECD-4ECE-B91B2B4FE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231956" cy="5019675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CSS </a:t>
            </a:r>
            <a:r>
              <a:rPr lang="ko-KR" altLang="en-US" sz="1800" b="1" dirty="0"/>
              <a:t>적용방법</a:t>
            </a:r>
            <a:endParaRPr lang="en-US" altLang="ko-KR" sz="1800" b="1" dirty="0"/>
          </a:p>
          <a:p>
            <a:pPr lvl="1"/>
            <a:r>
              <a:rPr lang="ko-KR" altLang="en-US" sz="1600" b="1" dirty="0"/>
              <a:t>외부 스타일 시트</a:t>
            </a:r>
            <a:endParaRPr lang="en-US" altLang="ko-KR" sz="1600" b="1" dirty="0"/>
          </a:p>
          <a:p>
            <a:pPr lvl="2"/>
            <a:r>
              <a:rPr lang="ko-KR" altLang="en-US" sz="1600" dirty="0"/>
              <a:t>별도의 </a:t>
            </a:r>
            <a:r>
              <a:rPr lang="en-US" altLang="ko-KR" sz="1600" dirty="0"/>
              <a:t>CSS </a:t>
            </a:r>
            <a:r>
              <a:rPr lang="ko-KR" altLang="en-US" sz="1600" dirty="0"/>
              <a:t>파일을 작성하여 </a:t>
            </a:r>
            <a:r>
              <a:rPr lang="en-US" altLang="ko-KR" sz="1600" dirty="0"/>
              <a:t>HTML </a:t>
            </a:r>
            <a:r>
              <a:rPr lang="ko-KR" altLang="en-US" sz="1600" dirty="0"/>
              <a:t>에서 링크하는 방식이다 </a:t>
            </a:r>
            <a:r>
              <a:rPr lang="en-US" altLang="ko-KR" sz="1600" dirty="0"/>
              <a:t>. </a:t>
            </a:r>
          </a:p>
          <a:p>
            <a:pPr lvl="2"/>
            <a:r>
              <a:rPr lang="ko-KR" altLang="en-US" sz="1600" dirty="0"/>
              <a:t>사용 사례 </a:t>
            </a:r>
            <a:r>
              <a:rPr lang="en-US" altLang="ko-KR" sz="1600" dirty="0"/>
              <a:t>: </a:t>
            </a:r>
            <a:r>
              <a:rPr lang="ko-KR" altLang="en-US" sz="1600" dirty="0"/>
              <a:t>여러 </a:t>
            </a:r>
            <a:r>
              <a:rPr lang="en-US" altLang="ko-KR" sz="1600" dirty="0"/>
              <a:t>HTML </a:t>
            </a:r>
            <a:r>
              <a:rPr lang="ko-KR" altLang="en-US" sz="1600" dirty="0"/>
              <a:t>문서에 동일한 스타일을 적용할 때 효율적이다 </a:t>
            </a:r>
            <a:r>
              <a:rPr lang="en-US" altLang="ko-KR" sz="1600" dirty="0"/>
              <a:t>.</a:t>
            </a:r>
          </a:p>
          <a:p>
            <a:pPr lvl="3"/>
            <a:r>
              <a:rPr lang="en-US" altLang="ko-KR" sz="1600" dirty="0">
                <a:solidFill>
                  <a:srgbClr val="FF0000"/>
                </a:solidFill>
              </a:rPr>
              <a:t>&lt;link rel="stylesheet" href="styles.css"&gt;</a:t>
            </a:r>
          </a:p>
          <a:p>
            <a:pPr lvl="3"/>
            <a:r>
              <a:rPr lang="en-US" altLang="ko-KR" sz="1600" dirty="0">
                <a:solidFill>
                  <a:srgbClr val="000000"/>
                </a:solidFill>
              </a:rPr>
              <a:t>style.css</a:t>
            </a:r>
            <a:endParaRPr lang="ko-KR" altLang="en-US" sz="1600" dirty="0">
              <a:solidFill>
                <a:srgbClr val="00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A8BB6A-AD89-5C4E-D414-4E909BB32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32BA8C-75A2-5F4D-CDD4-734F7A25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E469B-F246-220C-398D-C9F29DE33E90}"/>
              </a:ext>
            </a:extLst>
          </p:cNvPr>
          <p:cNvSpPr txBox="1"/>
          <p:nvPr/>
        </p:nvSpPr>
        <p:spPr>
          <a:xfrm>
            <a:off x="2123728" y="3283637"/>
            <a:ext cx="2698367" cy="203132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1800" dirty="0"/>
              <a:t>p { 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	color: blue; 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	font-size: 18px;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}</a:t>
            </a:r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450A5C-844A-2A01-9A83-89494692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4772037"/>
            <a:ext cx="26384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7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2ED76-9354-2F4E-D79F-EE9FFFDB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선택자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8A4C09-2370-4C11-70C7-1EE498E5B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3035" cy="5020310"/>
          </a:xfrm>
        </p:spPr>
        <p:txBody>
          <a:bodyPr>
            <a:normAutofit/>
          </a:bodyPr>
          <a:lstStyle/>
          <a:p>
            <a:r>
              <a:rPr lang="ko-KR" altLang="en-US" sz="1100" b="1" dirty="0"/>
              <a:t>기본 선택자 </a:t>
            </a:r>
            <a:endParaRPr lang="en-US" altLang="ko-KR" sz="1100" b="1" dirty="0"/>
          </a:p>
          <a:p>
            <a:pPr lvl="1"/>
            <a:r>
              <a:rPr lang="ko-KR" altLang="en-US" sz="1100" dirty="0"/>
              <a:t>태그 선택자 </a:t>
            </a:r>
            <a:r>
              <a:rPr lang="en-US" altLang="ko-KR" sz="1100" dirty="0"/>
              <a:t>: HTML </a:t>
            </a:r>
            <a:r>
              <a:rPr lang="ko-KR" altLang="en-US" sz="1100" dirty="0"/>
              <a:t>요소 이름을 직접 사용한다</a:t>
            </a:r>
            <a:r>
              <a:rPr lang="en-US" altLang="ko-KR" sz="1100" dirty="0"/>
              <a:t>. </a:t>
            </a:r>
          </a:p>
          <a:p>
            <a:pPr lvl="2"/>
            <a:r>
              <a:rPr lang="ko-KR" altLang="en-US" sz="1100" dirty="0">
                <a:solidFill>
                  <a:srgbClr val="FF0000"/>
                </a:solidFill>
              </a:rPr>
              <a:t>예</a:t>
            </a:r>
            <a:r>
              <a:rPr lang="en-US" altLang="ko-KR" sz="1100" dirty="0">
                <a:solidFill>
                  <a:srgbClr val="FF0000"/>
                </a:solidFill>
              </a:rPr>
              <a:t>) h1, p, div</a:t>
            </a:r>
          </a:p>
          <a:p>
            <a:pPr lvl="1"/>
            <a:r>
              <a:rPr lang="ko-KR" altLang="en-US" sz="1100" dirty="0"/>
              <a:t>클래스 선택자 </a:t>
            </a:r>
            <a:r>
              <a:rPr lang="en-US" altLang="ko-KR" sz="1100" dirty="0"/>
              <a:t>: </a:t>
            </a:r>
            <a:r>
              <a:rPr lang="ko-KR" altLang="en-US" sz="1100" dirty="0"/>
              <a:t>요소에 부여된 클래스 이름 앞에 마침표 </a:t>
            </a:r>
            <a:r>
              <a:rPr lang="en-US" altLang="ko-KR" sz="1100" dirty="0"/>
              <a:t>(.) </a:t>
            </a:r>
            <a:r>
              <a:rPr lang="ko-KR" altLang="en-US" sz="1100" dirty="0"/>
              <a:t>를 사용한다</a:t>
            </a:r>
            <a:r>
              <a:rPr lang="en-US" altLang="ko-KR" sz="1100" dirty="0"/>
              <a:t>. </a:t>
            </a:r>
          </a:p>
          <a:p>
            <a:pPr lvl="2"/>
            <a:r>
              <a:rPr lang="ko-KR" altLang="en-US" sz="1100" dirty="0">
                <a:solidFill>
                  <a:srgbClr val="FF0000"/>
                </a:solidFill>
              </a:rPr>
              <a:t>예</a:t>
            </a:r>
            <a:r>
              <a:rPr lang="en-US" altLang="ko-KR" sz="1100" dirty="0">
                <a:solidFill>
                  <a:srgbClr val="FF0000"/>
                </a:solidFill>
              </a:rPr>
              <a:t>) .classname</a:t>
            </a:r>
          </a:p>
          <a:p>
            <a:pPr lvl="1"/>
            <a:r>
              <a:rPr lang="ko-KR" altLang="en-US" sz="1100" dirty="0"/>
              <a:t>아이디 선택자 </a:t>
            </a:r>
            <a:r>
              <a:rPr lang="en-US" altLang="ko-KR" sz="1100" dirty="0"/>
              <a:t>: </a:t>
            </a:r>
            <a:r>
              <a:rPr lang="ko-KR" altLang="en-US" sz="1100" dirty="0"/>
              <a:t>요소의 </a:t>
            </a:r>
            <a:r>
              <a:rPr lang="en-US" altLang="ko-KR" sz="1100" dirty="0"/>
              <a:t>ID </a:t>
            </a:r>
            <a:r>
              <a:rPr lang="ko-KR" altLang="en-US" sz="1100" dirty="0"/>
              <a:t>앞에 해시</a:t>
            </a:r>
            <a:r>
              <a:rPr lang="en-US" altLang="ko-KR" sz="1100" dirty="0"/>
              <a:t>(#) </a:t>
            </a:r>
            <a:r>
              <a:rPr lang="ko-KR" altLang="en-US" sz="1100" dirty="0"/>
              <a:t>를 사용한다</a:t>
            </a:r>
            <a:r>
              <a:rPr lang="en-US" altLang="ko-KR" sz="1100" dirty="0"/>
              <a:t>. </a:t>
            </a:r>
          </a:p>
          <a:p>
            <a:pPr lvl="2"/>
            <a:r>
              <a:rPr lang="ko-KR" altLang="en-US" sz="1100" dirty="0">
                <a:solidFill>
                  <a:srgbClr val="FF0000"/>
                </a:solidFill>
              </a:rPr>
              <a:t>예</a:t>
            </a:r>
            <a:r>
              <a:rPr lang="en-US" altLang="ko-KR" sz="1100" dirty="0">
                <a:solidFill>
                  <a:srgbClr val="FF0000"/>
                </a:solidFill>
              </a:rPr>
              <a:t>) #idname</a:t>
            </a:r>
          </a:p>
          <a:p>
            <a:r>
              <a:rPr lang="ko-KR" altLang="en-US" sz="1100" b="1" dirty="0"/>
              <a:t>조합 선택자 </a:t>
            </a:r>
            <a:endParaRPr lang="en-US" altLang="ko-KR" sz="1100" b="1" dirty="0"/>
          </a:p>
          <a:p>
            <a:pPr lvl="1"/>
            <a:r>
              <a:rPr lang="ko-KR" altLang="en-US" sz="1100" dirty="0"/>
              <a:t>자식 선택자 </a:t>
            </a:r>
            <a:r>
              <a:rPr lang="en-US" altLang="ko-KR" sz="1100" dirty="0"/>
              <a:t>: </a:t>
            </a:r>
            <a:r>
              <a:rPr lang="ko-KR" altLang="en-US" sz="1100" dirty="0"/>
              <a:t>바로 아래에 있는 자식 요소를 선택한다 </a:t>
            </a:r>
            <a:endParaRPr lang="en-US" altLang="ko-KR" sz="1100" dirty="0"/>
          </a:p>
          <a:p>
            <a:pPr lvl="2"/>
            <a:r>
              <a:rPr lang="ko-KR" altLang="en-US" sz="1100" dirty="0">
                <a:solidFill>
                  <a:srgbClr val="FF0000"/>
                </a:solidFill>
              </a:rPr>
              <a:t>예</a:t>
            </a:r>
            <a:r>
              <a:rPr lang="en-US" altLang="ko-KR" sz="1100" dirty="0">
                <a:solidFill>
                  <a:srgbClr val="FF0000"/>
                </a:solidFill>
              </a:rPr>
              <a:t>) div &gt; p </a:t>
            </a:r>
          </a:p>
          <a:p>
            <a:pPr lvl="1"/>
            <a:r>
              <a:rPr lang="ko-KR" altLang="en-US" sz="1100" dirty="0"/>
              <a:t>후손 선택자 </a:t>
            </a:r>
            <a:r>
              <a:rPr lang="en-US" altLang="ko-KR" sz="1100" dirty="0"/>
              <a:t>: </a:t>
            </a:r>
            <a:r>
              <a:rPr lang="ko-KR" altLang="en-US" sz="1100" dirty="0"/>
              <a:t>특정 요소의 모든 하위 요소를 선택한다 </a:t>
            </a:r>
            <a:r>
              <a:rPr lang="en-US" altLang="ko-KR" sz="1100" dirty="0"/>
              <a:t>. </a:t>
            </a:r>
          </a:p>
          <a:p>
            <a:pPr lvl="2"/>
            <a:r>
              <a:rPr lang="ko-KR" altLang="en-US" sz="1100" dirty="0">
                <a:solidFill>
                  <a:srgbClr val="FF0000"/>
                </a:solidFill>
              </a:rPr>
              <a:t>예</a:t>
            </a:r>
            <a:r>
              <a:rPr lang="en-US" altLang="ko-KR" sz="1100" dirty="0">
                <a:solidFill>
                  <a:srgbClr val="FF0000"/>
                </a:solidFill>
              </a:rPr>
              <a:t>) div p </a:t>
            </a:r>
          </a:p>
          <a:p>
            <a:pPr lvl="1"/>
            <a:r>
              <a:rPr lang="ko-KR" altLang="en-US" sz="1100" dirty="0"/>
              <a:t>그룹 선택자 </a:t>
            </a:r>
            <a:r>
              <a:rPr lang="en-US" altLang="ko-KR" sz="1100" dirty="0"/>
              <a:t>: </a:t>
            </a:r>
            <a:r>
              <a:rPr lang="ko-KR" altLang="en-US" sz="1100" dirty="0"/>
              <a:t>여러 선택자에 동일한 스타일을 적용한다 </a:t>
            </a:r>
            <a:r>
              <a:rPr lang="en-US" altLang="ko-KR" sz="1100" dirty="0"/>
              <a:t>. </a:t>
            </a:r>
          </a:p>
          <a:p>
            <a:pPr lvl="2"/>
            <a:r>
              <a:rPr lang="ko-KR" altLang="en-US" sz="1100" dirty="0">
                <a:solidFill>
                  <a:srgbClr val="FF0000"/>
                </a:solidFill>
              </a:rPr>
              <a:t>예</a:t>
            </a:r>
            <a:r>
              <a:rPr lang="en-US" altLang="ko-KR" sz="1100" dirty="0">
                <a:solidFill>
                  <a:srgbClr val="FF0000"/>
                </a:solidFill>
              </a:rPr>
              <a:t>) h1, h2, h3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F30CD-338D-81EB-9DF6-E052CF511A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AB8337-1DCA-7252-FE5C-F302D4BB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F6315F-B76C-5813-A017-661E7490324A}"/>
              </a:ext>
            </a:extLst>
          </p:cNvPr>
          <p:cNvSpPr txBox="1"/>
          <p:nvPr/>
        </p:nvSpPr>
        <p:spPr>
          <a:xfrm>
            <a:off x="1691640" y="4580890"/>
            <a:ext cx="3218180" cy="12827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ko-KR" dirty="0"/>
              <a:t>h1, h2, h3 {</a:t>
            </a:r>
          </a:p>
          <a:p>
            <a:pPr>
              <a:lnSpc>
                <a:spcPct val="150000"/>
              </a:lnSpc>
            </a:pPr>
            <a:r>
              <a:rPr lang="pt-BR" altLang="ko-KR" dirty="0"/>
              <a:t> font-family: Arial, sans-serif; </a:t>
            </a:r>
          </a:p>
          <a:p>
            <a:pPr>
              <a:lnSpc>
                <a:spcPct val="150000"/>
              </a:lnSpc>
            </a:pPr>
            <a:r>
              <a:rPr lang="pt-BR" altLang="ko-KR" dirty="0"/>
              <a:t>}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61278F-71D9-01AA-CB0E-679FAE56F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990" y="4451985"/>
            <a:ext cx="2983230" cy="18300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9" name="잉크 3"/>
              <p14:cNvContentPartPr/>
              <p14:nvPr/>
            </p14:nvContentPartPr>
            <p14:xfrm>
              <a:off x="6057900" y="2806700"/>
              <a:ext cx="876300" cy="1162050"/>
            </p14:xfrm>
          </p:contentPart>
        </mc:Choice>
        <mc:Fallback>
          <p:pic>
            <p:nvPicPr>
              <p:cNvPr id="9" name="잉크 3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057900" y="2806700"/>
                <a:ext cx="876300" cy="11620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" name="잉크 4"/>
              <p14:cNvContentPartPr/>
              <p14:nvPr/>
            </p14:nvContentPartPr>
            <p14:xfrm>
              <a:off x="6934200" y="3111500"/>
              <a:ext cx="501650" cy="800100"/>
            </p14:xfrm>
          </p:contentPart>
        </mc:Choice>
        <mc:Fallback>
          <p:pic>
            <p:nvPicPr>
              <p:cNvPr id="10" name="잉크 4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934200" y="3111500"/>
                <a:ext cx="501650" cy="800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" name="잉크 5"/>
              <p14:cNvContentPartPr/>
              <p14:nvPr/>
            </p14:nvContentPartPr>
            <p14:xfrm>
              <a:off x="7289800" y="3143250"/>
              <a:ext cx="508000" cy="869950"/>
            </p14:xfrm>
          </p:contentPart>
        </mc:Choice>
        <mc:Fallback>
          <p:pic>
            <p:nvPicPr>
              <p:cNvPr id="11" name="잉크 5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289800" y="3143250"/>
                <a:ext cx="508000" cy="8699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" name="잉크 6"/>
              <p14:cNvContentPartPr/>
              <p14:nvPr/>
            </p14:nvContentPartPr>
            <p14:xfrm>
              <a:off x="7874000" y="3257550"/>
              <a:ext cx="57150" cy="882650"/>
            </p14:xfrm>
          </p:contentPart>
        </mc:Choice>
        <mc:Fallback>
          <p:pic>
            <p:nvPicPr>
              <p:cNvPr id="12" name="잉크 6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874000" y="3257550"/>
                <a:ext cx="57150" cy="882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3" name="잉크 7"/>
              <p14:cNvContentPartPr/>
              <p14:nvPr/>
            </p14:nvContentPartPr>
            <p14:xfrm>
              <a:off x="8077200" y="3175000"/>
              <a:ext cx="673100" cy="895350"/>
            </p14:xfrm>
          </p:contentPart>
        </mc:Choice>
        <mc:Fallback>
          <p:pic>
            <p:nvPicPr>
              <p:cNvPr id="13" name="잉크 7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077200" y="3175000"/>
                <a:ext cx="673100" cy="895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" name="잉크 1"/>
              <p14:cNvContentPartPr/>
              <p14:nvPr/>
            </p14:nvContentPartPr>
            <p14:xfrm>
              <a:off x="5913120" y="563880"/>
              <a:ext cx="1333500" cy="1645920"/>
            </p14:xfrm>
          </p:contentPart>
        </mc:Choice>
        <mc:Fallback>
          <p:pic>
            <p:nvPicPr>
              <p:cNvPr id="14" name="잉크 1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913120" y="563880"/>
                <a:ext cx="1333500" cy="16459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텍스트 상자 1"/>
          <p:cNvSpPr txBox="1">
            <a:spLocks/>
          </p:cNvSpPr>
          <p:nvPr/>
        </p:nvSpPr>
        <p:spPr>
          <a:xfrm rot="0">
            <a:off x="1959610" y="5494020"/>
            <a:ext cx="318770" cy="67754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228600" indent="-228600">
              <a:buFont typeface="맑은 고딕"/>
              <a:buChar char="•"/>
            </a:pPr>
            <a:r>
              <a:rPr sz="1000" b="1"/>
              <a:t>Arial</a:t>
            </a:r>
            <a:r>
              <a:rPr sz="1000"/>
              <a:t>글꼴을 우선 사용합니다. </a:t>
            </a:r>
            <a:endParaRPr lang="ko-KR" altLang="en-US" sz="1000"/>
          </a:p>
          <a:p>
            <a:pPr marL="0" indent="0">
              <a:buFont typeface="맑은 고딕"/>
              <a:buChar char="•"/>
            </a:pPr>
            <a:r>
              <a:rPr sz="1000"/>
              <a:t>만약 Arial이 사용자 시스템에 없으면, </a:t>
            </a:r>
            <a:r>
              <a:rPr sz="1000" b="1"/>
              <a:t>sans-serif 계열 글꼴</a:t>
            </a:r>
            <a:r>
              <a:rPr sz="1000"/>
              <a:t>(고딕체 계열)을 대신 사용합니다.</a:t>
            </a:r>
            <a:endParaRPr lang="ko-KR" altLang="en-US" sz="1000"/>
          </a:p>
          <a:p>
            <a:pPr marL="0" indent="0">
              <a:buFont typeface="맑은 고딕"/>
              <a:buChar char="•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012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0CE30-CC8A-1CB2-EA83-D011ECBCB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선택자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658313-C0E9-1622-567E-45B0A9290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속성 선택자 </a:t>
            </a:r>
            <a:endParaRPr lang="en-US" altLang="ko-KR" b="1" dirty="0"/>
          </a:p>
          <a:p>
            <a:pPr lvl="1"/>
            <a:r>
              <a:rPr lang="ko-KR" altLang="en-US" dirty="0"/>
              <a:t>특정 속성을 가진 요소를 선택한다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element </a:t>
            </a:r>
            <a:r>
              <a:rPr lang="ko-KR" altLang="en-US" dirty="0"/>
              <a:t>로 </a:t>
            </a:r>
            <a:r>
              <a:rPr lang="en-US" altLang="ko-KR" dirty="0"/>
              <a:t>text </a:t>
            </a:r>
            <a:r>
              <a:rPr lang="ko-KR" altLang="en-US" dirty="0"/>
              <a:t>요소인 것을 스타일 화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F65F88-8F61-8A09-C17F-FCFC22899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6B566E-DF48-0913-C974-EFE58810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CA8A7-32FC-AC52-35E6-D860ECAE4968}"/>
              </a:ext>
            </a:extLst>
          </p:cNvPr>
          <p:cNvSpPr txBox="1"/>
          <p:nvPr/>
        </p:nvSpPr>
        <p:spPr>
          <a:xfrm>
            <a:off x="1259633" y="2636912"/>
            <a:ext cx="3528392" cy="92333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input[type="text"] </a:t>
            </a:r>
            <a:r>
              <a:rPr lang="en-US" altLang="ko-KR" dirty="0"/>
              <a:t>{ </a:t>
            </a:r>
          </a:p>
          <a:p>
            <a:r>
              <a:rPr lang="en-US" altLang="ko-KR" dirty="0"/>
              <a:t>	border: 1px solid #ccc; 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2555EA1-78D0-0E9F-EFB7-1302D6B17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3804717"/>
            <a:ext cx="3629952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9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77B5E-B8E5-C276-5246-D896E05B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선택자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01F3F0-BB42-28D5-EAC6-F93AF6770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90" y="1153795"/>
            <a:ext cx="7772400" cy="5019675"/>
          </a:xfrm>
        </p:spPr>
        <p:txBody>
          <a:bodyPr/>
          <a:lstStyle/>
          <a:p>
            <a:r>
              <a:rPr lang="ko-KR" altLang="en-US" dirty="0"/>
              <a:t>다양한 속성을 선택해서 스타일 화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1D9AF3-85D9-39CB-09AC-DA9840D569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8A9402-0735-F768-059C-F4F737845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3637A1-2F0B-93CC-FF1C-65ADFC688066}"/>
              </a:ext>
            </a:extLst>
          </p:cNvPr>
          <p:cNvSpPr txBox="1"/>
          <p:nvPr/>
        </p:nvSpPr>
        <p:spPr>
          <a:xfrm>
            <a:off x="897255" y="1700530"/>
            <a:ext cx="5885180" cy="120015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/* name </a:t>
            </a:r>
            <a:r>
              <a:rPr lang="ko-KR" altLang="en-US" dirty="0">
                <a:solidFill>
                  <a:srgbClr val="00B050"/>
                </a:solidFill>
              </a:rPr>
              <a:t>속성이 </a:t>
            </a:r>
            <a:r>
              <a:rPr lang="en-US" altLang="ko-KR" dirty="0">
                <a:solidFill>
                  <a:srgbClr val="00B050"/>
                </a:solidFill>
              </a:rPr>
              <a:t>username </a:t>
            </a:r>
            <a:r>
              <a:rPr lang="ko-KR" altLang="en-US" dirty="0">
                <a:solidFill>
                  <a:srgbClr val="00B050"/>
                </a:solidFill>
              </a:rPr>
              <a:t>으로 시작하는 </a:t>
            </a:r>
            <a:r>
              <a:rPr lang="en-US" altLang="ko-KR" dirty="0">
                <a:solidFill>
                  <a:srgbClr val="00B050"/>
                </a:solidFill>
              </a:rPr>
              <a:t>input </a:t>
            </a:r>
            <a:r>
              <a:rPr lang="ko-KR" altLang="en-US" dirty="0">
                <a:solidFill>
                  <a:srgbClr val="00B050"/>
                </a:solidFill>
              </a:rPr>
              <a:t>요소 *</a:t>
            </a:r>
            <a:r>
              <a:rPr lang="en-US" altLang="ko-KR" dirty="0">
                <a:solidFill>
                  <a:srgbClr val="00B050"/>
                </a:solidFill>
              </a:rPr>
              <a:t>/ </a:t>
            </a:r>
          </a:p>
          <a:p>
            <a:r>
              <a:rPr lang="en-US" altLang="ko-KR" dirty="0"/>
              <a:t>input[name^="username"] { </a:t>
            </a:r>
          </a:p>
          <a:p>
            <a:r>
              <a:rPr lang="en-US" altLang="ko-KR" dirty="0"/>
              <a:t>	background-color: #f0f0f0; 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F11B9-C358-AC71-CE47-2CD386F7655D}"/>
              </a:ext>
            </a:extLst>
          </p:cNvPr>
          <p:cNvSpPr txBox="1"/>
          <p:nvPr/>
        </p:nvSpPr>
        <p:spPr>
          <a:xfrm>
            <a:off x="897255" y="3180080"/>
            <a:ext cx="4075430" cy="120015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/* href </a:t>
            </a:r>
            <a:r>
              <a:rPr lang="ko-KR" altLang="en-US" dirty="0">
                <a:solidFill>
                  <a:srgbClr val="00B050"/>
                </a:solidFill>
              </a:rPr>
              <a:t>속성이 </a:t>
            </a:r>
            <a:r>
              <a:rPr lang="en-US" altLang="ko-KR" dirty="0">
                <a:solidFill>
                  <a:srgbClr val="00B050"/>
                </a:solidFill>
              </a:rPr>
              <a:t>.pdf </a:t>
            </a:r>
            <a:r>
              <a:rPr lang="ko-KR" altLang="en-US" dirty="0">
                <a:solidFill>
                  <a:srgbClr val="00B050"/>
                </a:solidFill>
              </a:rPr>
              <a:t>로 끝나는 링크 *</a:t>
            </a:r>
            <a:r>
              <a:rPr lang="en-US" altLang="ko-KR" dirty="0">
                <a:solidFill>
                  <a:srgbClr val="00B050"/>
                </a:solidFill>
              </a:rPr>
              <a:t>/ </a:t>
            </a:r>
          </a:p>
          <a:p>
            <a:r>
              <a:rPr lang="en-US" altLang="ko-KR" dirty="0"/>
              <a:t>a[href$=".pdf"] { </a:t>
            </a:r>
          </a:p>
          <a:p>
            <a:r>
              <a:rPr lang="en-US" altLang="ko-KR" dirty="0"/>
              <a:t>	color: red;</a:t>
            </a:r>
          </a:p>
          <a:p>
            <a:r>
              <a:rPr lang="en-US" altLang="ko-KR" dirty="0"/>
              <a:t> }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CCF38-1A6F-49D2-A816-0A5560E2BB7D}"/>
              </a:ext>
            </a:extLst>
          </p:cNvPr>
          <p:cNvSpPr txBox="1"/>
          <p:nvPr/>
        </p:nvSpPr>
        <p:spPr>
          <a:xfrm>
            <a:off x="897255" y="4658995"/>
            <a:ext cx="5588635" cy="120015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/* title </a:t>
            </a:r>
            <a:r>
              <a:rPr lang="ko-KR" altLang="en-US" dirty="0">
                <a:solidFill>
                  <a:srgbClr val="00B050"/>
                </a:solidFill>
              </a:rPr>
              <a:t>속성에 </a:t>
            </a:r>
            <a:r>
              <a:rPr lang="en-US" altLang="ko-KR" dirty="0">
                <a:solidFill>
                  <a:srgbClr val="00B050"/>
                </a:solidFill>
              </a:rPr>
              <a:t>"important" </a:t>
            </a:r>
            <a:r>
              <a:rPr lang="ko-KR" altLang="en-US" dirty="0">
                <a:solidFill>
                  <a:srgbClr val="00B050"/>
                </a:solidFill>
              </a:rPr>
              <a:t>를 포함하는 모든 요소 *</a:t>
            </a:r>
            <a:r>
              <a:rPr lang="en-US" altLang="ko-KR" dirty="0">
                <a:solidFill>
                  <a:srgbClr val="00B050"/>
                </a:solidFill>
              </a:rPr>
              <a:t>/ </a:t>
            </a:r>
          </a:p>
          <a:p>
            <a:r>
              <a:rPr lang="en-US" altLang="ko-KR" dirty="0"/>
              <a:t>[title="important"] {</a:t>
            </a:r>
          </a:p>
          <a:p>
            <a:r>
              <a:rPr lang="en-US" altLang="ko-KR" dirty="0"/>
              <a:t>	 font-weight: bold; 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">
            <p14:nvContentPartPr>
              <p14:cNvPr id="9" name="잉크 2"/>
              <p14:cNvContentPartPr/>
              <p14:nvPr/>
            </p14:nvContentPartPr>
            <p14:xfrm>
              <a:off x="6187440" y="2057400"/>
              <a:ext cx="1348740" cy="1813560"/>
            </p14:xfrm>
          </p:contentPart>
        </mc:Choice>
        <mc:Fallback>
          <p:pic>
            <p:nvPicPr>
              <p:cNvPr id="9" name="잉크 2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87440" y="2057400"/>
                <a:ext cx="1348740" cy="18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2300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0715B7-00B7-A85F-6387-AB97FFE1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선택자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8AB6FB-88A3-5B06-6233-19C45888D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087940" cy="5019675"/>
          </a:xfrm>
        </p:spPr>
        <p:txBody>
          <a:bodyPr/>
          <a:lstStyle/>
          <a:p>
            <a:r>
              <a:rPr lang="ko-KR" altLang="en-US" dirty="0"/>
              <a:t>태그 선택자와 클래스 선택자</a:t>
            </a:r>
            <a:r>
              <a:rPr lang="en-US" altLang="ko-KR" dirty="0"/>
              <a:t>, </a:t>
            </a:r>
            <a:r>
              <a:rPr lang="ko-KR" altLang="en-US" dirty="0"/>
              <a:t>아이디</a:t>
            </a:r>
            <a:r>
              <a:rPr lang="en-US" altLang="ko-KR" dirty="0"/>
              <a:t>(id) </a:t>
            </a:r>
            <a:r>
              <a:rPr lang="ko-KR" altLang="en-US" dirty="0"/>
              <a:t>선택자를 사용한다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966B18-2DFA-A727-07C8-21E2126034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67AE71-276D-B217-54EB-25CA8BF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73B2E-02D6-2A90-177F-050A98F23468}"/>
              </a:ext>
            </a:extLst>
          </p:cNvPr>
          <p:cNvSpPr txBox="1"/>
          <p:nvPr/>
        </p:nvSpPr>
        <p:spPr>
          <a:xfrm>
            <a:off x="896938" y="1720840"/>
            <a:ext cx="3887283" cy="34163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/* </a:t>
            </a:r>
            <a:r>
              <a:rPr lang="ko-KR" altLang="en-US" dirty="0"/>
              <a:t>태그 선택자 *</a:t>
            </a:r>
            <a:r>
              <a:rPr lang="en-US" altLang="ko-KR" dirty="0"/>
              <a:t>/ </a:t>
            </a:r>
          </a:p>
          <a:p>
            <a:r>
              <a:rPr lang="en-US" altLang="ko-KR" dirty="0"/>
              <a:t>body { </a:t>
            </a:r>
          </a:p>
          <a:p>
            <a:r>
              <a:rPr lang="en-US" altLang="ko-KR" dirty="0"/>
              <a:t>	margin: 0; </a:t>
            </a:r>
          </a:p>
          <a:p>
            <a:r>
              <a:rPr lang="en-US" altLang="ko-KR" dirty="0"/>
              <a:t>} </a:t>
            </a:r>
          </a:p>
          <a:p>
            <a:r>
              <a:rPr lang="en-US" altLang="ko-KR" dirty="0"/>
              <a:t>/* </a:t>
            </a:r>
            <a:r>
              <a:rPr lang="ko-KR" altLang="en-US" dirty="0"/>
              <a:t>클래스 선택자 *</a:t>
            </a:r>
            <a:r>
              <a:rPr lang="en-US" altLang="ko-KR" dirty="0"/>
              <a:t>/ </a:t>
            </a:r>
          </a:p>
          <a:p>
            <a:r>
              <a:rPr lang="en-US" altLang="ko-KR" dirty="0"/>
              <a:t>.button { </a:t>
            </a:r>
          </a:p>
          <a:p>
            <a:r>
              <a:rPr lang="en-US" altLang="ko-KR" dirty="0"/>
              <a:t>	background-color: orange; </a:t>
            </a:r>
          </a:p>
          <a:p>
            <a:r>
              <a:rPr lang="en-US" altLang="ko-KR" dirty="0"/>
              <a:t>} </a:t>
            </a:r>
          </a:p>
          <a:p>
            <a:r>
              <a:rPr lang="en-US" altLang="ko-KR" dirty="0"/>
              <a:t>/* </a:t>
            </a:r>
            <a:r>
              <a:rPr lang="ko-KR" altLang="en-US" dirty="0"/>
              <a:t>아이디 선택자 *</a:t>
            </a:r>
            <a:r>
              <a:rPr lang="en-US" altLang="ko-KR" dirty="0"/>
              <a:t>/ </a:t>
            </a:r>
          </a:p>
          <a:p>
            <a:r>
              <a:rPr lang="en-US" altLang="ko-KR" dirty="0"/>
              <a:t>#header {</a:t>
            </a:r>
          </a:p>
          <a:p>
            <a:r>
              <a:rPr lang="en-US" altLang="ko-KR" dirty="0"/>
              <a:t>	 text-align: center; 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DF5BB6-DE54-0974-9D43-F7AFF4891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537" y="3686621"/>
            <a:ext cx="3907341" cy="145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9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65B9A-94F7-2BDE-03BC-284221EC0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선택자</a:t>
            </a:r>
            <a:r>
              <a:rPr lang="en-US" altLang="ko-KR" dirty="0"/>
              <a:t>(5)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예제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BE805F-099F-5DB8-2171-11471D3E3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231956" cy="5019675"/>
          </a:xfrm>
        </p:spPr>
        <p:txBody>
          <a:bodyPr>
            <a:normAutofit/>
          </a:bodyPr>
          <a:lstStyle/>
          <a:p>
            <a:r>
              <a:rPr lang="ko-KR" altLang="en-US" sz="1600" b="1" dirty="0"/>
              <a:t>클래스 선택자</a:t>
            </a:r>
            <a:endParaRPr lang="en-US" altLang="ko-KR" sz="1600" b="1" dirty="0"/>
          </a:p>
          <a:p>
            <a:pPr lvl="1"/>
            <a:r>
              <a:rPr lang="ko-KR" altLang="en-US" sz="1600" dirty="0"/>
              <a:t>클래스 선택자는 </a:t>
            </a:r>
            <a:r>
              <a:rPr lang="en-US" altLang="ko-KR" sz="1600" dirty="0"/>
              <a:t>CSS</a:t>
            </a:r>
            <a:r>
              <a:rPr lang="ko-KR" altLang="en-US" sz="1600" dirty="0"/>
              <a:t>에서 가장 많이 사용되는 선택자 이므로</a:t>
            </a:r>
            <a:r>
              <a:rPr lang="en-US" altLang="ko-KR" sz="1600" dirty="0"/>
              <a:t>, </a:t>
            </a:r>
            <a:r>
              <a:rPr lang="ko-KR" altLang="en-US" sz="1600" dirty="0"/>
              <a:t>예제를 통해 자세히 살펴본다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dirty="0"/>
              <a:t>다음은 </a:t>
            </a:r>
            <a:r>
              <a:rPr lang="en-US" altLang="ko-KR" sz="1600" dirty="0"/>
              <a:t>HTML </a:t>
            </a:r>
            <a:r>
              <a:rPr lang="ko-KR" altLang="en-US" sz="1600" dirty="0"/>
              <a:t>페이지 내에 </a:t>
            </a:r>
            <a:r>
              <a:rPr lang="en-US" altLang="ko-KR" sz="1600" dirty="0"/>
              <a:t>CSS </a:t>
            </a:r>
            <a:r>
              <a:rPr lang="ko-KR" altLang="en-US" sz="1600" dirty="0"/>
              <a:t>코드를 포함한 예시이다 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F25A65-B724-1CAA-23CC-29FB87E31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39B07C-6445-747E-77D3-73EF2323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A6A674-1B98-E90E-B59F-8FFAE507B7FA}"/>
              </a:ext>
            </a:extLst>
          </p:cNvPr>
          <p:cNvSpPr txBox="1"/>
          <p:nvPr/>
        </p:nvSpPr>
        <p:spPr>
          <a:xfrm>
            <a:off x="1259632" y="2527658"/>
            <a:ext cx="4680520" cy="375487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&lt;!DOCTYPE html&gt;</a:t>
            </a:r>
          </a:p>
          <a:p>
            <a:r>
              <a:rPr lang="en-US" altLang="ko-KR" sz="1400" dirty="0"/>
              <a:t> &lt;html&gt;</a:t>
            </a:r>
          </a:p>
          <a:p>
            <a:r>
              <a:rPr lang="en-US" altLang="ko-KR" sz="1400" dirty="0"/>
              <a:t> &lt;head&gt;</a:t>
            </a:r>
          </a:p>
          <a:p>
            <a:pPr lvl="1"/>
            <a:r>
              <a:rPr lang="en-US" altLang="ko-KR" sz="1400" dirty="0"/>
              <a:t> &lt;meta charset="UTF-8"&gt;</a:t>
            </a:r>
          </a:p>
          <a:p>
            <a:pPr lvl="1"/>
            <a:r>
              <a:rPr lang="en-US" altLang="ko-KR" sz="1400" dirty="0"/>
              <a:t> &lt;title&gt;</a:t>
            </a:r>
            <a:r>
              <a:rPr lang="ko-KR" altLang="en-US" sz="1400" dirty="0"/>
              <a:t>클래스 선택자 예제</a:t>
            </a:r>
            <a:r>
              <a:rPr lang="en-US" altLang="ko-KR" sz="1400" dirty="0"/>
              <a:t>&lt;/title&gt;</a:t>
            </a:r>
          </a:p>
          <a:p>
            <a:pPr lvl="2"/>
            <a:r>
              <a:rPr lang="en-US" altLang="ko-KR" sz="1400" dirty="0"/>
              <a:t> &lt;style&gt;</a:t>
            </a:r>
          </a:p>
          <a:p>
            <a:pPr lvl="3"/>
            <a:r>
              <a:rPr lang="en-US" altLang="ko-KR" sz="1400" dirty="0"/>
              <a:t> .test1{</a:t>
            </a:r>
          </a:p>
          <a:p>
            <a:pPr lvl="4"/>
            <a:r>
              <a:rPr lang="en-US" altLang="ko-KR" sz="1400" dirty="0"/>
              <a:t> </a:t>
            </a:r>
            <a:r>
              <a:rPr lang="en-US" altLang="ko-KR" sz="1400" dirty="0" err="1"/>
              <a:t>font-size:small</a:t>
            </a:r>
            <a:r>
              <a:rPr lang="en-US" altLang="ko-KR" sz="1400" dirty="0"/>
              <a:t>;</a:t>
            </a:r>
          </a:p>
          <a:p>
            <a:pPr lvl="4"/>
            <a:r>
              <a:rPr lang="en-US" altLang="ko-KR" sz="1400" dirty="0"/>
              <a:t> </a:t>
            </a:r>
            <a:r>
              <a:rPr lang="en-US" altLang="ko-KR" sz="1400" dirty="0" err="1"/>
              <a:t>color:white</a:t>
            </a:r>
            <a:r>
              <a:rPr lang="en-US" altLang="ko-KR" sz="1400" dirty="0"/>
              <a:t>;</a:t>
            </a:r>
          </a:p>
          <a:p>
            <a:pPr lvl="4"/>
            <a:r>
              <a:rPr lang="en-US" altLang="ko-KR" sz="1400" dirty="0"/>
              <a:t> </a:t>
            </a:r>
            <a:r>
              <a:rPr lang="en-US" altLang="ko-KR" sz="1400" dirty="0" err="1"/>
              <a:t>background:blue</a:t>
            </a:r>
            <a:r>
              <a:rPr lang="en-US" altLang="ko-KR" sz="1400" dirty="0"/>
              <a:t>;</a:t>
            </a:r>
          </a:p>
          <a:p>
            <a:pPr lvl="3"/>
            <a:r>
              <a:rPr lang="en-US" altLang="ko-KR" sz="1400" dirty="0"/>
              <a:t> }</a:t>
            </a:r>
          </a:p>
          <a:p>
            <a:pPr lvl="2"/>
            <a:r>
              <a:rPr lang="en-US" altLang="ko-KR" sz="1400" dirty="0"/>
              <a:t> &lt;/style&gt;</a:t>
            </a:r>
          </a:p>
          <a:p>
            <a:r>
              <a:rPr lang="en-US" altLang="ko-KR" sz="1400" dirty="0"/>
              <a:t> &lt;/head&gt;</a:t>
            </a:r>
          </a:p>
          <a:p>
            <a:r>
              <a:rPr lang="en-US" altLang="ko-KR" sz="1400" dirty="0"/>
              <a:t> &lt;body&gt;</a:t>
            </a:r>
          </a:p>
          <a:p>
            <a:r>
              <a:rPr lang="en-US" altLang="ko-KR" sz="1400" dirty="0"/>
              <a:t> 	&lt;p class="test1"&gt;Hello HTML5 Sample!&lt;/p&gt;</a:t>
            </a:r>
          </a:p>
          <a:p>
            <a:r>
              <a:rPr lang="en-US" altLang="ko-KR" sz="1400" dirty="0"/>
              <a:t> &lt;/body&gt;</a:t>
            </a:r>
          </a:p>
          <a:p>
            <a:r>
              <a:rPr lang="en-US" altLang="ko-KR" sz="1400" dirty="0"/>
              <a:t> &lt;/html&gt;</a:t>
            </a:r>
            <a:endParaRPr lang="ko-KR" alt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3E16C1A-F0A4-7DEF-75B1-E9844A98F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233" y="5291262"/>
            <a:ext cx="3067811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11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151DB-546E-5867-B30A-72F67057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선택자</a:t>
            </a:r>
            <a:r>
              <a:rPr lang="en-US" altLang="ko-KR" dirty="0"/>
              <a:t>(5)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예제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887D27-F909-A2CC-C78F-4BCB1F1D3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303964" cy="5019675"/>
          </a:xfrm>
        </p:spPr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코드 설명</a:t>
            </a:r>
            <a:endParaRPr lang="en-US" altLang="ko-KR" dirty="0"/>
          </a:p>
          <a:p>
            <a:pPr lvl="1"/>
            <a:r>
              <a:rPr lang="ko-KR" altLang="en-US" dirty="0"/>
              <a:t>태그 사이에 </a:t>
            </a:r>
            <a:r>
              <a:rPr lang="en-US" altLang="ko-KR" dirty="0"/>
              <a:t>.test1 </a:t>
            </a:r>
            <a:r>
              <a:rPr lang="ko-KR" altLang="en-US" dirty="0"/>
              <a:t>이라는 클래스명으로 </a:t>
            </a:r>
            <a:r>
              <a:rPr lang="en-US" altLang="ko-KR" dirty="0"/>
              <a:t>CSS </a:t>
            </a:r>
            <a:r>
              <a:rPr lang="ko-KR" altLang="en-US" dirty="0"/>
              <a:t>코드를 작성 한다</a:t>
            </a:r>
            <a:r>
              <a:rPr lang="en-US" altLang="ko-KR" dirty="0"/>
              <a:t>. </a:t>
            </a:r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font-size:small </a:t>
            </a:r>
            <a:r>
              <a:rPr lang="en-US" altLang="ko-KR" dirty="0"/>
              <a:t>- </a:t>
            </a:r>
            <a:r>
              <a:rPr lang="ko-KR" altLang="en-US" dirty="0"/>
              <a:t>글자 크기를 작게 설정한다 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color:white </a:t>
            </a:r>
            <a:r>
              <a:rPr lang="en-US" altLang="ko-KR" dirty="0"/>
              <a:t>- </a:t>
            </a:r>
            <a:r>
              <a:rPr lang="ko-KR" altLang="en-US" dirty="0"/>
              <a:t>글자 색상을 흰색으로 설정한다</a:t>
            </a:r>
            <a:r>
              <a:rPr lang="en-US" altLang="ko-KR" dirty="0"/>
              <a:t>. </a:t>
            </a:r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background:blue </a:t>
            </a:r>
            <a:r>
              <a:rPr lang="en-US" altLang="ko-KR" dirty="0"/>
              <a:t>- </a:t>
            </a:r>
            <a:r>
              <a:rPr lang="ko-KR" altLang="en-US" dirty="0"/>
              <a:t>배경색을 파란색으로 설정한다 </a:t>
            </a:r>
            <a:endParaRPr lang="en-US" altLang="ko-KR" dirty="0"/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&lt;p class=</a:t>
            </a:r>
            <a:r>
              <a:rPr lang="en-US" altLang="ko-KR" sz="2000" dirty="0">
                <a:solidFill>
                  <a:srgbClr val="FF0000"/>
                </a:solidFill>
              </a:rPr>
              <a:t>"</a:t>
            </a:r>
            <a:r>
              <a:rPr lang="en-US" altLang="ko-KR" dirty="0">
                <a:solidFill>
                  <a:srgbClr val="FF0000"/>
                </a:solidFill>
              </a:rPr>
              <a:t>test1</a:t>
            </a:r>
            <a:r>
              <a:rPr lang="en-US" altLang="ko-KR" sz="2000" dirty="0">
                <a:solidFill>
                  <a:srgbClr val="FF0000"/>
                </a:solidFill>
              </a:rPr>
              <a:t>"</a:t>
            </a:r>
            <a:r>
              <a:rPr lang="en-US" altLang="ko-KR" dirty="0">
                <a:solidFill>
                  <a:srgbClr val="FF0000"/>
                </a:solidFill>
              </a:rPr>
              <a:t>&gt; </a:t>
            </a:r>
            <a:r>
              <a:rPr lang="ko-KR" altLang="en-US" dirty="0"/>
              <a:t>형태로 </a:t>
            </a:r>
            <a:r>
              <a:rPr lang="en-US" altLang="ko-KR" dirty="0"/>
              <a:t>'test1' </a:t>
            </a:r>
            <a:r>
              <a:rPr lang="ko-KR" altLang="en-US" dirty="0"/>
              <a:t>을 사용하여 해당 </a:t>
            </a:r>
            <a:r>
              <a:rPr lang="en-US" altLang="ko-KR" dirty="0"/>
              <a:t>HTML </a:t>
            </a:r>
            <a:r>
              <a:rPr lang="ko-KR" altLang="en-US" dirty="0"/>
              <a:t>요소에 스타일을 적용한다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32A404-96D6-66B1-F1EF-9516C23515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2220FC-2EDB-C53B-8B88-C4F9F419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1150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335BB-53EE-0850-C5F0-FCBD3210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선택자</a:t>
            </a:r>
            <a:r>
              <a:rPr lang="en-US" altLang="ko-KR" dirty="0"/>
              <a:t>(6)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예제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EC81C1-2A32-4568-9E36-8C3AB3564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001613"/>
            <a:ext cx="7772400" cy="5307707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1500" dirty="0"/>
              <a:t>아이디 선택자 예제</a:t>
            </a:r>
            <a:endParaRPr lang="en-US" altLang="ko-KR" sz="1500" dirty="0"/>
          </a:p>
          <a:p>
            <a:pPr lvl="1"/>
            <a:r>
              <a:rPr lang="en-US" altLang="ko-KR" sz="1500" dirty="0"/>
              <a:t>HTML </a:t>
            </a:r>
            <a:r>
              <a:rPr lang="ko-KR" altLang="en-US" sz="1500" dirty="0"/>
              <a:t>태그에는 고유한 아이디를 부여할 수 있다</a:t>
            </a:r>
            <a:r>
              <a:rPr lang="en-US" altLang="ko-KR" sz="1500" dirty="0"/>
              <a:t>.</a:t>
            </a:r>
          </a:p>
          <a:p>
            <a:pPr lvl="2"/>
            <a:r>
              <a:rPr lang="en-US" altLang="ko-KR" sz="1500" dirty="0"/>
              <a:t>&lt;p id="power"&gt;Hello HTML5 Sample!&lt;/p&gt;</a:t>
            </a:r>
          </a:p>
          <a:p>
            <a:pPr lvl="1"/>
            <a:r>
              <a:rPr lang="en-US" altLang="ko-KR" sz="1500" dirty="0"/>
              <a:t>CSS</a:t>
            </a:r>
            <a:r>
              <a:rPr lang="ko-KR" altLang="en-US" sz="1500" dirty="0"/>
              <a:t>에서는 이 아이디를 사용하여 해당 요소에 스타일을 적용할 수 있다</a:t>
            </a:r>
            <a:r>
              <a:rPr lang="en-US" altLang="ko-KR" sz="1500" dirty="0"/>
              <a:t>.</a:t>
            </a:r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endParaRPr lang="en-US" altLang="ko-KR" sz="1500" dirty="0"/>
          </a:p>
          <a:p>
            <a:pPr lvl="1"/>
            <a:r>
              <a:rPr lang="en-US" altLang="ko-KR" sz="1500" dirty="0"/>
              <a:t>CSS </a:t>
            </a:r>
            <a:r>
              <a:rPr lang="ko-KR" altLang="en-US" sz="1500" dirty="0"/>
              <a:t>코드에는 글자 크기를 중간 색상을 흰색 음영색을 초록색으로 작성하였다</a:t>
            </a:r>
            <a:r>
              <a:rPr lang="en-US" altLang="ko-KR" sz="150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99CF7-6972-EABE-3152-4EB91AC93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EF48CF-F7BA-F484-D851-29E699F2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9013F-3FAA-2E40-2EC2-21DFB07776DB}"/>
              </a:ext>
            </a:extLst>
          </p:cNvPr>
          <p:cNvSpPr txBox="1"/>
          <p:nvPr/>
        </p:nvSpPr>
        <p:spPr>
          <a:xfrm>
            <a:off x="927100" y="2163068"/>
            <a:ext cx="4725020" cy="369331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 &lt;!DOCTYPE html&gt;</a:t>
            </a:r>
          </a:p>
          <a:p>
            <a:r>
              <a:rPr lang="en-US" altLang="ko-KR" sz="1300" dirty="0"/>
              <a:t> &lt;html&gt;</a:t>
            </a:r>
          </a:p>
          <a:p>
            <a:r>
              <a:rPr lang="en-US" altLang="ko-KR" sz="1300" dirty="0"/>
              <a:t> &lt;head&gt;</a:t>
            </a:r>
          </a:p>
          <a:p>
            <a:pPr lvl="1"/>
            <a:r>
              <a:rPr lang="en-US" altLang="ko-KR" sz="1300" dirty="0"/>
              <a:t> &lt;meta charset="UTF-8"&gt;</a:t>
            </a:r>
          </a:p>
          <a:p>
            <a:pPr lvl="1"/>
            <a:r>
              <a:rPr lang="en-US" altLang="ko-KR" sz="1300" dirty="0"/>
              <a:t> &lt;title&gt;</a:t>
            </a:r>
            <a:r>
              <a:rPr lang="ko-KR" altLang="en-US" sz="1300" dirty="0"/>
              <a:t>아이디 선택자 예제</a:t>
            </a:r>
          </a:p>
          <a:p>
            <a:pPr lvl="1"/>
            <a:r>
              <a:rPr lang="en-US" altLang="ko-KR" sz="1300" dirty="0"/>
              <a:t>&lt;/title&gt;</a:t>
            </a:r>
          </a:p>
          <a:p>
            <a:pPr lvl="1"/>
            <a:r>
              <a:rPr lang="en-US" altLang="ko-KR" sz="1300" dirty="0"/>
              <a:t> &lt;style&gt;</a:t>
            </a:r>
          </a:p>
          <a:p>
            <a:pPr lvl="2"/>
            <a:r>
              <a:rPr lang="en-US" altLang="ko-KR" sz="1300" dirty="0"/>
              <a:t> #power {</a:t>
            </a:r>
          </a:p>
          <a:p>
            <a:pPr lvl="3"/>
            <a:r>
              <a:rPr lang="en-US" altLang="ko-KR" sz="1300" dirty="0"/>
              <a:t> </a:t>
            </a:r>
            <a:r>
              <a:rPr lang="en-US" altLang="ko-KR" sz="1300" dirty="0" err="1"/>
              <a:t>font-size:medium</a:t>
            </a:r>
            <a:r>
              <a:rPr lang="en-US" altLang="ko-KR" sz="1300" dirty="0"/>
              <a:t>;</a:t>
            </a:r>
          </a:p>
          <a:p>
            <a:pPr lvl="3"/>
            <a:r>
              <a:rPr lang="en-US" altLang="ko-KR" sz="1300" dirty="0"/>
              <a:t> color:white;</a:t>
            </a:r>
          </a:p>
          <a:p>
            <a:pPr lvl="3"/>
            <a:r>
              <a:rPr lang="en-US" altLang="ko-KR" sz="1300" dirty="0"/>
              <a:t> </a:t>
            </a:r>
            <a:r>
              <a:rPr lang="en-US" altLang="ko-KR" sz="1300" dirty="0" err="1"/>
              <a:t>background:green</a:t>
            </a:r>
            <a:r>
              <a:rPr lang="en-US" altLang="ko-KR" sz="1300" dirty="0"/>
              <a:t>;</a:t>
            </a:r>
          </a:p>
          <a:p>
            <a:pPr lvl="2"/>
            <a:r>
              <a:rPr lang="en-US" altLang="ko-KR" sz="1300" dirty="0"/>
              <a:t> }</a:t>
            </a:r>
          </a:p>
          <a:p>
            <a:pPr lvl="1"/>
            <a:r>
              <a:rPr lang="en-US" altLang="ko-KR" sz="1300" dirty="0"/>
              <a:t> &lt;/style&gt;</a:t>
            </a:r>
          </a:p>
          <a:p>
            <a:r>
              <a:rPr lang="en-US" altLang="ko-KR" sz="1300" dirty="0"/>
              <a:t> &lt;/head&gt;</a:t>
            </a:r>
          </a:p>
          <a:p>
            <a:pPr lvl="1"/>
            <a:r>
              <a:rPr lang="en-US" altLang="ko-KR" sz="1300" dirty="0"/>
              <a:t> &lt;body&gt;</a:t>
            </a:r>
          </a:p>
          <a:p>
            <a:pPr lvl="1"/>
            <a:r>
              <a:rPr lang="en-US" altLang="ko-KR" sz="1300" dirty="0"/>
              <a:t> 	&lt;p id = "power"&gt;Hello HTML5 Sample!&lt;/p&gt;</a:t>
            </a:r>
          </a:p>
          <a:p>
            <a:pPr lvl="1"/>
            <a:r>
              <a:rPr lang="en-US" altLang="ko-KR" sz="1300" dirty="0"/>
              <a:t> &lt;/body&gt;</a:t>
            </a:r>
          </a:p>
          <a:p>
            <a:r>
              <a:rPr lang="en-US" altLang="ko-KR" sz="1300" dirty="0"/>
              <a:t> &lt;/html&gt;</a:t>
            </a:r>
            <a:endParaRPr lang="ko-KR" altLang="en-US" sz="13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3368E2F-88E5-702B-7B5C-6C17D1B39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5013176"/>
            <a:ext cx="3024560" cy="44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640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2EED9F-8C42-EF9D-4EB6-3F509F0F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선택자</a:t>
            </a:r>
            <a:r>
              <a:rPr lang="en-US" altLang="ko-KR" dirty="0"/>
              <a:t>(6)</a:t>
            </a:r>
            <a:br>
              <a:rPr lang="en-US" altLang="ko-KR" dirty="0"/>
            </a:br>
            <a:r>
              <a:rPr lang="en-US" altLang="ko-KR" dirty="0"/>
              <a:t>						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F4B349-9C38-5FF6-2EC4-0D7967AC8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복합 선택자</a:t>
            </a:r>
            <a:endParaRPr lang="en-US" altLang="ko-KR" b="1" dirty="0"/>
          </a:p>
          <a:p>
            <a:pPr lvl="1"/>
            <a:r>
              <a:rPr lang="ko-KR" altLang="en-US" dirty="0"/>
              <a:t>여러 선택자를 조합하여 세부적인 스타일 지정이 가능하다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마우스를 </a:t>
            </a:r>
            <a:r>
              <a:rPr lang="en-US" altLang="ko-KR" dirty="0"/>
              <a:t>Hover over me! </a:t>
            </a:r>
            <a:r>
              <a:rPr lang="ko-KR" altLang="en-US" dirty="0"/>
              <a:t>에 올려 놓으면 주황색 버튼으로 변하게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E0F117-B11A-17A1-4FC1-D786608107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45E7C5-24A2-D2F4-22E5-F547BE62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4A58B8-33DE-22B3-A2D3-4BC5D3E4F8AB}"/>
              </a:ext>
            </a:extLst>
          </p:cNvPr>
          <p:cNvSpPr txBox="1"/>
          <p:nvPr/>
        </p:nvSpPr>
        <p:spPr>
          <a:xfrm>
            <a:off x="1259632" y="2923698"/>
            <a:ext cx="5166320" cy="14773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/* </a:t>
            </a:r>
            <a:r>
              <a:rPr lang="ko-KR" altLang="en-US" dirty="0"/>
              <a:t>클래스와 가상 클래스 조합 *</a:t>
            </a:r>
            <a:r>
              <a:rPr lang="en-US" altLang="ko-KR" dirty="0"/>
              <a:t>/</a:t>
            </a:r>
          </a:p>
          <a:p>
            <a:r>
              <a:rPr lang="en-US" altLang="ko-KR" dirty="0"/>
              <a:t>.button:hover { </a:t>
            </a:r>
          </a:p>
          <a:p>
            <a:r>
              <a:rPr lang="en-US" altLang="ko-KR" dirty="0"/>
              <a:t>	background-color: orange; </a:t>
            </a:r>
          </a:p>
          <a:p>
            <a:r>
              <a:rPr lang="en-US" altLang="ko-KR" dirty="0"/>
              <a:t>	color: white; 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597E66-54E2-CAA9-9965-ADB350E70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314" y="4491394"/>
            <a:ext cx="2735386" cy="180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09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F879F-41E5-9A3A-16DD-789E7CAE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선택자</a:t>
            </a:r>
            <a:r>
              <a:rPr lang="en-US" altLang="ko-KR" dirty="0"/>
              <a:t>(7)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F269A9-E8D8-11CA-C2E8-10C5C8F94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자손</a:t>
            </a:r>
            <a:r>
              <a:rPr lang="en-US" altLang="ko-KR" dirty="0"/>
              <a:t>/</a:t>
            </a:r>
            <a:r>
              <a:rPr lang="ko-KR" altLang="en-US" dirty="0"/>
              <a:t>자식 선택자</a:t>
            </a:r>
            <a:endParaRPr lang="en-US" altLang="ko-KR" dirty="0"/>
          </a:p>
          <a:p>
            <a:pPr lvl="1"/>
            <a:r>
              <a:rPr lang="ko-KR" altLang="en-US" dirty="0"/>
              <a:t>지정된 부모 요소 </a:t>
            </a:r>
            <a:r>
              <a:rPr lang="en-US" altLang="ko-KR" dirty="0"/>
              <a:t>(</a:t>
            </a:r>
            <a:r>
              <a:rPr lang="ko-KR" altLang="en-US" dirty="0"/>
              <a:t>태그</a:t>
            </a:r>
            <a:r>
              <a:rPr lang="en-US" altLang="ko-KR" dirty="0"/>
              <a:t>) </a:t>
            </a:r>
            <a:r>
              <a:rPr lang="ko-KR" altLang="en-US" dirty="0"/>
              <a:t>아래에 있는 모든 자손 요소 </a:t>
            </a:r>
            <a:r>
              <a:rPr lang="en-US" altLang="ko-KR" dirty="0"/>
              <a:t>(</a:t>
            </a:r>
            <a:r>
              <a:rPr lang="ko-KR" altLang="en-US" dirty="0"/>
              <a:t>태그</a:t>
            </a:r>
            <a:r>
              <a:rPr lang="en-US" altLang="ko-KR" dirty="0"/>
              <a:t>) </a:t>
            </a:r>
            <a:r>
              <a:rPr lang="ko-KR" altLang="en-US" dirty="0"/>
              <a:t>에 스타일을 적용한다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예</a:t>
            </a:r>
            <a:r>
              <a:rPr lang="en-US" altLang="ko-KR" dirty="0">
                <a:solidFill>
                  <a:srgbClr val="FF0000"/>
                </a:solidFill>
              </a:rPr>
              <a:t>) div ul, div li, div h1</a:t>
            </a:r>
            <a:endParaRPr lang="en-US" altLang="ko-KR" dirty="0"/>
          </a:p>
          <a:p>
            <a:pPr lvl="1"/>
            <a:r>
              <a:rPr lang="ko-KR" altLang="en-US" dirty="0"/>
              <a:t>자식 선택자는 지정된 부모 요소의 직계 자식 요소에만 스타일을 적용한다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이는 부모 요소 바로 아래에 있는 요소에만 적용되며</a:t>
            </a:r>
            <a:r>
              <a:rPr lang="en-US" altLang="ko-KR" dirty="0"/>
              <a:t>, </a:t>
            </a:r>
            <a:r>
              <a:rPr lang="ko-KR" altLang="en-US" dirty="0"/>
              <a:t>더 깊은 단계의 하위 요소 에는 적용되지 않는다</a:t>
            </a:r>
            <a:r>
              <a:rPr lang="en-US" altLang="ko-KR" dirty="0"/>
              <a:t>. </a:t>
            </a: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예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header &gt; h1, ul &gt; li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5B877E-44D3-61EA-5A01-98C6A71E9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F9CFE6-AC77-18A7-CF4A-DB7D824C1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0966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BF591-7CC5-EF1E-93E2-5242329B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선택자</a:t>
            </a:r>
            <a:r>
              <a:rPr lang="en-US" altLang="ko-KR" dirty="0"/>
              <a:t>(8)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3B76CB-7867-701C-68E3-148EBEC0E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DA2BAE-3D34-0930-0462-C02FA4F6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452BBB-6DE1-ADBA-8A8E-0ADD885E0BDC}"/>
              </a:ext>
            </a:extLst>
          </p:cNvPr>
          <p:cNvSpPr txBox="1"/>
          <p:nvPr/>
        </p:nvSpPr>
        <p:spPr>
          <a:xfrm>
            <a:off x="251460" y="1049020"/>
            <a:ext cx="4824730" cy="521652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&lt;!DOCTYPE html&gt;</a:t>
            </a:r>
          </a:p>
          <a:p>
            <a:r>
              <a:rPr lang="en-US" altLang="ko-KR" sz="900" dirty="0"/>
              <a:t> &lt;html&gt;</a:t>
            </a:r>
          </a:p>
          <a:p>
            <a:r>
              <a:rPr lang="en-US" altLang="ko-KR" sz="900" dirty="0"/>
              <a:t> &lt;head&gt;</a:t>
            </a:r>
          </a:p>
          <a:p>
            <a:pPr lvl="1"/>
            <a:r>
              <a:rPr lang="en-US" altLang="ko-KR" sz="900" dirty="0"/>
              <a:t> &lt;meta charset="UTF-8"&gt;</a:t>
            </a:r>
          </a:p>
          <a:p>
            <a:pPr lvl="1"/>
            <a:r>
              <a:rPr lang="en-US" altLang="ko-KR" sz="900" dirty="0"/>
              <a:t> &lt;title&gt;</a:t>
            </a:r>
            <a:r>
              <a:rPr lang="ko-KR" altLang="en-US" sz="900" dirty="0"/>
              <a:t>자식</a:t>
            </a:r>
            <a:r>
              <a:rPr lang="en-US" altLang="ko-KR" sz="900" dirty="0"/>
              <a:t>/</a:t>
            </a:r>
            <a:r>
              <a:rPr lang="ko-KR" altLang="en-US" sz="900" dirty="0"/>
              <a:t>자손 선택자 예제</a:t>
            </a:r>
            <a:r>
              <a:rPr lang="en-US" altLang="ko-KR" sz="900" dirty="0"/>
              <a:t>&lt;/title&gt;</a:t>
            </a:r>
          </a:p>
          <a:p>
            <a:pPr lvl="1"/>
            <a:r>
              <a:rPr lang="en-US" altLang="ko-KR" sz="900" b="1" dirty="0"/>
              <a:t> &lt;style&gt;</a:t>
            </a:r>
          </a:p>
          <a:p>
            <a:pPr lvl="2"/>
            <a:r>
              <a:rPr lang="en-US" altLang="ko-KR" sz="900" b="1" dirty="0"/>
              <a:t> div li { /*</a:t>
            </a:r>
            <a:r>
              <a:rPr lang="ko-KR" altLang="en-US" sz="900" b="1" dirty="0"/>
              <a:t>자손 선택자*</a:t>
            </a:r>
            <a:r>
              <a:rPr lang="en-US" altLang="ko-KR" sz="900" b="1" dirty="0"/>
              <a:t>/</a:t>
            </a:r>
          </a:p>
          <a:p>
            <a:pPr lvl="2"/>
            <a:r>
              <a:rPr lang="en-US" altLang="ko-KR" sz="900" b="1" dirty="0"/>
              <a:t> 	color: green;</a:t>
            </a:r>
          </a:p>
          <a:p>
            <a:pPr lvl="2"/>
            <a:r>
              <a:rPr lang="en-US" altLang="ko-KR" sz="900" b="1" dirty="0"/>
              <a:t> }</a:t>
            </a:r>
          </a:p>
          <a:p>
            <a:pPr lvl="2"/>
            <a:r>
              <a:rPr lang="en-US" altLang="ko-KR" sz="900" b="1" dirty="0"/>
              <a:t> header &gt; h1 {/*</a:t>
            </a:r>
            <a:r>
              <a:rPr lang="ko-KR" altLang="en-US" sz="900" b="1" dirty="0"/>
              <a:t>자식 선택자*</a:t>
            </a:r>
            <a:r>
              <a:rPr lang="en-US" altLang="ko-KR" sz="900" b="1" dirty="0"/>
              <a:t>/</a:t>
            </a:r>
          </a:p>
          <a:p>
            <a:pPr lvl="2"/>
            <a:r>
              <a:rPr lang="en-US" altLang="ko-KR" sz="900" b="1" dirty="0"/>
              <a:t> 	color: blue;</a:t>
            </a:r>
          </a:p>
          <a:p>
            <a:pPr lvl="2"/>
            <a:r>
              <a:rPr lang="en-US" altLang="ko-KR" sz="900" b="1" dirty="0"/>
              <a:t> }</a:t>
            </a:r>
          </a:p>
          <a:p>
            <a:pPr lvl="1"/>
            <a:r>
              <a:rPr lang="en-US" altLang="ko-KR" sz="900" b="1" dirty="0"/>
              <a:t> &lt;/style&gt;</a:t>
            </a:r>
          </a:p>
          <a:p>
            <a:r>
              <a:rPr lang="en-US" altLang="ko-KR" sz="900" dirty="0"/>
              <a:t> &lt;/head&gt;</a:t>
            </a:r>
          </a:p>
          <a:p>
            <a:r>
              <a:rPr lang="en-US" altLang="ko-KR" sz="900" dirty="0"/>
              <a:t> &lt;body&gt;</a:t>
            </a:r>
          </a:p>
          <a:p>
            <a:r>
              <a:rPr lang="en-US" altLang="ko-KR" sz="900" dirty="0"/>
              <a:t>              &lt;div&gt;</a:t>
            </a:r>
          </a:p>
          <a:p>
            <a:pPr lvl="1"/>
            <a:r>
              <a:rPr lang="en-US" altLang="ko-KR" sz="900" dirty="0"/>
              <a:t> </a:t>
            </a:r>
            <a:r>
              <a:rPr lang="en-US" altLang="ko-KR" sz="900" b="1" dirty="0"/>
              <a:t>&lt;header&gt;</a:t>
            </a:r>
          </a:p>
          <a:p>
            <a:pPr lvl="1"/>
            <a:r>
              <a:rPr lang="en-US" altLang="ko-KR" sz="900" dirty="0"/>
              <a:t> 	&lt;h1&gt;</a:t>
            </a:r>
            <a:r>
              <a:rPr lang="ko-KR" altLang="en-US" sz="900" dirty="0"/>
              <a:t>반갑습니다</a:t>
            </a:r>
            <a:r>
              <a:rPr lang="en-US" altLang="ko-KR" sz="900" dirty="0"/>
              <a:t>!&lt;/h1&gt;</a:t>
            </a:r>
          </a:p>
          <a:p>
            <a:pPr lvl="1"/>
            <a:r>
              <a:rPr lang="en-US" altLang="ko-KR" sz="900" dirty="0"/>
              <a:t> </a:t>
            </a:r>
            <a:r>
              <a:rPr lang="en-US" altLang="ko-KR" sz="900" b="1" dirty="0"/>
              <a:t>&lt;/header&gt;</a:t>
            </a:r>
          </a:p>
          <a:p>
            <a:r>
              <a:rPr lang="en-US" altLang="ko-KR" sz="900" dirty="0"/>
              <a:t>            </a:t>
            </a:r>
            <a:r>
              <a:rPr lang="en-US" altLang="ko-KR" sz="900" b="1" dirty="0"/>
              <a:t>&lt;nav&gt;</a:t>
            </a:r>
          </a:p>
          <a:p>
            <a:pPr lvl="2"/>
            <a:r>
              <a:rPr lang="en-US" altLang="ko-KR" sz="900" dirty="0"/>
              <a:t> &lt;ul&gt;</a:t>
            </a:r>
          </a:p>
          <a:p>
            <a:pPr lvl="3"/>
            <a:r>
              <a:rPr lang="en-US" altLang="ko-KR" sz="900" dirty="0"/>
              <a:t> &lt;li&gt;</a:t>
            </a:r>
            <a:r>
              <a:rPr lang="ko-KR" altLang="en-US" sz="900" dirty="0"/>
              <a:t>홈</a:t>
            </a:r>
            <a:r>
              <a:rPr lang="en-US" altLang="ko-KR" sz="900" dirty="0"/>
              <a:t>&lt;/li&gt;</a:t>
            </a:r>
          </a:p>
          <a:p>
            <a:pPr lvl="3"/>
            <a:r>
              <a:rPr lang="en-US" altLang="ko-KR" sz="900" dirty="0"/>
              <a:t> &lt;li&gt;</a:t>
            </a:r>
            <a:r>
              <a:rPr lang="ko-KR" altLang="en-US" sz="900" dirty="0"/>
              <a:t>도움말</a:t>
            </a:r>
            <a:r>
              <a:rPr lang="en-US" altLang="ko-KR" sz="900" dirty="0"/>
              <a:t>&lt;/li&gt;</a:t>
            </a:r>
          </a:p>
          <a:p>
            <a:pPr lvl="3"/>
            <a:r>
              <a:rPr lang="en-US" altLang="ko-KR" sz="900" dirty="0"/>
              <a:t> &lt;li&gt;</a:t>
            </a:r>
            <a:r>
              <a:rPr lang="ko-KR" altLang="en-US" sz="900" dirty="0"/>
              <a:t>주요내용</a:t>
            </a:r>
            <a:r>
              <a:rPr lang="en-US" altLang="ko-KR" sz="900" dirty="0"/>
              <a:t>&lt;/li&gt;</a:t>
            </a:r>
          </a:p>
          <a:p>
            <a:pPr lvl="2"/>
            <a:r>
              <a:rPr lang="en-US" altLang="ko-KR" sz="900" dirty="0"/>
              <a:t> &lt;/ul&gt;</a:t>
            </a:r>
          </a:p>
          <a:p>
            <a:pPr lvl="1"/>
            <a:r>
              <a:rPr lang="en-US" altLang="ko-KR" sz="900" dirty="0"/>
              <a:t> </a:t>
            </a:r>
            <a:r>
              <a:rPr lang="en-US" altLang="ko-KR" sz="900" b="1" dirty="0"/>
              <a:t>&lt;/nav&gt;</a:t>
            </a:r>
          </a:p>
          <a:p>
            <a:pPr lvl="1"/>
            <a:r>
              <a:rPr lang="en-US" altLang="ko-KR" sz="900" dirty="0"/>
              <a:t> </a:t>
            </a:r>
            <a:r>
              <a:rPr lang="en-US" altLang="ko-KR" sz="900" b="1" dirty="0"/>
              <a:t>&lt;section&gt;</a:t>
            </a:r>
          </a:p>
          <a:p>
            <a:pPr lvl="2"/>
            <a:r>
              <a:rPr lang="en-US" altLang="ko-KR" sz="900" b="1" dirty="0"/>
              <a:t> &lt;article&gt;</a:t>
            </a:r>
          </a:p>
          <a:p>
            <a:pPr lvl="2"/>
            <a:r>
              <a:rPr lang="en-US" altLang="ko-KR" sz="900" b="1" dirty="0"/>
              <a:t> 	</a:t>
            </a:r>
            <a:r>
              <a:rPr lang="en-US" altLang="ko-KR" sz="900" dirty="0"/>
              <a:t>&lt;p&gt;</a:t>
            </a:r>
            <a:r>
              <a:rPr lang="ko-KR" altLang="en-US" sz="900" dirty="0"/>
              <a:t>내용이 들어가는 곳입니다</a:t>
            </a:r>
            <a:r>
              <a:rPr lang="en-US" altLang="ko-KR" sz="900" dirty="0"/>
              <a:t>.&lt;/p&gt;</a:t>
            </a:r>
          </a:p>
          <a:p>
            <a:pPr lvl="2"/>
            <a:r>
              <a:rPr lang="en-US" altLang="ko-KR" sz="900" b="1" dirty="0"/>
              <a:t> &lt;/article&gt;</a:t>
            </a:r>
          </a:p>
          <a:p>
            <a:pPr lvl="1"/>
            <a:r>
              <a:rPr lang="en-US" altLang="ko-KR" sz="900" b="1" dirty="0"/>
              <a:t> &lt;/section&gt;</a:t>
            </a:r>
          </a:p>
          <a:p>
            <a:pPr lvl="1"/>
            <a:r>
              <a:rPr lang="en-US" altLang="ko-KR" sz="900" dirty="0"/>
              <a:t> </a:t>
            </a:r>
            <a:r>
              <a:rPr lang="en-US" altLang="ko-KR" sz="900" b="1" dirty="0"/>
              <a:t>&lt;footer&gt;</a:t>
            </a:r>
          </a:p>
          <a:p>
            <a:pPr lvl="1"/>
            <a:r>
              <a:rPr lang="en-US" altLang="ko-KR" sz="900" dirty="0"/>
              <a:t> 	&lt;p&gt;Copyright 2023/p&gt;</a:t>
            </a:r>
          </a:p>
          <a:p>
            <a:pPr lvl="1"/>
            <a:r>
              <a:rPr lang="en-US" altLang="ko-KR" sz="900" b="1" dirty="0"/>
              <a:t> &lt;/footer&gt;</a:t>
            </a:r>
          </a:p>
          <a:p>
            <a:pPr lvl="1"/>
            <a:r>
              <a:rPr lang="en-US" altLang="ko-KR" sz="900" dirty="0"/>
              <a:t> &lt;/div&gt;</a:t>
            </a:r>
          </a:p>
          <a:p>
            <a:r>
              <a:rPr lang="en-US" altLang="ko-KR" sz="900" dirty="0"/>
              <a:t> &lt;/body&gt;</a:t>
            </a:r>
          </a:p>
          <a:p>
            <a:r>
              <a:rPr lang="en-US" altLang="ko-KR" sz="900" dirty="0"/>
              <a:t> &lt;html&gt;</a:t>
            </a:r>
            <a:endParaRPr lang="ko-KR" altLang="en-US" sz="9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4C82C04-EA36-288B-A31D-545C6BF73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235" y="3371850"/>
            <a:ext cx="3158490" cy="2880360"/>
          </a:xfrm>
          <a:prstGeom prst="rect">
            <a:avLst/>
          </a:prstGeom>
          <a:ln>
            <a:solidFill>
              <a:srgbClr val="000000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잉크 1"/>
              <p14:cNvContentPartPr/>
              <p14:nvPr/>
            </p14:nvContentPartPr>
            <p14:xfrm>
              <a:off x="5707380" y="1348740"/>
              <a:ext cx="1668780" cy="1097280"/>
            </p14:xfrm>
          </p:contentPart>
        </mc:Choice>
        <mc:Fallback>
          <p:pic>
            <p:nvPicPr>
              <p:cNvPr id="9" name="잉크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7380" y="1348740"/>
                <a:ext cx="1668780" cy="109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0471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99438-1BE0-0084-3D1A-FB61B9C3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선택자</a:t>
            </a:r>
            <a:r>
              <a:rPr lang="en-US" altLang="ko-KR" dirty="0"/>
              <a:t>(9)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31A59D-6F9C-6BFC-8605-4BDC20ACB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15" y="1197610"/>
            <a:ext cx="4752340" cy="5019675"/>
          </a:xfrm>
        </p:spPr>
        <p:txBody>
          <a:bodyPr>
            <a:normAutofit/>
          </a:bodyPr>
          <a:lstStyle/>
          <a:p>
            <a:r>
              <a:rPr lang="ko-KR" altLang="en-US" sz="1400" b="1" dirty="0"/>
              <a:t>의사 클래스</a:t>
            </a:r>
            <a:endParaRPr lang="en-US" altLang="ko-KR" sz="1400" b="1" dirty="0"/>
          </a:p>
          <a:p>
            <a:pPr lvl="1"/>
            <a:r>
              <a:rPr lang="ko-KR" altLang="en-US" sz="1400" dirty="0"/>
              <a:t>의사 클래스는 콜론</a:t>
            </a:r>
            <a:r>
              <a:rPr lang="en-US" altLang="ko-KR" sz="1400" dirty="0"/>
              <a:t>(:)</a:t>
            </a:r>
            <a:r>
              <a:rPr lang="ko-KR" altLang="en-US" sz="1400" dirty="0"/>
              <a:t>을 사용하여 특정 상태의 요소를 선택하는 데 사용된다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이를 통해 요소의 상태나 특정 조건에 따라 스타일을 적용할 수 있다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&lt;button&gt;&lt;/button&gt;</a:t>
            </a:r>
          </a:p>
          <a:p>
            <a:pPr lvl="2"/>
            <a:r>
              <a:rPr lang="ko-KR" altLang="en-US" sz="1400" dirty="0"/>
              <a:t>마우스를 버튼 위에 올리면</a:t>
            </a:r>
            <a:r>
              <a:rPr lang="en-US" altLang="ko-KR" sz="1400" dirty="0"/>
              <a:t>(:hover)</a:t>
            </a:r>
            <a:r>
              <a:rPr lang="ko-KR" altLang="en-US" sz="1400" dirty="0"/>
              <a:t>배경색이 연한 파랑색으로 변한다</a:t>
            </a:r>
            <a:r>
              <a:rPr lang="en-US" altLang="ko-KR" sz="1400" dirty="0"/>
              <a:t>.</a:t>
            </a:r>
          </a:p>
          <a:p>
            <a:pPr lvl="2"/>
            <a:r>
              <a:rPr lang="ko-KR" altLang="en-US" sz="1400" dirty="0"/>
              <a:t>버튼에 포커스가 맞춰지면</a:t>
            </a:r>
            <a:r>
              <a:rPr lang="en-US" altLang="ko-KR" sz="1400" dirty="0"/>
              <a:t>(:focus)</a:t>
            </a:r>
            <a:r>
              <a:rPr lang="ko-KR" altLang="en-US" sz="1400" dirty="0"/>
              <a:t>테두리가 파란색으로 강조된다</a:t>
            </a:r>
            <a:r>
              <a:rPr lang="en-US" altLang="ko-KR" sz="1400" dirty="0"/>
              <a:t>.</a:t>
            </a:r>
          </a:p>
          <a:p>
            <a:pPr lvl="2"/>
            <a:r>
              <a:rPr lang="ko-KR" altLang="en-US" sz="1400" dirty="0"/>
              <a:t>버튼을 클릭하고 있는 동안</a:t>
            </a:r>
            <a:r>
              <a:rPr lang="en-US" altLang="ko-KR" sz="1400" dirty="0"/>
              <a:t>(:active)</a:t>
            </a:r>
            <a:r>
              <a:rPr lang="ko-KR" altLang="en-US" sz="1400" dirty="0"/>
              <a:t> 배경색은 남색으로</a:t>
            </a:r>
            <a:r>
              <a:rPr lang="en-US" altLang="ko-KR" sz="1400" dirty="0"/>
              <a:t>, </a:t>
            </a:r>
            <a:r>
              <a:rPr lang="ko-KR" altLang="en-US" sz="1400" dirty="0"/>
              <a:t>글자색은 흰색으로 변한다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(input type="text“)</a:t>
            </a:r>
          </a:p>
          <a:p>
            <a:pPr lvl="2"/>
            <a:r>
              <a:rPr lang="ko-KR" altLang="en-US" sz="1400" dirty="0"/>
              <a:t>비활성화된 입력 필드</a:t>
            </a:r>
            <a:r>
              <a:rPr lang="en-US" altLang="ko-KR" sz="1400" dirty="0"/>
              <a:t>(:disabled)</a:t>
            </a:r>
            <a:r>
              <a:rPr lang="ko-KR" altLang="en-US" sz="1400" dirty="0"/>
              <a:t>는 배경색이 연한 회색</a:t>
            </a:r>
            <a:r>
              <a:rPr lang="en-US" altLang="ko-KR" sz="1400" dirty="0"/>
              <a:t>, </a:t>
            </a:r>
            <a:r>
              <a:rPr lang="ko-KR" altLang="en-US" sz="1400" dirty="0"/>
              <a:t>글자색이 회색으로 표시된다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D7394-C9AE-6BAB-E178-D048B9DDB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18AB7-CBDE-34F5-6EA8-53B35D25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88F72-9152-CC41-2B18-77DF7F40F56B}"/>
              </a:ext>
            </a:extLst>
          </p:cNvPr>
          <p:cNvSpPr txBox="1"/>
          <p:nvPr/>
        </p:nvSpPr>
        <p:spPr>
          <a:xfrm>
            <a:off x="4803140" y="1075690"/>
            <a:ext cx="4248785" cy="526288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&lt;!DOCTYPE html&gt;</a:t>
            </a:r>
          </a:p>
          <a:p>
            <a:r>
              <a:rPr lang="en-US" altLang="ko-KR" sz="1200" dirty="0"/>
              <a:t> &lt;html&gt;</a:t>
            </a:r>
          </a:p>
          <a:p>
            <a:r>
              <a:rPr lang="en-US" altLang="ko-KR" sz="1200" dirty="0"/>
              <a:t> &lt;head&gt;</a:t>
            </a:r>
          </a:p>
          <a:p>
            <a:r>
              <a:rPr lang="en-US" altLang="ko-KR" sz="1200" dirty="0"/>
              <a:t>            &lt;meta charset="UTF-8"&gt;</a:t>
            </a:r>
          </a:p>
          <a:p>
            <a:r>
              <a:rPr lang="en-US" altLang="ko-KR" sz="1200" dirty="0"/>
              <a:t>            &lt;title&gt;</a:t>
            </a:r>
            <a:r>
              <a:rPr lang="ko-KR" altLang="en-US" sz="1200" dirty="0"/>
              <a:t>의사 클래스 예제</a:t>
            </a:r>
            <a:r>
              <a:rPr lang="en-US" altLang="ko-KR" sz="1200" dirty="0"/>
              <a:t>&lt;/title&gt;</a:t>
            </a:r>
          </a:p>
          <a:p>
            <a:pPr lvl="1"/>
            <a:r>
              <a:rPr lang="en-US" altLang="ko-KR" sz="1200" dirty="0"/>
              <a:t> </a:t>
            </a:r>
            <a:r>
              <a:rPr lang="en-US" altLang="ko-KR" sz="1200" b="1" dirty="0"/>
              <a:t>&lt;style&gt;</a:t>
            </a:r>
          </a:p>
          <a:p>
            <a:pPr lvl="2"/>
            <a:r>
              <a:rPr lang="en-US" altLang="ko-KR" sz="1200" b="1" dirty="0"/>
              <a:t> button:hover {</a:t>
            </a:r>
          </a:p>
          <a:p>
            <a:pPr lvl="2"/>
            <a:r>
              <a:rPr lang="en-US" altLang="ko-KR" sz="1200" b="1" dirty="0"/>
              <a:t>       background-color: lightblue;</a:t>
            </a:r>
          </a:p>
          <a:p>
            <a:pPr lvl="2"/>
            <a:r>
              <a:rPr lang="en-US" altLang="ko-KR" sz="1200" b="1" dirty="0"/>
              <a:t> }</a:t>
            </a:r>
          </a:p>
          <a:p>
            <a:pPr lvl="2"/>
            <a:r>
              <a:rPr lang="en-US" altLang="ko-KR" sz="1200" b="1" dirty="0"/>
              <a:t> </a:t>
            </a:r>
            <a:r>
              <a:rPr lang="en-US" altLang="ko-KR" sz="1200" b="1" dirty="0" err="1"/>
              <a:t>button:focus</a:t>
            </a:r>
            <a:r>
              <a:rPr lang="en-US" altLang="ko-KR" sz="1200" b="1" dirty="0"/>
              <a:t> {</a:t>
            </a:r>
          </a:p>
          <a:p>
            <a:pPr lvl="2"/>
            <a:r>
              <a:rPr lang="en-US" altLang="ko-KR" sz="1200" b="1" dirty="0"/>
              <a:t>       border: 2px solid blue;</a:t>
            </a:r>
          </a:p>
          <a:p>
            <a:pPr lvl="2"/>
            <a:r>
              <a:rPr lang="en-US" altLang="ko-KR" sz="1200" b="1" dirty="0"/>
              <a:t> }</a:t>
            </a:r>
          </a:p>
          <a:p>
            <a:pPr lvl="2"/>
            <a:r>
              <a:rPr lang="en-US" altLang="ko-KR" sz="1200" b="1" dirty="0"/>
              <a:t> </a:t>
            </a:r>
            <a:r>
              <a:rPr lang="en-US" altLang="ko-KR" sz="1200" b="1" dirty="0" err="1"/>
              <a:t>button:active</a:t>
            </a:r>
            <a:r>
              <a:rPr lang="en-US" altLang="ko-KR" sz="1200" b="1" dirty="0"/>
              <a:t> {</a:t>
            </a:r>
          </a:p>
          <a:p>
            <a:pPr lvl="2"/>
            <a:r>
              <a:rPr lang="en-US" altLang="ko-KR" sz="1200" b="1" dirty="0"/>
              <a:t>       background-color: navy;</a:t>
            </a:r>
          </a:p>
          <a:p>
            <a:pPr lvl="2"/>
            <a:r>
              <a:rPr lang="en-US" altLang="ko-KR" sz="1200" b="1" dirty="0"/>
              <a:t>       color: white;</a:t>
            </a:r>
          </a:p>
          <a:p>
            <a:pPr lvl="2"/>
            <a:r>
              <a:rPr lang="en-US" altLang="ko-KR" sz="1200" b="1" dirty="0"/>
              <a:t> }</a:t>
            </a:r>
          </a:p>
          <a:p>
            <a:pPr lvl="2"/>
            <a:r>
              <a:rPr lang="en-US" altLang="ko-KR" sz="1200" b="1" dirty="0"/>
              <a:t> </a:t>
            </a:r>
            <a:r>
              <a:rPr lang="en-US" altLang="ko-KR" sz="1200" b="1" dirty="0" err="1"/>
              <a:t>input:disabled</a:t>
            </a:r>
            <a:r>
              <a:rPr lang="en-US" altLang="ko-KR" sz="1200" b="1" dirty="0"/>
              <a:t> {</a:t>
            </a:r>
          </a:p>
          <a:p>
            <a:pPr lvl="2"/>
            <a:r>
              <a:rPr lang="en-US" altLang="ko-KR" sz="1200" b="1" dirty="0"/>
              <a:t>       background-color: </a:t>
            </a:r>
            <a:r>
              <a:rPr lang="en-US" altLang="ko-KR" sz="1200" b="1" dirty="0" err="1"/>
              <a:t>lightgray</a:t>
            </a:r>
            <a:r>
              <a:rPr lang="en-US" altLang="ko-KR" sz="1200" b="1" dirty="0"/>
              <a:t>;</a:t>
            </a:r>
          </a:p>
          <a:p>
            <a:pPr lvl="2"/>
            <a:r>
              <a:rPr lang="en-US" altLang="ko-KR" sz="1200" b="1" dirty="0"/>
              <a:t>       color: gray;</a:t>
            </a:r>
          </a:p>
          <a:p>
            <a:pPr lvl="2"/>
            <a:r>
              <a:rPr lang="en-US" altLang="ko-KR" sz="1200" b="1" dirty="0"/>
              <a:t> }</a:t>
            </a:r>
          </a:p>
          <a:p>
            <a:pPr lvl="1"/>
            <a:r>
              <a:rPr lang="en-US" altLang="ko-KR" sz="1200" b="1" dirty="0"/>
              <a:t>&lt;/style&gt;</a:t>
            </a:r>
          </a:p>
          <a:p>
            <a:r>
              <a:rPr lang="en-US" altLang="ko-KR" sz="1200" dirty="0"/>
              <a:t> &lt;/head&gt;</a:t>
            </a:r>
          </a:p>
          <a:p>
            <a:r>
              <a:rPr lang="en-US" altLang="ko-KR" sz="1200" dirty="0"/>
              <a:t> &lt;body&gt;</a:t>
            </a:r>
          </a:p>
          <a:p>
            <a:r>
              <a:rPr lang="en-US" altLang="ko-KR" sz="1200" dirty="0"/>
              <a:t> 	&lt;button&gt;</a:t>
            </a:r>
            <a:r>
              <a:rPr lang="ko-KR" altLang="en-US" sz="1200" dirty="0"/>
              <a:t>클릭하기</a:t>
            </a:r>
            <a:r>
              <a:rPr lang="en-US" altLang="ko-KR" sz="1200" dirty="0"/>
              <a:t>&lt;/button&gt;</a:t>
            </a:r>
          </a:p>
          <a:p>
            <a:r>
              <a:rPr lang="en-US" altLang="ko-KR" sz="1200" dirty="0"/>
              <a:t> 	&lt;input type="text" disabled value="</a:t>
            </a:r>
            <a:r>
              <a:rPr lang="ko-KR" altLang="en-US" sz="1200" dirty="0" err="1"/>
              <a:t>잠김상태</a:t>
            </a:r>
            <a:r>
              <a:rPr lang="en-US" altLang="ko-KR" sz="1200" dirty="0"/>
              <a:t>" &gt;</a:t>
            </a:r>
          </a:p>
          <a:p>
            <a:r>
              <a:rPr lang="en-US" altLang="ko-KR" sz="1200" dirty="0"/>
              <a:t> &lt;/body&gt;</a:t>
            </a:r>
          </a:p>
          <a:p>
            <a:r>
              <a:rPr lang="en-US" altLang="ko-KR" sz="1200" dirty="0"/>
              <a:t> &lt;/html&gt;</a:t>
            </a:r>
            <a:endParaRPr lang="ko-KR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">
            <p14:nvContentPartPr>
              <p14:cNvPr id="7" name="잉크 2"/>
              <p14:cNvContentPartPr/>
              <p14:nvPr/>
            </p14:nvContentPartPr>
            <p14:xfrm>
              <a:off x="7147560" y="4381500"/>
              <a:ext cx="1211580" cy="1813560"/>
            </p14:xfrm>
          </p:contentPart>
        </mc:Choice>
        <mc:Fallback>
          <p:pic>
            <p:nvPicPr>
              <p:cNvPr id="7" name="잉크 2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47560" y="4381500"/>
                <a:ext cx="1211580" cy="18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3"/>
              <p14:cNvContentPartPr/>
              <p14:nvPr/>
            </p14:nvContentPartPr>
            <p14:xfrm>
              <a:off x="8229600" y="4914900"/>
              <a:ext cx="243840" cy="152400"/>
            </p14:xfrm>
          </p:contentPart>
        </mc:Choice>
        <mc:Fallback>
          <p:pic>
            <p:nvPicPr>
              <p:cNvPr id="8" name="잉크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29600" y="4914900"/>
                <a:ext cx="243840" cy="15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4"/>
              <p14:cNvContentPartPr/>
              <p14:nvPr/>
            </p14:nvContentPartPr>
            <p14:xfrm>
              <a:off x="8328660" y="4945380"/>
              <a:ext cx="68580" cy="373380"/>
            </p14:xfrm>
          </p:contentPart>
        </mc:Choice>
        <mc:Fallback>
          <p:pic>
            <p:nvPicPr>
              <p:cNvPr id="9" name="잉크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28660" y="4945380"/>
                <a:ext cx="68580" cy="3733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5"/>
              <p14:cNvContentPartPr/>
              <p14:nvPr/>
            </p14:nvContentPartPr>
            <p14:xfrm>
              <a:off x="8458200" y="4968240"/>
              <a:ext cx="259080" cy="403860"/>
            </p14:xfrm>
          </p:contentPart>
        </mc:Choice>
        <mc:Fallback>
          <p:pic>
            <p:nvPicPr>
              <p:cNvPr id="10" name="잉크 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58200" y="4968240"/>
                <a:ext cx="259080" cy="403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잉크 6"/>
              <p14:cNvContentPartPr/>
              <p14:nvPr/>
            </p14:nvContentPartPr>
            <p14:xfrm>
              <a:off x="8823960" y="5067300"/>
              <a:ext cx="0" cy="289560"/>
            </p14:xfrm>
          </p:contentPart>
        </mc:Choice>
        <mc:Fallback>
          <p:pic>
            <p:nvPicPr>
              <p:cNvPr id="11" name="잉크 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23960" y="5067300"/>
                <a:ext cx="0" cy="28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0912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F4098-1C4A-2882-ED62-8A9160964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선택자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1C71E50-0343-63B9-63ED-6665BF519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1268363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태그의 아이디로 접근하여 스타일 적용하기</a:t>
            </a:r>
            <a:endParaRPr lang="en-US" altLang="ko-KR" sz="1800" b="1" dirty="0"/>
          </a:p>
          <a:p>
            <a:pPr lvl="1"/>
            <a:r>
              <a:rPr lang="ko-KR" altLang="en-US" sz="1800" dirty="0"/>
              <a:t>아이디 선택자와 비슷하나</a:t>
            </a:r>
            <a:r>
              <a:rPr lang="en-US" altLang="ko-KR" sz="1800" dirty="0"/>
              <a:t>, </a:t>
            </a:r>
            <a:r>
              <a:rPr lang="ko-KR" altLang="en-US" sz="1800" dirty="0"/>
              <a:t>태그와 아이디를 직접 지정해서 스타일을 적용하는 형태이다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91A3E2-20CF-73BE-29F4-64D6FA72E0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6CE54B-EB24-F0F2-9C9F-CE359B7B9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1B8A6F-7CCC-A88D-6A30-4996B7F4F63A}"/>
              </a:ext>
            </a:extLst>
          </p:cNvPr>
          <p:cNvSpPr txBox="1"/>
          <p:nvPr/>
        </p:nvSpPr>
        <p:spPr>
          <a:xfrm>
            <a:off x="539552" y="2276872"/>
            <a:ext cx="5650201" cy="401648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700" dirty="0"/>
              <a:t> &lt;!DOCTYPE html&gt;</a:t>
            </a:r>
          </a:p>
          <a:p>
            <a:r>
              <a:rPr lang="en-US" altLang="ko-KR" sz="1700" dirty="0"/>
              <a:t> &lt;html&gt;</a:t>
            </a:r>
          </a:p>
          <a:p>
            <a:r>
              <a:rPr lang="en-US" altLang="ko-KR" sz="1700" dirty="0"/>
              <a:t> &lt;head&gt;</a:t>
            </a:r>
          </a:p>
          <a:p>
            <a:r>
              <a:rPr lang="en-US" altLang="ko-KR" sz="1700" dirty="0"/>
              <a:t>       &lt;meta charset="UTF-8"&gt;</a:t>
            </a:r>
          </a:p>
          <a:p>
            <a:r>
              <a:rPr lang="en-US" altLang="ko-KR" sz="1700" dirty="0"/>
              <a:t>       &lt;title&gt;</a:t>
            </a:r>
            <a:r>
              <a:rPr lang="ko-KR" altLang="en-US" sz="1700" dirty="0"/>
              <a:t>태그와 아이디로 함께 접근하기 예제</a:t>
            </a:r>
            <a:r>
              <a:rPr lang="en-US" altLang="ko-KR" sz="1700" dirty="0"/>
              <a:t>&lt;/title&gt;</a:t>
            </a:r>
          </a:p>
          <a:p>
            <a:pPr lvl="1"/>
            <a:r>
              <a:rPr lang="en-US" altLang="ko-KR" sz="1700" dirty="0"/>
              <a:t> &lt;style&gt;</a:t>
            </a:r>
          </a:p>
          <a:p>
            <a:pPr lvl="2"/>
            <a:r>
              <a:rPr lang="en-US" altLang="ko-KR" sz="1700" dirty="0"/>
              <a:t> </a:t>
            </a:r>
            <a:r>
              <a:rPr lang="en-US" altLang="ko-KR" sz="1700" dirty="0" err="1"/>
              <a:t>p#a</a:t>
            </a:r>
            <a:r>
              <a:rPr lang="en-US" altLang="ko-KR" sz="1700" dirty="0"/>
              <a:t> { font-size:15px;}</a:t>
            </a:r>
          </a:p>
          <a:p>
            <a:pPr lvl="2"/>
            <a:r>
              <a:rPr lang="en-US" altLang="ko-KR" sz="1700" dirty="0"/>
              <a:t> </a:t>
            </a:r>
            <a:r>
              <a:rPr lang="en-US" altLang="ko-KR" sz="1700" dirty="0" err="1"/>
              <a:t>p#b</a:t>
            </a:r>
            <a:r>
              <a:rPr lang="en-US" altLang="ko-KR" sz="1700" dirty="0"/>
              <a:t> { font-size:30px;}</a:t>
            </a:r>
          </a:p>
          <a:p>
            <a:pPr lvl="1"/>
            <a:r>
              <a:rPr lang="en-US" altLang="ko-KR" sz="1700" dirty="0"/>
              <a:t> &lt;/style&gt;</a:t>
            </a:r>
          </a:p>
          <a:p>
            <a:r>
              <a:rPr lang="en-US" altLang="ko-KR" sz="1700" dirty="0"/>
              <a:t> &lt;/head&gt;</a:t>
            </a:r>
          </a:p>
          <a:p>
            <a:r>
              <a:rPr lang="en-US" altLang="ko-KR" sz="1700" dirty="0"/>
              <a:t> &lt;body&gt;</a:t>
            </a:r>
          </a:p>
          <a:p>
            <a:pPr lvl="1"/>
            <a:r>
              <a:rPr lang="en-US" altLang="ko-KR" sz="1700" dirty="0"/>
              <a:t> &lt;p id ="a"&gt;Hello World!&lt;/p&gt;</a:t>
            </a:r>
          </a:p>
          <a:p>
            <a:pPr lvl="1"/>
            <a:r>
              <a:rPr lang="en-US" altLang="ko-KR" sz="1700" dirty="0"/>
              <a:t> &lt;p id ="b"&gt;Hello World!&lt;/p&gt;</a:t>
            </a:r>
          </a:p>
          <a:p>
            <a:r>
              <a:rPr lang="en-US" altLang="ko-KR" sz="1700" dirty="0"/>
              <a:t> &lt;/body&gt;</a:t>
            </a:r>
          </a:p>
          <a:p>
            <a:r>
              <a:rPr lang="en-US" altLang="ko-KR" sz="1700" dirty="0"/>
              <a:t> &lt;/html&gt;</a:t>
            </a:r>
            <a:endParaRPr lang="ko-KR" altLang="en-US" sz="17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A3105B9-7140-4D0E-ACE9-2E0303A40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797152"/>
            <a:ext cx="2303140" cy="116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87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5CB25-6EB8-37B7-35B4-0A9BB469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선택자</a:t>
            </a:r>
            <a:r>
              <a:rPr lang="en-US" altLang="ko-KR" dirty="0"/>
              <a:t>(11)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0C555A-C832-2752-A34F-729880ED8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/>
              <a:t>텍스트 색상 지정 및 정렬</a:t>
            </a:r>
            <a:endParaRPr lang="en-US" altLang="ko-KR" sz="1600" b="1" dirty="0"/>
          </a:p>
          <a:p>
            <a:pPr lvl="1"/>
            <a:r>
              <a:rPr lang="ko-KR" altLang="en-US" sz="1600" dirty="0"/>
              <a:t>앞서 텍스트 색상과 정렬을 아이디 선택자로 다뤄보았다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이번에는 태그 선택 자를 사용하여 텍스트를 정렬하는 방법을 알아본다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0B816-C10E-3112-1DA1-D5B276C83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8FF6B8-387B-B084-0E73-A028FD8B7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3A4FDE-29BC-C9D4-8437-93E067E375D6}"/>
              </a:ext>
            </a:extLst>
          </p:cNvPr>
          <p:cNvSpPr txBox="1"/>
          <p:nvPr/>
        </p:nvSpPr>
        <p:spPr>
          <a:xfrm>
            <a:off x="1259632" y="2276872"/>
            <a:ext cx="4282274" cy="332398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 &lt;!DOCTYPE html&gt;</a:t>
            </a:r>
          </a:p>
          <a:p>
            <a:r>
              <a:rPr lang="en-US" altLang="ko-KR" sz="1400" dirty="0"/>
              <a:t> &lt;html&gt;</a:t>
            </a:r>
          </a:p>
          <a:p>
            <a:r>
              <a:rPr lang="en-US" altLang="ko-KR" sz="1400" dirty="0"/>
              <a:t> &lt;head&gt;</a:t>
            </a:r>
          </a:p>
          <a:p>
            <a:pPr lvl="1"/>
            <a:r>
              <a:rPr lang="en-US" altLang="ko-KR" sz="1400" dirty="0"/>
              <a:t> &lt;title&gt;</a:t>
            </a:r>
            <a:r>
              <a:rPr lang="ko-KR" altLang="en-US" sz="1400" dirty="0"/>
              <a:t>텍스트 색상 및 정렬 예제</a:t>
            </a:r>
            <a:r>
              <a:rPr lang="en-US" altLang="ko-KR" sz="1400" dirty="0"/>
              <a:t>&lt;/title&gt;</a:t>
            </a:r>
          </a:p>
          <a:p>
            <a:pPr lvl="1"/>
            <a:r>
              <a:rPr lang="en-US" altLang="ko-KR" sz="1400" dirty="0"/>
              <a:t> &lt;style&gt;</a:t>
            </a:r>
          </a:p>
          <a:p>
            <a:pPr lvl="1"/>
            <a:r>
              <a:rPr lang="en-US" altLang="ko-KR" sz="1400" dirty="0"/>
              <a:t> 	h1 {</a:t>
            </a:r>
          </a:p>
          <a:p>
            <a:pPr lvl="1"/>
            <a:r>
              <a:rPr lang="en-US" altLang="ko-KR" sz="1400" dirty="0"/>
              <a:t> 		color: green; </a:t>
            </a:r>
          </a:p>
          <a:p>
            <a:pPr lvl="1"/>
            <a:r>
              <a:rPr lang="en-US" altLang="ko-KR" sz="1400" dirty="0"/>
              <a:t>		text-align : center; </a:t>
            </a:r>
          </a:p>
          <a:p>
            <a:pPr lvl="1"/>
            <a:r>
              <a:rPr lang="en-US" altLang="ko-KR" sz="1400" dirty="0"/>
              <a:t>	}</a:t>
            </a:r>
          </a:p>
          <a:p>
            <a:pPr lvl="1"/>
            <a:r>
              <a:rPr lang="en-US" altLang="ko-KR" sz="1400" dirty="0"/>
              <a:t> &lt;/style&gt;</a:t>
            </a:r>
          </a:p>
          <a:p>
            <a:r>
              <a:rPr lang="en-US" altLang="ko-KR" sz="1400" dirty="0"/>
              <a:t> &lt;/head&gt;</a:t>
            </a:r>
          </a:p>
          <a:p>
            <a:r>
              <a:rPr lang="en-US" altLang="ko-KR" sz="1400" dirty="0"/>
              <a:t> &lt;body&gt;</a:t>
            </a:r>
          </a:p>
          <a:p>
            <a:r>
              <a:rPr lang="en-US" altLang="ko-KR" sz="1400" dirty="0"/>
              <a:t> 	&lt;h1&gt;Hello World!&lt;/h1&gt;</a:t>
            </a:r>
          </a:p>
          <a:p>
            <a:r>
              <a:rPr lang="en-US" altLang="ko-KR" sz="1400" dirty="0"/>
              <a:t> &lt;/body&gt;</a:t>
            </a:r>
          </a:p>
          <a:p>
            <a:r>
              <a:rPr lang="en-US" altLang="ko-KR" sz="1400" dirty="0"/>
              <a:t> &lt;/html&gt;</a:t>
            </a:r>
            <a:endParaRPr lang="ko-KR" alt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00057F5-B22F-6631-CD94-B277B2559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5875100"/>
            <a:ext cx="4138613" cy="233363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91509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29993-E7CB-4DD0-7AAB-EF511D6E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선택자</a:t>
            </a:r>
            <a:r>
              <a:rPr lang="en-US" altLang="ko-KR" dirty="0"/>
              <a:t>(12)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CCBB46-6DED-2C31-1E85-24C9E9F83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592" y="1140619"/>
            <a:ext cx="8699500" cy="5019675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텍스트의 그림자 지정</a:t>
            </a:r>
            <a:endParaRPr lang="en-US" altLang="ko-KR" sz="1800" dirty="0"/>
          </a:p>
          <a:p>
            <a:pPr lvl="1"/>
            <a:r>
              <a:rPr lang="en-US" altLang="ko-KR" sz="1800" dirty="0">
                <a:solidFill>
                  <a:srgbClr val="FF0000"/>
                </a:solidFill>
              </a:rPr>
              <a:t>text-shadow: 10px </a:t>
            </a:r>
            <a:r>
              <a:rPr lang="en-US" altLang="ko-KR" sz="1800" dirty="0" err="1">
                <a:solidFill>
                  <a:srgbClr val="FF0000"/>
                </a:solidFill>
              </a:rPr>
              <a:t>10px</a:t>
            </a:r>
            <a:r>
              <a:rPr lang="en-US" altLang="ko-KR" sz="1800" dirty="0">
                <a:solidFill>
                  <a:srgbClr val="FF0000"/>
                </a:solidFill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</a:rPr>
              <a:t>10px</a:t>
            </a:r>
            <a:r>
              <a:rPr lang="en-US" altLang="ko-KR" sz="1800" dirty="0">
                <a:solidFill>
                  <a:srgbClr val="FF0000"/>
                </a:solidFill>
              </a:rPr>
              <a:t> #FF0000; </a:t>
            </a:r>
            <a:endParaRPr lang="en-US" altLang="ko-KR" sz="1800" dirty="0"/>
          </a:p>
          <a:p>
            <a:r>
              <a:rPr lang="ko-KR" altLang="en-US" sz="1800" dirty="0"/>
              <a:t>값은 순서대로 가로 </a:t>
            </a:r>
            <a:r>
              <a:rPr lang="en-US" altLang="ko-KR" sz="1800" dirty="0"/>
              <a:t>(x</a:t>
            </a:r>
            <a:r>
              <a:rPr lang="ko-KR" altLang="en-US" sz="1800" dirty="0"/>
              <a:t>축</a:t>
            </a:r>
            <a:r>
              <a:rPr lang="en-US" altLang="ko-KR" sz="1800" dirty="0"/>
              <a:t>), </a:t>
            </a:r>
            <a:r>
              <a:rPr lang="ko-KR" altLang="en-US" sz="1800" dirty="0"/>
              <a:t>세로</a:t>
            </a:r>
            <a:r>
              <a:rPr lang="en-US" altLang="ko-KR" sz="1800" dirty="0"/>
              <a:t>(y</a:t>
            </a:r>
            <a:r>
              <a:rPr lang="ko-KR" altLang="en-US" sz="1800" dirty="0"/>
              <a:t>축</a:t>
            </a:r>
            <a:r>
              <a:rPr lang="en-US" altLang="ko-KR" sz="1800" dirty="0"/>
              <a:t>), </a:t>
            </a:r>
            <a:r>
              <a:rPr lang="ko-KR" altLang="en-US" sz="1800" dirty="0"/>
              <a:t>흐림</a:t>
            </a:r>
            <a:r>
              <a:rPr lang="en-US" altLang="ko-KR" sz="1800" dirty="0"/>
              <a:t>(blur)</a:t>
            </a:r>
            <a:r>
              <a:rPr lang="ko-KR" altLang="en-US" sz="1800" dirty="0"/>
              <a:t>효과</a:t>
            </a:r>
            <a:r>
              <a:rPr lang="en-US" altLang="ko-KR" sz="1800" dirty="0"/>
              <a:t>, </a:t>
            </a:r>
            <a:r>
              <a:rPr lang="ko-KR" altLang="en-US" sz="1800" dirty="0"/>
              <a:t>그림자 색상을 나타낸다</a:t>
            </a:r>
            <a:r>
              <a:rPr lang="en-US" altLang="ko-KR" sz="180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E8BADB-5E1C-6276-9971-5B220259F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F8CDB-A7FF-75A7-C027-CAFFAD76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EE2E6-3A5E-2F42-3D9D-AE933D87C7E3}"/>
              </a:ext>
            </a:extLst>
          </p:cNvPr>
          <p:cNvSpPr txBox="1"/>
          <p:nvPr/>
        </p:nvSpPr>
        <p:spPr>
          <a:xfrm>
            <a:off x="683568" y="2276872"/>
            <a:ext cx="5904656" cy="403187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/>
              <a:t> &lt;!DOCTYPE </a:t>
            </a:r>
            <a:r>
              <a:rPr lang="ko-KR" altLang="en-US" sz="1600" dirty="0" err="1"/>
              <a:t>html</a:t>
            </a:r>
            <a:r>
              <a:rPr lang="ko-KR" altLang="en-US" sz="1600" dirty="0"/>
              <a:t>&gt;</a:t>
            </a:r>
          </a:p>
          <a:p>
            <a:r>
              <a:rPr lang="ko-KR" altLang="en-US" sz="1600" dirty="0"/>
              <a:t> &lt;</a:t>
            </a:r>
            <a:r>
              <a:rPr lang="ko-KR" altLang="en-US" sz="1600" dirty="0" err="1"/>
              <a:t>html</a:t>
            </a:r>
            <a:r>
              <a:rPr lang="ko-KR" altLang="en-US" sz="1600" dirty="0"/>
              <a:t>&gt;</a:t>
            </a:r>
          </a:p>
          <a:p>
            <a:r>
              <a:rPr lang="ko-KR" altLang="en-US" sz="1600" dirty="0"/>
              <a:t> &lt;</a:t>
            </a:r>
            <a:r>
              <a:rPr lang="ko-KR" altLang="en-US" sz="1600" dirty="0" err="1"/>
              <a:t>head</a:t>
            </a:r>
            <a:r>
              <a:rPr lang="ko-KR" altLang="en-US" sz="1600" dirty="0"/>
              <a:t>&gt;</a:t>
            </a:r>
          </a:p>
          <a:p>
            <a:pPr lvl="1"/>
            <a:r>
              <a:rPr lang="ko-KR" altLang="en-US" sz="1600" dirty="0"/>
              <a:t> &lt;</a:t>
            </a:r>
            <a:r>
              <a:rPr lang="ko-KR" altLang="en-US" sz="1600" dirty="0" err="1"/>
              <a:t>title</a:t>
            </a:r>
            <a:r>
              <a:rPr lang="ko-KR" altLang="en-US" sz="1600" dirty="0"/>
              <a:t>&gt;텍스트의 그림자 효과 예제&lt;/</a:t>
            </a:r>
            <a:r>
              <a:rPr lang="ko-KR" altLang="en-US" sz="1600" dirty="0" err="1"/>
              <a:t>title</a:t>
            </a:r>
            <a:r>
              <a:rPr lang="ko-KR" altLang="en-US" sz="1600" dirty="0"/>
              <a:t>&gt;</a:t>
            </a:r>
          </a:p>
          <a:p>
            <a:pPr lvl="1"/>
            <a:r>
              <a:rPr lang="ko-KR" altLang="en-US" sz="1600" dirty="0"/>
              <a:t> &lt;style&gt;</a:t>
            </a:r>
          </a:p>
          <a:p>
            <a:pPr lvl="2"/>
            <a:r>
              <a:rPr lang="ko-KR" altLang="en-US" sz="1600" dirty="0"/>
              <a:t> h1 {</a:t>
            </a:r>
          </a:p>
          <a:p>
            <a:pPr lvl="2"/>
            <a:r>
              <a:rPr lang="ko-KR" altLang="en-US" sz="1600" dirty="0"/>
              <a:t> </a:t>
            </a:r>
            <a:r>
              <a:rPr lang="en-US" altLang="ko-KR" sz="1600" dirty="0"/>
              <a:t>	</a:t>
            </a:r>
            <a:r>
              <a:rPr lang="ko-KR" altLang="en-US" sz="1600" dirty="0"/>
              <a:t>color: green;</a:t>
            </a:r>
          </a:p>
          <a:p>
            <a:pPr lvl="2"/>
            <a:r>
              <a:rPr lang="ko-KR" altLang="en-US" sz="1600" dirty="0"/>
              <a:t> </a:t>
            </a:r>
            <a:r>
              <a:rPr lang="en-US" altLang="ko-KR" sz="1600" dirty="0"/>
              <a:t>	</a:t>
            </a:r>
            <a:r>
              <a:rPr lang="ko-KR" altLang="en-US" sz="1600" dirty="0"/>
              <a:t>text-align : center;</a:t>
            </a:r>
          </a:p>
          <a:p>
            <a:pPr lvl="2"/>
            <a:r>
              <a:rPr lang="ko-KR" altLang="en-US" sz="1600" dirty="0"/>
              <a:t> </a:t>
            </a:r>
            <a:r>
              <a:rPr lang="en-US" altLang="ko-KR" sz="1600" dirty="0"/>
              <a:t>	</a:t>
            </a:r>
            <a:r>
              <a:rPr lang="ko-KR" altLang="en-US" sz="1600" dirty="0" err="1"/>
              <a:t>text-shadow</a:t>
            </a:r>
            <a:r>
              <a:rPr lang="ko-KR" altLang="en-US" sz="1600" dirty="0"/>
              <a:t>: 10px 10px 10px #FF0000;</a:t>
            </a:r>
          </a:p>
          <a:p>
            <a:pPr lvl="2"/>
            <a:r>
              <a:rPr lang="ko-KR" altLang="en-US" sz="1600" dirty="0"/>
              <a:t> }</a:t>
            </a:r>
          </a:p>
          <a:p>
            <a:pPr lvl="1"/>
            <a:r>
              <a:rPr lang="ko-KR" altLang="en-US" sz="1600" dirty="0"/>
              <a:t> &lt;/style&gt;</a:t>
            </a:r>
          </a:p>
          <a:p>
            <a:r>
              <a:rPr lang="ko-KR" altLang="en-US" sz="1600" dirty="0"/>
              <a:t> &lt;/</a:t>
            </a:r>
            <a:r>
              <a:rPr lang="ko-KR" altLang="en-US" sz="1600" dirty="0" err="1"/>
              <a:t>head</a:t>
            </a:r>
            <a:r>
              <a:rPr lang="ko-KR" altLang="en-US" sz="1600" dirty="0"/>
              <a:t>&gt;</a:t>
            </a:r>
          </a:p>
          <a:p>
            <a:r>
              <a:rPr lang="ko-KR" altLang="en-US" sz="1600" dirty="0"/>
              <a:t> &lt;body&gt;</a:t>
            </a:r>
          </a:p>
          <a:p>
            <a:r>
              <a:rPr lang="ko-KR" altLang="en-US" sz="1600" dirty="0"/>
              <a:t> </a:t>
            </a:r>
            <a:r>
              <a:rPr lang="en-US" altLang="ko-KR" sz="1600" dirty="0"/>
              <a:t>	</a:t>
            </a:r>
            <a:r>
              <a:rPr lang="ko-KR" altLang="en-US" sz="1600" dirty="0"/>
              <a:t>&lt;h1&gt;</a:t>
            </a:r>
            <a:r>
              <a:rPr lang="ko-KR" altLang="en-US" sz="1600" dirty="0" err="1"/>
              <a:t>Hello</a:t>
            </a:r>
            <a:r>
              <a:rPr lang="ko-KR" altLang="en-US" sz="1600" dirty="0"/>
              <a:t> World!&lt;/h1&gt;</a:t>
            </a:r>
          </a:p>
          <a:p>
            <a:r>
              <a:rPr lang="ko-KR" altLang="en-US" sz="1600" dirty="0"/>
              <a:t> &lt;/body&gt;</a:t>
            </a:r>
          </a:p>
          <a:p>
            <a:r>
              <a:rPr lang="ko-KR" altLang="en-US" sz="1600" dirty="0"/>
              <a:t> &lt;/</a:t>
            </a:r>
            <a:r>
              <a:rPr lang="ko-KR" altLang="en-US" sz="1600" dirty="0" err="1"/>
              <a:t>html</a:t>
            </a:r>
            <a:r>
              <a:rPr lang="ko-KR" altLang="en-US" sz="1600" dirty="0"/>
              <a:t>&gt;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103D911-11E8-C58E-2C3C-12BA7BEAB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641" y="5857264"/>
            <a:ext cx="2103168" cy="30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48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664F8-C105-A035-91CC-DCBD01A9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90F6AE-DF36-1AB5-8D81-55658A19C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52525"/>
            <a:ext cx="8892480" cy="501967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b="1" dirty="0"/>
              <a:t>박스 모델</a:t>
            </a:r>
          </a:p>
          <a:p>
            <a:pPr lvl="1"/>
            <a:r>
              <a:rPr lang="ko-KR" altLang="en-US" dirty="0"/>
              <a:t>웹 페이지의 모든 요소를 상자로 간주하여 레이아웃을 설계하는 </a:t>
            </a:r>
            <a:r>
              <a:rPr lang="en-US" altLang="ko-KR" dirty="0"/>
              <a:t>CSS</a:t>
            </a:r>
            <a:r>
              <a:rPr lang="ko-KR" altLang="en-US" dirty="0"/>
              <a:t>의 핵심 개념이다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박스 모델을 통해 각 요소의 크기</a:t>
            </a:r>
            <a:r>
              <a:rPr lang="en-US" altLang="ko-KR" dirty="0"/>
              <a:t>, </a:t>
            </a:r>
            <a:r>
              <a:rPr lang="ko-KR" altLang="en-US" dirty="0"/>
              <a:t>여백</a:t>
            </a:r>
            <a:r>
              <a:rPr lang="en-US" altLang="ko-KR" dirty="0"/>
              <a:t>, </a:t>
            </a:r>
            <a:r>
              <a:rPr lang="ko-KR" altLang="en-US" dirty="0"/>
              <a:t>위치를 정확하게 제어할 수 있다</a:t>
            </a:r>
            <a:r>
              <a:rPr lang="en-US" altLang="ko-KR" dirty="0"/>
              <a:t>. </a:t>
            </a:r>
          </a:p>
          <a:p>
            <a:r>
              <a:rPr lang="ko-KR" altLang="en-US" b="1" dirty="0"/>
              <a:t>박스 모델은 네 부분으로 구성된다</a:t>
            </a:r>
            <a:r>
              <a:rPr lang="en-US" altLang="ko-KR" b="1" dirty="0"/>
              <a:t>. </a:t>
            </a:r>
          </a:p>
          <a:p>
            <a:pPr lvl="1"/>
            <a:r>
              <a:rPr lang="ko-KR" altLang="en-US" dirty="0"/>
              <a:t>컨텐츠</a:t>
            </a:r>
            <a:r>
              <a:rPr lang="en-US" altLang="ko-KR" dirty="0"/>
              <a:t>(Contents) </a:t>
            </a:r>
          </a:p>
          <a:p>
            <a:pPr lvl="2"/>
            <a:r>
              <a:rPr lang="ko-KR" altLang="en-US" dirty="0"/>
              <a:t>박스의 실제 내용이 들어가는 영역이다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패딩</a:t>
            </a:r>
            <a:r>
              <a:rPr lang="en-US" altLang="ko-KR" dirty="0"/>
              <a:t>(Padding) </a:t>
            </a:r>
          </a:p>
          <a:p>
            <a:pPr lvl="2"/>
            <a:r>
              <a:rPr lang="ko-KR" altLang="en-US" dirty="0"/>
              <a:t>내용과 테두리 사이의 여백을 나타낸다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테두리</a:t>
            </a:r>
            <a:r>
              <a:rPr lang="en-US" altLang="ko-KR" dirty="0"/>
              <a:t>(Border) </a:t>
            </a:r>
          </a:p>
          <a:p>
            <a:pPr lvl="2"/>
            <a:r>
              <a:rPr lang="ko-KR" altLang="en-US" dirty="0"/>
              <a:t>컨텐츠와 패딩을 둘러싸는 경계선이다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마진</a:t>
            </a:r>
            <a:r>
              <a:rPr lang="en-US" altLang="ko-KR" dirty="0"/>
              <a:t>(Margin) </a:t>
            </a:r>
          </a:p>
          <a:p>
            <a:pPr lvl="2"/>
            <a:r>
              <a:rPr lang="ko-KR" altLang="en-US" dirty="0"/>
              <a:t>요소와 다른 요소들 사이의 바깥쪽 여백이다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17F23-0050-FC57-6763-CB543E430B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19D584-51A2-915F-D555-DD1662E54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8501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DED30-DC05-6200-CB82-ACC4EC62E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BAFB47-1AD1-5620-881E-96F077B8B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303964" cy="1040229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b="1" dirty="0"/>
              <a:t>박스 모델 예제 </a:t>
            </a:r>
          </a:p>
          <a:p>
            <a:pPr lvl="1"/>
            <a:r>
              <a:rPr lang="en-US" altLang="ko-KR" dirty="0"/>
              <a:t>border, padding, margin, width, height </a:t>
            </a:r>
            <a:r>
              <a:rPr lang="ko-KR" altLang="en-US" dirty="0"/>
              <a:t>등의 사용하여 박스 모델을 구현한 예시이다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14166C-85AF-3FB1-F545-26061626A7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8DFA91-AF0C-2A77-0C5E-21BE610AC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92138-4EE5-5660-9D5E-2119E1F36A21}"/>
              </a:ext>
            </a:extLst>
          </p:cNvPr>
          <p:cNvSpPr txBox="1"/>
          <p:nvPr/>
        </p:nvSpPr>
        <p:spPr>
          <a:xfrm>
            <a:off x="569020" y="2189641"/>
            <a:ext cx="7099324" cy="364715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&lt;!DOCTYPE html&gt;</a:t>
            </a:r>
          </a:p>
          <a:p>
            <a:r>
              <a:rPr lang="en-US" altLang="ko-KR" sz="1100" dirty="0"/>
              <a:t>&lt;html&gt;</a:t>
            </a:r>
          </a:p>
          <a:p>
            <a:r>
              <a:rPr lang="en-US" altLang="ko-KR" sz="1100" dirty="0"/>
              <a:t>&lt;head&gt;</a:t>
            </a:r>
          </a:p>
          <a:p>
            <a:r>
              <a:rPr lang="en-US" altLang="ko-KR" sz="1100" dirty="0"/>
              <a:t>	&lt;title&gt;CSS Box Model </a:t>
            </a:r>
            <a:r>
              <a:rPr lang="ko-KR" altLang="en-US" sz="1100" dirty="0"/>
              <a:t>예제</a:t>
            </a:r>
            <a:r>
              <a:rPr lang="en-US" altLang="ko-KR" sz="1100" dirty="0"/>
              <a:t>&lt;/title&gt;</a:t>
            </a:r>
          </a:p>
          <a:p>
            <a:r>
              <a:rPr lang="en-US" altLang="ko-KR" sz="1100" dirty="0"/>
              <a:t>	&lt;style&gt;</a:t>
            </a:r>
          </a:p>
          <a:p>
            <a:pPr lvl="1"/>
            <a:r>
              <a:rPr lang="en-US" altLang="ko-KR" sz="1100" dirty="0"/>
              <a:t>		</a:t>
            </a:r>
            <a:r>
              <a:rPr lang="en-US" altLang="ko-KR" sz="1100" b="1" dirty="0"/>
              <a:t>.box {</a:t>
            </a:r>
          </a:p>
          <a:p>
            <a:pPr lvl="1"/>
            <a:r>
              <a:rPr lang="en-US" altLang="ko-KR" sz="1100" b="1" dirty="0"/>
              <a:t>		     background-color: lightblue;  /* </a:t>
            </a:r>
            <a:r>
              <a:rPr lang="ko-KR" altLang="en-US" sz="1100" b="1" dirty="0"/>
              <a:t>배경색 *</a:t>
            </a:r>
            <a:r>
              <a:rPr lang="en-US" altLang="ko-KR" sz="1100" b="1" dirty="0"/>
              <a:t>/</a:t>
            </a:r>
          </a:p>
          <a:p>
            <a:pPr lvl="1"/>
            <a:r>
              <a:rPr lang="en-US" altLang="ko-KR" sz="1100" b="1" dirty="0"/>
              <a:t>		     border: 3px solid navy;         /* </a:t>
            </a:r>
            <a:r>
              <a:rPr lang="ko-KR" altLang="en-US" sz="1100" b="1" dirty="0"/>
              <a:t>테두리</a:t>
            </a:r>
            <a:r>
              <a:rPr lang="en-US" altLang="ko-KR" sz="1100" b="1" dirty="0"/>
              <a:t>: </a:t>
            </a:r>
            <a:r>
              <a:rPr lang="ko-KR" altLang="en-US" sz="1100" b="1" dirty="0"/>
              <a:t>너비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스타일</a:t>
            </a:r>
            <a:r>
              <a:rPr lang="en-US" altLang="ko-KR" sz="1100" b="1" dirty="0"/>
              <a:t>, </a:t>
            </a:r>
            <a:r>
              <a:rPr lang="ko-KR" altLang="en-US" sz="1100" b="1" dirty="0"/>
              <a:t>색상 *</a:t>
            </a:r>
            <a:r>
              <a:rPr lang="en-US" altLang="ko-KR" sz="1100" b="1" dirty="0"/>
              <a:t>/</a:t>
            </a:r>
          </a:p>
          <a:p>
            <a:pPr lvl="1"/>
            <a:r>
              <a:rPr lang="en-US" altLang="ko-KR" sz="1100" b="1" dirty="0"/>
              <a:t>		     padding: 20px;                    /* </a:t>
            </a:r>
            <a:r>
              <a:rPr lang="ko-KR" altLang="en-US" sz="1100" b="1" dirty="0"/>
              <a:t>패딩 *</a:t>
            </a:r>
            <a:r>
              <a:rPr lang="en-US" altLang="ko-KR" sz="1100" b="1" dirty="0"/>
              <a:t>/</a:t>
            </a:r>
          </a:p>
          <a:p>
            <a:pPr lvl="1"/>
            <a:r>
              <a:rPr lang="en-US" altLang="ko-KR" sz="1100" b="1" dirty="0"/>
              <a:t>		     margin: 30px;                     /* </a:t>
            </a:r>
            <a:r>
              <a:rPr lang="ko-KR" altLang="en-US" sz="1100" b="1" dirty="0"/>
              <a:t>여백 *</a:t>
            </a:r>
            <a:r>
              <a:rPr lang="en-US" altLang="ko-KR" sz="1100" b="1" dirty="0"/>
              <a:t>/</a:t>
            </a:r>
          </a:p>
          <a:p>
            <a:pPr lvl="1"/>
            <a:r>
              <a:rPr lang="en-US" altLang="ko-KR" sz="1100" b="1" dirty="0"/>
              <a:t>		     width: 200px;                     /* </a:t>
            </a:r>
            <a:r>
              <a:rPr lang="ko-KR" altLang="en-US" sz="1100" b="1" dirty="0"/>
              <a:t>너비 *</a:t>
            </a:r>
            <a:r>
              <a:rPr lang="en-US" altLang="ko-KR" sz="1100" b="1" dirty="0"/>
              <a:t>/</a:t>
            </a:r>
          </a:p>
          <a:p>
            <a:pPr lvl="1"/>
            <a:r>
              <a:rPr lang="en-US" altLang="ko-KR" sz="1100" b="1" dirty="0"/>
              <a:t>		     height: 100px;                    /* </a:t>
            </a:r>
            <a:r>
              <a:rPr lang="ko-KR" altLang="en-US" sz="1100" b="1" dirty="0"/>
              <a:t>높이 *</a:t>
            </a:r>
            <a:r>
              <a:rPr lang="en-US" altLang="ko-KR" sz="1100" b="1" dirty="0"/>
              <a:t>/</a:t>
            </a:r>
          </a:p>
          <a:p>
            <a:pPr lvl="1"/>
            <a:r>
              <a:rPr lang="en-US" altLang="ko-KR" sz="1100" b="1" dirty="0"/>
              <a:t>		     text-align: center;               /* </a:t>
            </a:r>
            <a:r>
              <a:rPr lang="ko-KR" altLang="en-US" sz="1100" b="1" dirty="0"/>
              <a:t>텍스트 가운데 정렬 *</a:t>
            </a:r>
            <a:r>
              <a:rPr lang="en-US" altLang="ko-KR" sz="1100" b="1" dirty="0"/>
              <a:t>/</a:t>
            </a:r>
          </a:p>
          <a:p>
            <a:pPr lvl="1"/>
            <a:r>
              <a:rPr lang="en-US" altLang="ko-KR" sz="1100" b="1" dirty="0"/>
              <a:t>		     line-height: 100px;             /* </a:t>
            </a:r>
            <a:r>
              <a:rPr lang="ko-KR" altLang="en-US" sz="1100" b="1" dirty="0"/>
              <a:t>라인 높이를 요소의 높이와 동일하게 설정 *</a:t>
            </a:r>
            <a:r>
              <a:rPr lang="en-US" altLang="ko-KR" sz="1100" b="1" dirty="0"/>
              <a:t>/</a:t>
            </a:r>
          </a:p>
          <a:p>
            <a:r>
              <a:rPr lang="en-US" altLang="ko-KR" sz="1100" b="1" dirty="0"/>
              <a:t>		}</a:t>
            </a:r>
          </a:p>
          <a:p>
            <a:r>
              <a:rPr lang="en-US" altLang="ko-KR" sz="1100" dirty="0"/>
              <a:t>	 &lt;/style&gt;</a:t>
            </a:r>
          </a:p>
          <a:p>
            <a:r>
              <a:rPr lang="en-US" altLang="ko-KR" sz="1100" dirty="0"/>
              <a:t>&lt;/head&gt;</a:t>
            </a:r>
          </a:p>
          <a:p>
            <a:r>
              <a:rPr lang="en-US" altLang="ko-KR" sz="1100" dirty="0"/>
              <a:t>&lt;body&gt;</a:t>
            </a:r>
          </a:p>
          <a:p>
            <a:r>
              <a:rPr lang="en-US" altLang="ko-KR" sz="1100" dirty="0"/>
              <a:t>	&lt;div class="box"&gt;Box Model&lt;/div&gt;</a:t>
            </a:r>
          </a:p>
          <a:p>
            <a:r>
              <a:rPr lang="en-US" altLang="ko-KR" sz="1100" dirty="0"/>
              <a:t>&lt;/body&gt;</a:t>
            </a:r>
          </a:p>
          <a:p>
            <a:r>
              <a:rPr lang="en-US" altLang="ko-KR" sz="1100" dirty="0"/>
              <a:t>&lt;/html&gt;</a:t>
            </a:r>
            <a:endParaRPr lang="ko-KR" altLang="en-US" sz="11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0B97592-0D8C-F637-1003-A06DAE65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754" y="4869160"/>
            <a:ext cx="2173180" cy="144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94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D6B12-715A-420E-2189-35EAAB420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519312-A58C-E4D5-1961-060B2AADE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375972" cy="1700411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b="1" dirty="0"/>
              <a:t>경계선</a:t>
            </a:r>
            <a:r>
              <a:rPr lang="en-US" altLang="ko-KR" b="1" dirty="0"/>
              <a:t>(border)</a:t>
            </a:r>
          </a:p>
          <a:p>
            <a:pPr lvl="1"/>
            <a:r>
              <a:rPr lang="ko-KR" altLang="en-US" dirty="0"/>
              <a:t>경계선의 종류로는 </a:t>
            </a:r>
            <a:r>
              <a:rPr lang="en-US" altLang="ko-KR" dirty="0"/>
              <a:t>none, dotted, dashed, solid, double, groove, ridge, inset, outset </a:t>
            </a:r>
            <a:r>
              <a:rPr lang="ko-KR" altLang="en-US" dirty="0"/>
              <a:t>등이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경계선의 폭과 색상 예제</a:t>
            </a:r>
          </a:p>
          <a:p>
            <a:pPr lvl="2"/>
            <a:r>
              <a:rPr lang="ko-KR" altLang="en-US" dirty="0"/>
              <a:t>경계선의 폭은 </a:t>
            </a:r>
            <a:r>
              <a:rPr lang="en-US" altLang="ko-KR" dirty="0">
                <a:solidFill>
                  <a:srgbClr val="FF0000"/>
                </a:solidFill>
              </a:rPr>
              <a:t>thin, medium, thick </a:t>
            </a:r>
            <a:r>
              <a:rPr lang="ko-KR" altLang="en-US" dirty="0"/>
              <a:t>중 하나로 설정하거나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FF0000"/>
                </a:solidFill>
              </a:rPr>
              <a:t>1px</a:t>
            </a:r>
            <a:r>
              <a:rPr lang="en-US" altLang="ko-KR" dirty="0"/>
              <a:t> </a:t>
            </a:r>
            <a:r>
              <a:rPr lang="ko-KR" altLang="en-US" dirty="0"/>
              <a:t>와 같이 픽셀 단위로 지정할 수 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아래 코드는 폭을 </a:t>
            </a:r>
            <a:r>
              <a:rPr lang="en-US" altLang="ko-KR" dirty="0">
                <a:solidFill>
                  <a:srgbClr val="FF0000"/>
                </a:solidFill>
              </a:rPr>
              <a:t>thick</a:t>
            </a:r>
            <a:r>
              <a:rPr lang="ko-KR" altLang="en-US" dirty="0"/>
              <a:t>으로 설정한 예시이다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4EE556-C29A-E3E2-AC1A-85C486A3C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216F9-A158-A8BD-C02B-A28F4F32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063B2C-642A-A77C-AEFD-755536DFFF04}"/>
              </a:ext>
            </a:extLst>
          </p:cNvPr>
          <p:cNvSpPr txBox="1"/>
          <p:nvPr/>
        </p:nvSpPr>
        <p:spPr>
          <a:xfrm>
            <a:off x="430756" y="2769890"/>
            <a:ext cx="7597628" cy="304698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&lt;!DOCUTYPE </a:t>
            </a:r>
            <a:r>
              <a:rPr lang="ko-KR" altLang="en-US" sz="1200" dirty="0" err="1"/>
              <a:t>html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&lt;</a:t>
            </a:r>
            <a:r>
              <a:rPr lang="ko-KR" altLang="en-US" sz="1200" dirty="0" err="1"/>
              <a:t>html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&lt;</a:t>
            </a:r>
            <a:r>
              <a:rPr lang="ko-KR" altLang="en-US" sz="1200" dirty="0" err="1"/>
              <a:t>head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&lt;</a:t>
            </a:r>
            <a:r>
              <a:rPr lang="ko-KR" altLang="en-US" sz="1200" dirty="0" err="1"/>
              <a:t>title</a:t>
            </a:r>
            <a:r>
              <a:rPr lang="ko-KR" altLang="en-US" sz="1200" dirty="0"/>
              <a:t>&gt;</a:t>
            </a:r>
            <a:r>
              <a:rPr lang="ko-KR" altLang="en-US" sz="1200" dirty="0" err="1"/>
              <a:t>border</a:t>
            </a:r>
            <a:r>
              <a:rPr lang="ko-KR" altLang="en-US" sz="1200" dirty="0"/>
              <a:t> 예제1&lt;/</a:t>
            </a:r>
            <a:r>
              <a:rPr lang="ko-KR" altLang="en-US" sz="1200" dirty="0" err="1"/>
              <a:t>title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&lt;style&gt;</a:t>
            </a:r>
          </a:p>
          <a:p>
            <a:r>
              <a:rPr lang="ko-KR" altLang="en-US" sz="1200" dirty="0"/>
              <a:t>	</a:t>
            </a:r>
            <a:r>
              <a:rPr lang="ko-KR" altLang="en-US" sz="1200" b="1" dirty="0" err="1"/>
              <a:t>p.thick</a:t>
            </a:r>
            <a:r>
              <a:rPr lang="ko-KR" altLang="en-US" sz="1200" b="1" dirty="0"/>
              <a:t>{</a:t>
            </a:r>
          </a:p>
          <a:p>
            <a:r>
              <a:rPr lang="ko-KR" altLang="en-US" sz="1200" b="1" dirty="0"/>
              <a:t>		</a:t>
            </a:r>
            <a:r>
              <a:rPr lang="ko-KR" altLang="en-US" sz="1200" b="1" dirty="0" err="1"/>
              <a:t>border-style:solid</a:t>
            </a:r>
            <a:r>
              <a:rPr lang="ko-KR" altLang="en-US" sz="1200" b="1" dirty="0"/>
              <a:t>;</a:t>
            </a:r>
          </a:p>
          <a:p>
            <a:r>
              <a:rPr lang="ko-KR" altLang="en-US" sz="1200" b="1" dirty="0"/>
              <a:t>		</a:t>
            </a:r>
            <a:r>
              <a:rPr lang="ko-KR" altLang="en-US" sz="1200" b="1" dirty="0" err="1"/>
              <a:t>border-width:thick</a:t>
            </a:r>
            <a:r>
              <a:rPr lang="ko-KR" altLang="en-US" sz="1200" b="1" dirty="0"/>
              <a:t>; /*</a:t>
            </a:r>
            <a:r>
              <a:rPr lang="ko-KR" altLang="en-US" sz="1200" b="1" dirty="0" err="1"/>
              <a:t>medium</a:t>
            </a:r>
            <a:r>
              <a:rPr lang="ko-KR" altLang="en-US" sz="1200" b="1" dirty="0"/>
              <a:t>, 1px 등으로 값을 바꿔서 결과를 확인해보자*/</a:t>
            </a:r>
          </a:p>
          <a:p>
            <a:r>
              <a:rPr lang="ko-KR" altLang="en-US" sz="1200" b="1" dirty="0"/>
              <a:t>		</a:t>
            </a:r>
            <a:r>
              <a:rPr lang="ko-KR" altLang="en-US" sz="1200" b="1" dirty="0" err="1"/>
              <a:t>border</a:t>
            </a:r>
            <a:r>
              <a:rPr lang="ko-KR" altLang="en-US" sz="1200" b="1" dirty="0"/>
              <a:t>-color:blue;	</a:t>
            </a:r>
          </a:p>
          <a:p>
            <a:r>
              <a:rPr lang="ko-KR" altLang="en-US" sz="1200" b="1" dirty="0"/>
              <a:t>	}</a:t>
            </a:r>
          </a:p>
          <a:p>
            <a:r>
              <a:rPr lang="ko-KR" altLang="en-US" sz="1200" dirty="0"/>
              <a:t>&lt;/style&gt;</a:t>
            </a:r>
          </a:p>
          <a:p>
            <a:r>
              <a:rPr lang="ko-KR" altLang="en-US" sz="1200" dirty="0"/>
              <a:t>&lt;/</a:t>
            </a:r>
            <a:r>
              <a:rPr lang="ko-KR" altLang="en-US" sz="1200" dirty="0" err="1"/>
              <a:t>head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	&lt;body&gt;</a:t>
            </a:r>
          </a:p>
          <a:p>
            <a:r>
              <a:rPr lang="ko-KR" altLang="en-US" sz="1200" dirty="0"/>
              <a:t>		&lt;p </a:t>
            </a:r>
            <a:r>
              <a:rPr lang="ko-KR" altLang="en-US" sz="1200" dirty="0" err="1"/>
              <a:t>class</a:t>
            </a:r>
            <a:r>
              <a:rPr lang="ko-KR" altLang="en-US" sz="1200" dirty="0"/>
              <a:t>="</a:t>
            </a:r>
            <a:r>
              <a:rPr lang="ko-KR" altLang="en-US" sz="1200" dirty="0" err="1"/>
              <a:t>thick</a:t>
            </a:r>
            <a:r>
              <a:rPr lang="ko-KR" altLang="en-US" sz="1200" dirty="0"/>
              <a:t>"&gt;파란색 경계선이 나타납니다.&lt;/p&gt;</a:t>
            </a:r>
          </a:p>
          <a:p>
            <a:r>
              <a:rPr lang="ko-KR" altLang="en-US" sz="1200" dirty="0"/>
              <a:t>	&lt;/body&gt;</a:t>
            </a:r>
          </a:p>
          <a:p>
            <a:r>
              <a:rPr lang="ko-KR" altLang="en-US" sz="1200" dirty="0"/>
              <a:t>&lt;/</a:t>
            </a:r>
            <a:r>
              <a:rPr lang="ko-KR" altLang="en-US" sz="1200" dirty="0" err="1"/>
              <a:t>html</a:t>
            </a:r>
            <a:r>
              <a:rPr lang="ko-KR" altLang="en-US" sz="1200" dirty="0"/>
              <a:t>&gt;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98619B4-07BB-2FE0-B65E-F23342D82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582" y="5930444"/>
            <a:ext cx="5067300" cy="46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59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CA917-2858-E321-F47C-93BD99A41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A03E2A-7178-8316-4560-D38552E52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375972" cy="1484387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b="1" dirty="0"/>
              <a:t>경계선 속성을 한 줄로 정의하고 둥근 경계선 만들기</a:t>
            </a:r>
          </a:p>
          <a:p>
            <a:pPr lvl="1"/>
            <a:r>
              <a:rPr lang="ko-KR" altLang="en-US" dirty="0"/>
              <a:t>경계선 스타일은 한 줄로 간단하게 정의할 수 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border : 5px solid red;</a:t>
            </a:r>
          </a:p>
          <a:p>
            <a:pPr lvl="1"/>
            <a:r>
              <a:rPr lang="en-US" altLang="ko-KR" dirty="0"/>
              <a:t>border-radius </a:t>
            </a:r>
            <a:r>
              <a:rPr lang="ko-KR" altLang="en-US" dirty="0"/>
              <a:t>속성을 사용하면 둥근 모서리를 만들 수 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border-radius : 25px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A42EC6-C6A8-D8FA-142C-A91B404BC7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AC16BB-9CE2-2ABD-1EFC-299F81DB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B2F03D-57BE-D62F-35CA-3809311F420B}"/>
              </a:ext>
            </a:extLst>
          </p:cNvPr>
          <p:cNvSpPr txBox="1"/>
          <p:nvPr/>
        </p:nvSpPr>
        <p:spPr>
          <a:xfrm>
            <a:off x="539552" y="2559095"/>
            <a:ext cx="7488832" cy="332398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&lt;!DOCUTYPE </a:t>
            </a:r>
            <a:r>
              <a:rPr lang="ko-KR" altLang="en-US" sz="1400" dirty="0" err="1"/>
              <a:t>html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&lt;</a:t>
            </a:r>
            <a:r>
              <a:rPr lang="ko-KR" altLang="en-US" sz="1400" dirty="0" err="1"/>
              <a:t>html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	&lt;</a:t>
            </a:r>
            <a:r>
              <a:rPr lang="ko-KR" altLang="en-US" sz="1400" dirty="0" err="1"/>
              <a:t>head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	&lt;</a:t>
            </a:r>
            <a:r>
              <a:rPr lang="ko-KR" altLang="en-US" sz="1400" dirty="0" err="1"/>
              <a:t>title</a:t>
            </a:r>
            <a:r>
              <a:rPr lang="ko-KR" altLang="en-US" sz="1400" dirty="0"/>
              <a:t>&gt;</a:t>
            </a:r>
            <a:r>
              <a:rPr lang="ko-KR" altLang="en-US" sz="1400" dirty="0" err="1"/>
              <a:t>border</a:t>
            </a:r>
            <a:r>
              <a:rPr lang="ko-KR" altLang="en-US" sz="1400" dirty="0"/>
              <a:t> 예제2&lt;/</a:t>
            </a:r>
            <a:r>
              <a:rPr lang="ko-KR" altLang="en-US" sz="1400" dirty="0" err="1"/>
              <a:t>title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	&lt;style&gt;</a:t>
            </a:r>
          </a:p>
          <a:p>
            <a:r>
              <a:rPr lang="ko-KR" altLang="en-US" sz="1400" dirty="0"/>
              <a:t>		</a:t>
            </a:r>
            <a:r>
              <a:rPr lang="ko-KR" altLang="en-US" sz="1400" b="1" dirty="0" err="1"/>
              <a:t>p.radius</a:t>
            </a:r>
            <a:r>
              <a:rPr lang="ko-KR" altLang="en-US" sz="1400" b="1" dirty="0"/>
              <a:t> {</a:t>
            </a:r>
          </a:p>
          <a:p>
            <a:r>
              <a:rPr lang="ko-KR" altLang="en-US" sz="1400" b="1" dirty="0"/>
              <a:t>			</a:t>
            </a:r>
            <a:r>
              <a:rPr lang="ko-KR" altLang="en-US" sz="1400" b="1" dirty="0" err="1"/>
              <a:t>border</a:t>
            </a:r>
            <a:r>
              <a:rPr lang="ko-KR" altLang="en-US" sz="1400" b="1" dirty="0"/>
              <a:t> : 3px </a:t>
            </a:r>
            <a:r>
              <a:rPr lang="ko-KR" altLang="en-US" sz="1400" b="1" dirty="0" err="1"/>
              <a:t>solid</a:t>
            </a:r>
            <a:r>
              <a:rPr lang="ko-KR" altLang="en-US" sz="1400" b="1" dirty="0"/>
              <a:t> blue;</a:t>
            </a:r>
          </a:p>
          <a:p>
            <a:r>
              <a:rPr lang="ko-KR" altLang="en-US" sz="1400" b="1" dirty="0"/>
              <a:t>			</a:t>
            </a:r>
            <a:r>
              <a:rPr lang="ko-KR" altLang="en-US" sz="1400" b="1" dirty="0" err="1"/>
              <a:t>border-radius</a:t>
            </a:r>
            <a:r>
              <a:rPr lang="ko-KR" altLang="en-US" sz="1400" b="1" dirty="0"/>
              <a:t>: 30px;		</a:t>
            </a:r>
          </a:p>
          <a:p>
            <a:r>
              <a:rPr lang="ko-KR" altLang="en-US" sz="1400" b="1" dirty="0"/>
              <a:t>		}</a:t>
            </a:r>
          </a:p>
          <a:p>
            <a:r>
              <a:rPr lang="ko-KR" altLang="en-US" sz="1400" dirty="0"/>
              <a:t>	&lt;/style&gt;</a:t>
            </a:r>
          </a:p>
          <a:p>
            <a:r>
              <a:rPr lang="ko-KR" altLang="en-US" sz="1400" dirty="0"/>
              <a:t>	&lt;/</a:t>
            </a:r>
            <a:r>
              <a:rPr lang="ko-KR" altLang="en-US" sz="1400" dirty="0" err="1"/>
              <a:t>head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	&lt;body&gt;</a:t>
            </a:r>
          </a:p>
          <a:p>
            <a:r>
              <a:rPr lang="ko-KR" altLang="en-US" sz="1400" dirty="0"/>
              <a:t>		&lt;p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radius</a:t>
            </a:r>
            <a:r>
              <a:rPr lang="ko-KR" altLang="en-US" sz="1400" dirty="0"/>
              <a:t>"&gt;모서리가 둥근 파란색 경계선이 나타납니다.&lt;/p&gt;</a:t>
            </a:r>
          </a:p>
          <a:p>
            <a:r>
              <a:rPr lang="ko-KR" altLang="en-US" sz="1400" dirty="0"/>
              <a:t>	&lt;/body&gt;</a:t>
            </a:r>
          </a:p>
          <a:p>
            <a:r>
              <a:rPr lang="ko-KR" altLang="en-US" sz="1400" dirty="0"/>
              <a:t>&lt;/</a:t>
            </a:r>
            <a:r>
              <a:rPr lang="ko-KR" altLang="en-US" sz="1400" dirty="0" err="1"/>
              <a:t>html</a:t>
            </a:r>
            <a:r>
              <a:rPr lang="ko-KR" altLang="en-US" sz="1400" dirty="0"/>
              <a:t>&gt;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F231636-66D6-0FAA-6FB9-8A9448FD9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308" y="5977296"/>
            <a:ext cx="4284476" cy="43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86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D47A2-3D44-41FA-BB64-0CFED8A7A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B8A504-B1F6-0188-97A6-2557DD3E0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008509"/>
            <a:ext cx="8572500" cy="1340371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b="1" dirty="0"/>
              <a:t>패딩</a:t>
            </a:r>
            <a:r>
              <a:rPr lang="en-US" altLang="ko-KR" b="1" dirty="0"/>
              <a:t>(Padding)</a:t>
            </a:r>
            <a:r>
              <a:rPr lang="ko-KR" altLang="en-US" b="1" dirty="0"/>
              <a:t>과 마진</a:t>
            </a:r>
            <a:r>
              <a:rPr lang="en-US" altLang="ko-KR" b="1" dirty="0"/>
              <a:t>(Margin)</a:t>
            </a:r>
            <a:r>
              <a:rPr lang="ko-KR" altLang="en-US" b="1" dirty="0"/>
              <a:t>의 차이점</a:t>
            </a:r>
          </a:p>
          <a:p>
            <a:pPr lvl="1"/>
            <a:r>
              <a:rPr lang="ko-KR" altLang="en-US" dirty="0"/>
              <a:t>패딩 </a:t>
            </a:r>
            <a:r>
              <a:rPr lang="en-US" altLang="ko-KR" dirty="0"/>
              <a:t>: </a:t>
            </a:r>
            <a:r>
              <a:rPr lang="ko-KR" altLang="en-US" dirty="0"/>
              <a:t>요소의 내부 공간을 확장한다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요소의 배경색과 이미지가 패딩 영역까지 적용된다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마진 </a:t>
            </a:r>
            <a:r>
              <a:rPr lang="en-US" altLang="ko-KR" dirty="0"/>
              <a:t>: </a:t>
            </a:r>
            <a:r>
              <a:rPr lang="ko-KR" altLang="en-US" dirty="0"/>
              <a:t>요소의 외부 공간을 조정하여 다른 요소와의 간격을 생성한다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이 영역에는 배경색이나 이미지가 적용되지 않는다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8A4EB2-AA37-EE73-0E5E-E33E31DB6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10BD5D-78E3-16D2-A577-E2EDD286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A19C5-5551-8574-9EAC-F8C4C49061CB}"/>
              </a:ext>
            </a:extLst>
          </p:cNvPr>
          <p:cNvSpPr txBox="1"/>
          <p:nvPr/>
        </p:nvSpPr>
        <p:spPr>
          <a:xfrm>
            <a:off x="442913" y="2226344"/>
            <a:ext cx="6006763" cy="34163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900" dirty="0"/>
              <a:t>&lt;!DOCUTYPE </a:t>
            </a:r>
            <a:r>
              <a:rPr lang="ko-KR" altLang="en-US" sz="900" dirty="0" err="1"/>
              <a:t>html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&lt;</a:t>
            </a:r>
            <a:r>
              <a:rPr lang="ko-KR" altLang="en-US" sz="900" dirty="0" err="1"/>
              <a:t>html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&lt;</a:t>
            </a:r>
            <a:r>
              <a:rPr lang="ko-KR" altLang="en-US" sz="900" dirty="0" err="1"/>
              <a:t>head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&lt;</a:t>
            </a:r>
            <a:r>
              <a:rPr lang="ko-KR" altLang="en-US" sz="900" dirty="0" err="1"/>
              <a:t>title</a:t>
            </a:r>
            <a:r>
              <a:rPr lang="ko-KR" altLang="en-US" sz="900" dirty="0"/>
              <a:t>&gt;마진과 패딩 예제&lt;/</a:t>
            </a:r>
            <a:r>
              <a:rPr lang="ko-KR" altLang="en-US" sz="900" dirty="0" err="1"/>
              <a:t>title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&lt;style&gt;</a:t>
            </a:r>
          </a:p>
          <a:p>
            <a:r>
              <a:rPr lang="ko-KR" altLang="en-US" sz="900" dirty="0"/>
              <a:t>	</a:t>
            </a:r>
            <a:r>
              <a:rPr lang="ko-KR" altLang="en-US" sz="900" b="1" dirty="0"/>
              <a:t>       .ex1{</a:t>
            </a:r>
          </a:p>
          <a:p>
            <a:r>
              <a:rPr lang="ko-KR" altLang="en-US" sz="900" b="1" dirty="0"/>
              <a:t>		</a:t>
            </a:r>
            <a:r>
              <a:rPr lang="ko-KR" altLang="en-US" sz="900" b="1" dirty="0" err="1"/>
              <a:t>margin</a:t>
            </a:r>
            <a:r>
              <a:rPr lang="ko-KR" altLang="en-US" sz="900" b="1" dirty="0"/>
              <a:t>: 0px;</a:t>
            </a:r>
          </a:p>
          <a:p>
            <a:r>
              <a:rPr lang="ko-KR" altLang="en-US" sz="900" b="1" dirty="0"/>
              <a:t>		</a:t>
            </a:r>
            <a:r>
              <a:rPr lang="ko-KR" altLang="en-US" sz="900" b="1" dirty="0" err="1"/>
              <a:t>padding</a:t>
            </a:r>
            <a:r>
              <a:rPr lang="ko-KR" altLang="en-US" sz="900" b="1" dirty="0"/>
              <a:t>: 0px;</a:t>
            </a:r>
          </a:p>
          <a:p>
            <a:r>
              <a:rPr lang="ko-KR" altLang="en-US" sz="900" b="1" dirty="0"/>
              <a:t>		</a:t>
            </a:r>
            <a:r>
              <a:rPr lang="ko-KR" altLang="en-US" sz="900" b="1" dirty="0" err="1"/>
              <a:t>background</a:t>
            </a:r>
            <a:r>
              <a:rPr lang="ko-KR" altLang="en-US" sz="900" b="1" dirty="0"/>
              <a:t>-color:red;</a:t>
            </a:r>
          </a:p>
          <a:p>
            <a:r>
              <a:rPr lang="ko-KR" altLang="en-US" sz="900" b="1" dirty="0"/>
              <a:t>		</a:t>
            </a:r>
            <a:r>
              <a:rPr lang="ko-KR" altLang="en-US" sz="900" b="1" dirty="0" err="1"/>
              <a:t>border</a:t>
            </a:r>
            <a:r>
              <a:rPr lang="ko-KR" altLang="en-US" sz="900" b="1" dirty="0"/>
              <a:t>: 1px </a:t>
            </a:r>
            <a:r>
              <a:rPr lang="ko-KR" altLang="en-US" sz="900" b="1" dirty="0" err="1"/>
              <a:t>solid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black</a:t>
            </a:r>
            <a:r>
              <a:rPr lang="ko-KR" altLang="en-US" sz="900" b="1" dirty="0"/>
              <a:t>;</a:t>
            </a:r>
          </a:p>
          <a:p>
            <a:r>
              <a:rPr lang="ko-KR" altLang="en-US" sz="900" b="1" dirty="0"/>
              <a:t>	        }</a:t>
            </a:r>
          </a:p>
          <a:p>
            <a:r>
              <a:rPr lang="ko-KR" altLang="en-US" sz="900" b="1" dirty="0"/>
              <a:t>	       .ex2{</a:t>
            </a:r>
          </a:p>
          <a:p>
            <a:r>
              <a:rPr lang="ko-KR" altLang="en-US" sz="900" b="1" dirty="0"/>
              <a:t>		</a:t>
            </a:r>
            <a:r>
              <a:rPr lang="ko-KR" altLang="en-US" sz="900" b="1" dirty="0" err="1"/>
              <a:t>margin</a:t>
            </a:r>
            <a:r>
              <a:rPr lang="ko-KR" altLang="en-US" sz="900" b="1" dirty="0"/>
              <a:t>: 10px;</a:t>
            </a:r>
          </a:p>
          <a:p>
            <a:r>
              <a:rPr lang="ko-KR" altLang="en-US" sz="900" b="1" dirty="0"/>
              <a:t>		</a:t>
            </a:r>
            <a:r>
              <a:rPr lang="ko-KR" altLang="en-US" sz="900" b="1" dirty="0" err="1"/>
              <a:t>padding</a:t>
            </a:r>
            <a:r>
              <a:rPr lang="ko-KR" altLang="en-US" sz="900" b="1" dirty="0"/>
              <a:t>: 20px;</a:t>
            </a:r>
          </a:p>
          <a:p>
            <a:r>
              <a:rPr lang="ko-KR" altLang="en-US" sz="900" b="1" dirty="0"/>
              <a:t>		</a:t>
            </a:r>
            <a:r>
              <a:rPr lang="ko-KR" altLang="en-US" sz="900" b="1" dirty="0" err="1"/>
              <a:t>background</a:t>
            </a:r>
            <a:r>
              <a:rPr lang="ko-KR" altLang="en-US" sz="900" b="1" dirty="0"/>
              <a:t>-color:blue;</a:t>
            </a:r>
          </a:p>
          <a:p>
            <a:r>
              <a:rPr lang="ko-KR" altLang="en-US" sz="900" b="1" dirty="0"/>
              <a:t>		</a:t>
            </a:r>
            <a:r>
              <a:rPr lang="ko-KR" altLang="en-US" sz="900" b="1" dirty="0" err="1"/>
              <a:t>border</a:t>
            </a:r>
            <a:r>
              <a:rPr lang="ko-KR" altLang="en-US" sz="900" b="1" dirty="0"/>
              <a:t>: 1px </a:t>
            </a:r>
            <a:r>
              <a:rPr lang="ko-KR" altLang="en-US" sz="900" b="1" dirty="0" err="1"/>
              <a:t>solid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black</a:t>
            </a:r>
            <a:r>
              <a:rPr lang="ko-KR" altLang="en-US" sz="900" b="1" dirty="0"/>
              <a:t>;</a:t>
            </a:r>
          </a:p>
          <a:p>
            <a:r>
              <a:rPr lang="ko-KR" altLang="en-US" sz="900" b="1" dirty="0"/>
              <a:t>	        }</a:t>
            </a:r>
          </a:p>
          <a:p>
            <a:r>
              <a:rPr lang="ko-KR" altLang="en-US" sz="900" dirty="0"/>
              <a:t>	&lt;/style&gt;</a:t>
            </a:r>
          </a:p>
          <a:p>
            <a:r>
              <a:rPr lang="ko-KR" altLang="en-US" sz="900" dirty="0"/>
              <a:t>	&lt;/</a:t>
            </a:r>
            <a:r>
              <a:rPr lang="ko-KR" altLang="en-US" sz="900" dirty="0" err="1"/>
              <a:t>head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&lt;body&gt;</a:t>
            </a:r>
          </a:p>
          <a:p>
            <a:r>
              <a:rPr lang="ko-KR" altLang="en-US" sz="900" dirty="0"/>
              <a:t>		&lt;</a:t>
            </a:r>
            <a:r>
              <a:rPr lang="ko-KR" altLang="en-US" sz="900" b="1" dirty="0" err="1"/>
              <a:t>div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class</a:t>
            </a:r>
            <a:r>
              <a:rPr lang="ko-KR" altLang="en-US" sz="900" b="1" dirty="0"/>
              <a:t>="ex1"</a:t>
            </a:r>
            <a:r>
              <a:rPr lang="ko-KR" altLang="en-US" sz="900" dirty="0"/>
              <a:t>&gt;&lt;</a:t>
            </a:r>
            <a:r>
              <a:rPr lang="ko-KR" altLang="en-US" sz="900" dirty="0" err="1"/>
              <a:t>b</a:t>
            </a:r>
            <a:r>
              <a:rPr lang="ko-KR" altLang="en-US" sz="900" dirty="0"/>
              <a:t>&gt;마진과 패딩 테스트1&lt;/</a:t>
            </a:r>
            <a:r>
              <a:rPr lang="ko-KR" altLang="en-US" sz="900" dirty="0" err="1"/>
              <a:t>b</a:t>
            </a:r>
            <a:r>
              <a:rPr lang="ko-KR" altLang="en-US" sz="900" dirty="0"/>
              <a:t>&gt;&lt;/</a:t>
            </a:r>
            <a:r>
              <a:rPr lang="ko-KR" altLang="en-US" sz="900" dirty="0" err="1"/>
              <a:t>div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	&lt;</a:t>
            </a:r>
            <a:r>
              <a:rPr lang="ko-KR" altLang="en-US" sz="900" b="1" dirty="0" err="1"/>
              <a:t>div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class</a:t>
            </a:r>
            <a:r>
              <a:rPr lang="ko-KR" altLang="en-US" sz="900" b="1" dirty="0"/>
              <a:t>="ex2"</a:t>
            </a:r>
            <a:r>
              <a:rPr lang="ko-KR" altLang="en-US" sz="900" dirty="0"/>
              <a:t>&gt;&lt;</a:t>
            </a:r>
            <a:r>
              <a:rPr lang="ko-KR" altLang="en-US" sz="900" dirty="0" err="1"/>
              <a:t>b</a:t>
            </a:r>
            <a:r>
              <a:rPr lang="ko-KR" altLang="en-US" sz="900" dirty="0"/>
              <a:t>&gt;마진과 패딩 테스트2&lt;/</a:t>
            </a:r>
            <a:r>
              <a:rPr lang="ko-KR" altLang="en-US" sz="900" dirty="0" err="1"/>
              <a:t>b</a:t>
            </a:r>
            <a:r>
              <a:rPr lang="ko-KR" altLang="en-US" sz="900" dirty="0"/>
              <a:t>&gt;&lt;/</a:t>
            </a:r>
            <a:r>
              <a:rPr lang="ko-KR" altLang="en-US" sz="900" dirty="0" err="1"/>
              <a:t>div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&lt;/body&gt;</a:t>
            </a:r>
          </a:p>
          <a:p>
            <a:r>
              <a:rPr lang="ko-KR" altLang="en-US" sz="900" dirty="0"/>
              <a:t>&lt;/</a:t>
            </a:r>
            <a:r>
              <a:rPr lang="ko-KR" altLang="en-US" sz="900" dirty="0" err="1"/>
              <a:t>html</a:t>
            </a:r>
            <a:r>
              <a:rPr lang="ko-KR" altLang="en-US" sz="900" dirty="0"/>
              <a:t>&gt;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05385E6-2588-D3B1-7D01-3E14FAB94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5736242"/>
            <a:ext cx="3600400" cy="111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857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4C85C-7332-2333-2C62-592703F19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(6)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BEF84A-4C25-F57C-0D70-17FC2B1AB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447980" cy="1412379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b="1" dirty="0"/>
              <a:t>박스의 크기 계산하기</a:t>
            </a:r>
          </a:p>
          <a:p>
            <a:pPr lvl="1"/>
            <a:r>
              <a:rPr lang="ko-KR" altLang="en-US" dirty="0"/>
              <a:t>박스의 너비와 높이를 설정하여 콘텐츠 영역의 크기를 지정할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전체 박스의 크기를 계산하려면 콘텐츠 영역에 패딩</a:t>
            </a:r>
            <a:r>
              <a:rPr lang="en-US" altLang="ko-KR" dirty="0"/>
              <a:t>, </a:t>
            </a:r>
            <a:r>
              <a:rPr lang="ko-KR" altLang="en-US" dirty="0"/>
              <a:t>테두리</a:t>
            </a:r>
            <a:r>
              <a:rPr lang="en-US" altLang="ko-KR" dirty="0"/>
              <a:t>, </a:t>
            </a:r>
            <a:r>
              <a:rPr lang="ko-KR" altLang="en-US" dirty="0"/>
              <a:t>마진 값을 모두 더해야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07DC21-C2A3-975C-F22F-3CC07B541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658E6A-E96F-E6C9-FA24-5CC1077A4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10AE-088C-8AA7-063F-CF3DC1FF16B1}"/>
              </a:ext>
            </a:extLst>
          </p:cNvPr>
          <p:cNvSpPr txBox="1"/>
          <p:nvPr/>
        </p:nvSpPr>
        <p:spPr>
          <a:xfrm>
            <a:off x="539552" y="2770723"/>
            <a:ext cx="5863112" cy="34163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&lt;!DOCUTYPE </a:t>
            </a:r>
            <a:r>
              <a:rPr lang="ko-KR" altLang="en-US" sz="1200" dirty="0" err="1"/>
              <a:t>html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&lt;</a:t>
            </a:r>
            <a:r>
              <a:rPr lang="ko-KR" altLang="en-US" sz="1200" dirty="0" err="1"/>
              <a:t>html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	&lt;</a:t>
            </a:r>
            <a:r>
              <a:rPr lang="ko-KR" altLang="en-US" sz="1200" dirty="0" err="1"/>
              <a:t>head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		&lt;</a:t>
            </a:r>
            <a:r>
              <a:rPr lang="ko-KR" altLang="en-US" sz="1200" dirty="0" err="1"/>
              <a:t>title</a:t>
            </a:r>
            <a:r>
              <a:rPr lang="ko-KR" altLang="en-US" sz="1200" dirty="0"/>
              <a:t>&gt;</a:t>
            </a:r>
            <a:r>
              <a:rPr lang="ko-KR" altLang="en-US" sz="1200" dirty="0" err="1"/>
              <a:t>콘덴츠가</a:t>
            </a:r>
            <a:r>
              <a:rPr lang="ko-KR" altLang="en-US" sz="1200" dirty="0"/>
              <a:t> 들어가는 박스의 크기 예제&lt;/</a:t>
            </a:r>
            <a:r>
              <a:rPr lang="ko-KR" altLang="en-US" sz="1200" dirty="0" err="1"/>
              <a:t>title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		&lt;style&gt;</a:t>
            </a:r>
          </a:p>
          <a:p>
            <a:r>
              <a:rPr lang="ko-KR" altLang="en-US" sz="1200" dirty="0"/>
              <a:t>			.</a:t>
            </a:r>
            <a:r>
              <a:rPr lang="ko-KR" altLang="en-US" sz="1200" dirty="0" err="1"/>
              <a:t>boxsize</a:t>
            </a:r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				</a:t>
            </a:r>
            <a:r>
              <a:rPr lang="ko-KR" altLang="en-US" sz="1200" dirty="0" err="1"/>
              <a:t>width</a:t>
            </a:r>
            <a:r>
              <a:rPr lang="ko-KR" altLang="en-US" sz="1200" dirty="0"/>
              <a:t>: 200px;</a:t>
            </a:r>
          </a:p>
          <a:p>
            <a:r>
              <a:rPr lang="ko-KR" altLang="en-US" sz="1200" dirty="0"/>
              <a:t>				</a:t>
            </a:r>
            <a:r>
              <a:rPr lang="ko-KR" altLang="en-US" sz="1200" dirty="0" err="1"/>
              <a:t>padding</a:t>
            </a:r>
            <a:r>
              <a:rPr lang="ko-KR" altLang="en-US" sz="1200" dirty="0"/>
              <a:t>: 10px;</a:t>
            </a:r>
          </a:p>
          <a:p>
            <a:r>
              <a:rPr lang="ko-KR" altLang="en-US" sz="1200" dirty="0"/>
              <a:t>				</a:t>
            </a:r>
            <a:r>
              <a:rPr lang="ko-KR" altLang="en-US" sz="1200" dirty="0" err="1"/>
              <a:t>border</a:t>
            </a:r>
            <a:r>
              <a:rPr lang="ko-KR" altLang="en-US" sz="1200" dirty="0"/>
              <a:t>: 5px </a:t>
            </a:r>
            <a:r>
              <a:rPr lang="ko-KR" altLang="en-US" sz="1200" dirty="0" err="1"/>
              <a:t>solid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red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				</a:t>
            </a:r>
            <a:r>
              <a:rPr lang="ko-KR" altLang="en-US" sz="1200" dirty="0" err="1"/>
              <a:t>margin</a:t>
            </a:r>
            <a:r>
              <a:rPr lang="ko-KR" altLang="en-US" sz="1200" dirty="0"/>
              <a:t>: 20px;</a:t>
            </a:r>
          </a:p>
          <a:p>
            <a:r>
              <a:rPr lang="ko-KR" altLang="en-US" sz="1200" dirty="0"/>
              <a:t>				</a:t>
            </a:r>
            <a:r>
              <a:rPr lang="ko-KR" altLang="en-US" sz="1200" dirty="0" err="1"/>
              <a:t>background-color:lightgreen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			}</a:t>
            </a:r>
          </a:p>
          <a:p>
            <a:r>
              <a:rPr lang="ko-KR" altLang="en-US" sz="1200" dirty="0"/>
              <a:t>		&lt;/style&gt;</a:t>
            </a:r>
          </a:p>
          <a:p>
            <a:r>
              <a:rPr lang="ko-KR" altLang="en-US" sz="1200" dirty="0"/>
              <a:t>	&lt;/</a:t>
            </a:r>
            <a:r>
              <a:rPr lang="ko-KR" altLang="en-US" sz="1200" dirty="0" err="1"/>
              <a:t>head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	&lt;body&gt;</a:t>
            </a:r>
          </a:p>
          <a:p>
            <a:r>
              <a:rPr lang="ko-KR" altLang="en-US" sz="1200" dirty="0"/>
              <a:t>		&lt;</a:t>
            </a:r>
            <a:r>
              <a:rPr lang="ko-KR" altLang="en-US" sz="1200" dirty="0" err="1"/>
              <a:t>div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class</a:t>
            </a:r>
            <a:r>
              <a:rPr lang="ko-KR" altLang="en-US" sz="1200" dirty="0"/>
              <a:t>="</a:t>
            </a:r>
            <a:r>
              <a:rPr lang="ko-KR" altLang="en-US" sz="1200" dirty="0" err="1"/>
              <a:t>boxsize</a:t>
            </a:r>
            <a:r>
              <a:rPr lang="ko-KR" altLang="en-US" sz="1200" dirty="0"/>
              <a:t>"&gt;&lt;</a:t>
            </a:r>
            <a:r>
              <a:rPr lang="ko-KR" altLang="en-US" sz="1200" dirty="0" err="1"/>
              <a:t>b</a:t>
            </a:r>
            <a:r>
              <a:rPr lang="ko-KR" altLang="en-US" sz="1200" dirty="0"/>
              <a:t>&gt;HELLO CSS!&lt;/</a:t>
            </a:r>
            <a:r>
              <a:rPr lang="ko-KR" altLang="en-US" sz="1200" dirty="0" err="1"/>
              <a:t>b</a:t>
            </a:r>
            <a:r>
              <a:rPr lang="ko-KR" altLang="en-US" sz="1200" dirty="0"/>
              <a:t>&gt;&lt;/</a:t>
            </a:r>
            <a:r>
              <a:rPr lang="ko-KR" altLang="en-US" sz="1200" dirty="0" err="1"/>
              <a:t>div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	&lt;/body&gt;</a:t>
            </a:r>
          </a:p>
          <a:p>
            <a:r>
              <a:rPr lang="ko-KR" altLang="en-US" sz="1200" dirty="0"/>
              <a:t>&lt;/</a:t>
            </a:r>
            <a:r>
              <a:rPr lang="ko-KR" altLang="en-US" sz="1200" dirty="0" err="1"/>
              <a:t>html</a:t>
            </a:r>
            <a:r>
              <a:rPr lang="ko-KR" altLang="en-US" sz="1200" dirty="0"/>
              <a:t>&gt;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5F897D0-8FE3-18D8-C664-6E979A0C1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150" y="5367893"/>
            <a:ext cx="260985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83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61302-C21B-626A-FBBD-C3F6A5B7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(7)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리스트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71ACA-DC6F-D1F4-72D4-8BEB656EF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447980" cy="5019675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순서가 없는 리스트인 </a:t>
            </a:r>
            <a:r>
              <a:rPr lang="en-US" altLang="ko-KR" sz="2000" b="1" dirty="0"/>
              <a:t>&lt;ul&gt; </a:t>
            </a:r>
            <a:r>
              <a:rPr lang="ko-KR" altLang="en-US" sz="2000" b="1" dirty="0"/>
              <a:t>태그</a:t>
            </a:r>
            <a:r>
              <a:rPr lang="ko-KR" altLang="en-US" sz="2000" dirty="0"/>
              <a:t>에 대해서 스타일 지정이 가능하다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5703DA-5BAA-A9A4-4725-1D129442D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F385AA-30BA-BF5E-0BCB-C1224907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3A4B12-7771-785F-17E6-3B3A36B43356}"/>
              </a:ext>
            </a:extLst>
          </p:cNvPr>
          <p:cNvSpPr txBox="1"/>
          <p:nvPr/>
        </p:nvSpPr>
        <p:spPr>
          <a:xfrm>
            <a:off x="768328" y="1628800"/>
            <a:ext cx="3528392" cy="175432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ul.style1 { list-style-type: circle; }</a:t>
            </a:r>
          </a:p>
          <a:p>
            <a:r>
              <a:rPr lang="en-US" altLang="ko-KR" dirty="0"/>
              <a:t>&lt;ul class=</a:t>
            </a:r>
            <a:r>
              <a:rPr lang="ko-KR" altLang="en-US" sz="1800" b="1" dirty="0">
                <a:solidFill>
                  <a:srgbClr val="FF0000"/>
                </a:solidFill>
              </a:rPr>
              <a:t>"</a:t>
            </a:r>
            <a:r>
              <a:rPr lang="en-US" altLang="ko-KR" dirty="0">
                <a:solidFill>
                  <a:srgbClr val="FF0000"/>
                </a:solidFill>
              </a:rPr>
              <a:t>style1</a:t>
            </a:r>
            <a:r>
              <a:rPr lang="ko-KR" altLang="en-US" sz="1800" b="1" dirty="0">
                <a:solidFill>
                  <a:srgbClr val="FF0000"/>
                </a:solidFill>
              </a:rPr>
              <a:t>"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우유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커피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홍차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&lt;/ul&gt;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08AE9-B79E-D0CB-A4DA-33B0FF4F9C82}"/>
              </a:ext>
            </a:extLst>
          </p:cNvPr>
          <p:cNvSpPr txBox="1"/>
          <p:nvPr/>
        </p:nvSpPr>
        <p:spPr>
          <a:xfrm>
            <a:off x="4536108" y="1628800"/>
            <a:ext cx="3839564" cy="175432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ul.style2 { list-style-type: square; }</a:t>
            </a:r>
          </a:p>
          <a:p>
            <a:r>
              <a:rPr lang="en-US" altLang="ko-KR" dirty="0"/>
              <a:t>&lt;ul class=</a:t>
            </a:r>
            <a:r>
              <a:rPr lang="ko-KR" altLang="en-US" sz="1800" b="1" dirty="0">
                <a:solidFill>
                  <a:srgbClr val="FF0000"/>
                </a:solidFill>
              </a:rPr>
              <a:t>"</a:t>
            </a:r>
            <a:r>
              <a:rPr lang="en-US" altLang="ko-KR" dirty="0">
                <a:solidFill>
                  <a:srgbClr val="FF0000"/>
                </a:solidFill>
              </a:rPr>
              <a:t>style2</a:t>
            </a:r>
            <a:r>
              <a:rPr lang="ko-KR" altLang="en-US" sz="1800" b="1" dirty="0">
                <a:solidFill>
                  <a:srgbClr val="FF0000"/>
                </a:solidFill>
              </a:rPr>
              <a:t>"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우유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커피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홍차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&lt;/ul&gt;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95C0997-8E04-D6CA-02AE-5AE93C656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28" y="3681037"/>
            <a:ext cx="1442814" cy="14147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E1FDCAC-72DF-80E9-2A2A-04098171B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08" y="3681037"/>
            <a:ext cx="1442815" cy="14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9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A2298-D16A-BD61-DFDC-152ECDF3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6A842-FFBA-AD26-3925-576D99D0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(8)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리스트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E5D13F-1FA2-FDB1-928C-D0E8B1ED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447980" cy="5019675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순서가 있는 리스트인 </a:t>
            </a:r>
            <a:r>
              <a:rPr lang="en-US" altLang="ko-KR" sz="2000" b="1" dirty="0"/>
              <a:t>&lt;ol&gt; </a:t>
            </a:r>
            <a:r>
              <a:rPr lang="ko-KR" altLang="en-US" sz="2000" b="1" dirty="0"/>
              <a:t>태그</a:t>
            </a:r>
            <a:r>
              <a:rPr lang="ko-KR" altLang="en-US" sz="2000" dirty="0"/>
              <a:t>에 대해서 스타일 지정이 가능하다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1AAE87-18EF-2D23-BE58-5F30001E56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C85CD-7F8F-8A82-B12A-54C027254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18A091-85AC-2140-8D8D-EF306728AEE0}"/>
              </a:ext>
            </a:extLst>
          </p:cNvPr>
          <p:cNvSpPr txBox="1"/>
          <p:nvPr/>
        </p:nvSpPr>
        <p:spPr>
          <a:xfrm>
            <a:off x="768328" y="1628800"/>
            <a:ext cx="4307728" cy="175432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ol.style1 { list-style-type: upper-roman; }</a:t>
            </a:r>
          </a:p>
          <a:p>
            <a:r>
              <a:rPr lang="en-US" altLang="ko-KR" dirty="0"/>
              <a:t>&lt;ol class=</a:t>
            </a:r>
            <a:r>
              <a:rPr lang="ko-KR" altLang="en-US" sz="1800" b="1" dirty="0">
                <a:solidFill>
                  <a:srgbClr val="FF0000"/>
                </a:solidFill>
              </a:rPr>
              <a:t>"</a:t>
            </a:r>
            <a:r>
              <a:rPr lang="en-US" altLang="ko-KR" dirty="0">
                <a:solidFill>
                  <a:srgbClr val="FF0000"/>
                </a:solidFill>
              </a:rPr>
              <a:t>style1</a:t>
            </a:r>
            <a:r>
              <a:rPr lang="ko-KR" altLang="en-US" sz="1800" b="1" dirty="0">
                <a:solidFill>
                  <a:srgbClr val="FF0000"/>
                </a:solidFill>
              </a:rPr>
              <a:t>"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우유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커피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홍차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&lt;/ol&gt;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E441E-C19F-3229-3A4F-4D7A1B19876E}"/>
              </a:ext>
            </a:extLst>
          </p:cNvPr>
          <p:cNvSpPr txBox="1"/>
          <p:nvPr/>
        </p:nvSpPr>
        <p:spPr>
          <a:xfrm>
            <a:off x="750382" y="3664536"/>
            <a:ext cx="4325674" cy="175432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ol.style2 { list-style-type: lower-alpha; }</a:t>
            </a:r>
          </a:p>
          <a:p>
            <a:r>
              <a:rPr lang="en-US" altLang="ko-KR" dirty="0"/>
              <a:t>&lt;ol class=</a:t>
            </a:r>
            <a:r>
              <a:rPr lang="ko-KR" altLang="en-US" sz="1800" b="1" dirty="0">
                <a:solidFill>
                  <a:srgbClr val="FF0000"/>
                </a:solidFill>
              </a:rPr>
              <a:t>"</a:t>
            </a:r>
            <a:r>
              <a:rPr lang="en-US" altLang="ko-KR" dirty="0">
                <a:solidFill>
                  <a:srgbClr val="FF0000"/>
                </a:solidFill>
              </a:rPr>
              <a:t>style2</a:t>
            </a:r>
            <a:r>
              <a:rPr lang="ko-KR" altLang="en-US" sz="1800" b="1" dirty="0">
                <a:solidFill>
                  <a:srgbClr val="FF0000"/>
                </a:solidFill>
              </a:rPr>
              <a:t>"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우유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커피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	&lt;li&gt;</a:t>
            </a:r>
            <a:r>
              <a:rPr lang="ko-KR" altLang="en-US" dirty="0"/>
              <a:t>홍차</a:t>
            </a:r>
            <a:r>
              <a:rPr lang="en-US" altLang="ko-KR" dirty="0"/>
              <a:t>&lt;/li&gt;</a:t>
            </a:r>
          </a:p>
          <a:p>
            <a:r>
              <a:rPr lang="en-US" altLang="ko-KR" dirty="0"/>
              <a:t>&lt;/ol&gt;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D463CB-EB04-A141-8786-C78A45D91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938" y="1722790"/>
            <a:ext cx="1296144" cy="12961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3ED5918-C5FE-34D1-C28C-9DAE9626C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631" y="3839067"/>
            <a:ext cx="1062270" cy="131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43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6E1EE-3A66-7569-5297-282DA487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(9)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리스트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1D5F79-00DA-1BCA-0D73-CC16FB18D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052736"/>
            <a:ext cx="7772400" cy="548283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이미지를 리스트 항목의 마커로 사용한다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ul { list-style-image: url(</a:t>
            </a:r>
            <a:r>
              <a:rPr lang="en-US" altLang="ko-KR" sz="2000" dirty="0">
                <a:solidFill>
                  <a:srgbClr val="FF0000"/>
                </a:solidFill>
              </a:rPr>
              <a:t>'</a:t>
            </a:r>
            <a:r>
              <a:rPr lang="en-US" altLang="ko-KR" dirty="0">
                <a:solidFill>
                  <a:srgbClr val="FF0000"/>
                </a:solidFill>
              </a:rPr>
              <a:t>bullet.png</a:t>
            </a:r>
            <a:r>
              <a:rPr lang="en-US" altLang="ko-KR" sz="2000" dirty="0">
                <a:solidFill>
                  <a:srgbClr val="FF0000"/>
                </a:solidFill>
              </a:rPr>
              <a:t>'</a:t>
            </a:r>
            <a:r>
              <a:rPr lang="en-US" altLang="ko-KR" dirty="0">
                <a:solidFill>
                  <a:srgbClr val="FF0000"/>
                </a:solidFill>
              </a:rPr>
              <a:t>); }</a:t>
            </a:r>
          </a:p>
          <a:p>
            <a:pPr lvl="1"/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dirty="0">
              <a:solidFill>
                <a:srgbClr val="FF0000"/>
              </a:solidFill>
            </a:endParaRPr>
          </a:p>
          <a:p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40D3A5-135F-DEA6-0DF7-AA6C8F2A7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6FE1E9-72CC-21D5-E789-CAFA687F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A21EC-2D9A-8D10-A3B1-9959C908F0A5}"/>
              </a:ext>
            </a:extLst>
          </p:cNvPr>
          <p:cNvSpPr txBox="1"/>
          <p:nvPr/>
        </p:nvSpPr>
        <p:spPr>
          <a:xfrm>
            <a:off x="4445000" y="1052736"/>
            <a:ext cx="4572000" cy="53245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&lt;!DOCTYPE </a:t>
            </a:r>
            <a:r>
              <a:rPr lang="ko-KR" altLang="en-US" sz="1000" dirty="0" err="1"/>
              <a:t>html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</a:t>
            </a:r>
            <a:r>
              <a:rPr lang="ko-KR" altLang="en-US" sz="1000" dirty="0" err="1"/>
              <a:t>html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</a:t>
            </a:r>
            <a:r>
              <a:rPr lang="ko-KR" altLang="en-US" sz="1000" dirty="0" err="1"/>
              <a:t>head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</a:t>
            </a:r>
            <a:r>
              <a:rPr lang="ko-KR" altLang="en-US" sz="1000" dirty="0" err="1"/>
              <a:t>title</a:t>
            </a:r>
            <a:r>
              <a:rPr lang="ko-KR" altLang="en-US" sz="1000" dirty="0"/>
              <a:t>&gt;리스트 스타일 예제&lt;/</a:t>
            </a:r>
            <a:r>
              <a:rPr lang="ko-KR" altLang="en-US" sz="1000" dirty="0" err="1"/>
              <a:t>title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&lt;style&gt;</a:t>
            </a:r>
          </a:p>
          <a:p>
            <a:r>
              <a:rPr lang="ko-KR" altLang="en-US" sz="1000" dirty="0"/>
              <a:t>	ul.one { </a:t>
            </a:r>
            <a:r>
              <a:rPr lang="ko-KR" altLang="en-US" sz="1000" dirty="0" err="1"/>
              <a:t>list</a:t>
            </a:r>
            <a:r>
              <a:rPr lang="ko-KR" altLang="en-US" sz="1000" dirty="0"/>
              <a:t>-style-</a:t>
            </a:r>
            <a:r>
              <a:rPr lang="ko-KR" altLang="en-US" sz="1000" dirty="0" err="1"/>
              <a:t>type</a:t>
            </a:r>
            <a:r>
              <a:rPr lang="ko-KR" altLang="en-US" sz="1000" dirty="0"/>
              <a:t>: </a:t>
            </a:r>
            <a:r>
              <a:rPr lang="ko-KR" altLang="en-US" sz="1000" dirty="0" err="1"/>
              <a:t>disc</a:t>
            </a:r>
            <a:r>
              <a:rPr lang="ko-KR" altLang="en-US" sz="1000" dirty="0"/>
              <a:t>; }</a:t>
            </a:r>
          </a:p>
          <a:p>
            <a:r>
              <a:rPr lang="ko-KR" altLang="en-US" sz="1000" dirty="0"/>
              <a:t>	</a:t>
            </a:r>
            <a:r>
              <a:rPr lang="ko-KR" altLang="en-US" sz="1000" dirty="0" err="1"/>
              <a:t>ul.two</a:t>
            </a:r>
            <a:r>
              <a:rPr lang="ko-KR" altLang="en-US" sz="1000" dirty="0"/>
              <a:t> { </a:t>
            </a:r>
            <a:r>
              <a:rPr lang="ko-KR" altLang="en-US" sz="1000" dirty="0" err="1"/>
              <a:t>list</a:t>
            </a:r>
            <a:r>
              <a:rPr lang="ko-KR" altLang="en-US" sz="1000" dirty="0"/>
              <a:t>-style-</a:t>
            </a:r>
            <a:r>
              <a:rPr lang="ko-KR" altLang="en-US" sz="1000" dirty="0" err="1"/>
              <a:t>type</a:t>
            </a:r>
            <a:r>
              <a:rPr lang="ko-KR" altLang="en-US" sz="1000" dirty="0"/>
              <a:t>: </a:t>
            </a:r>
            <a:r>
              <a:rPr lang="ko-KR" altLang="en-US" sz="1000" dirty="0" err="1"/>
              <a:t>circle</a:t>
            </a:r>
            <a:r>
              <a:rPr lang="ko-KR" altLang="en-US" sz="1000" dirty="0"/>
              <a:t>; }</a:t>
            </a:r>
          </a:p>
          <a:p>
            <a:r>
              <a:rPr lang="ko-KR" altLang="en-US" sz="1000" dirty="0"/>
              <a:t>	</a:t>
            </a:r>
            <a:r>
              <a:rPr lang="ko-KR" altLang="en-US" sz="1000" dirty="0" err="1"/>
              <a:t>ul.three</a:t>
            </a:r>
            <a:r>
              <a:rPr lang="ko-KR" altLang="en-US" sz="1000" dirty="0"/>
              <a:t> { </a:t>
            </a:r>
            <a:r>
              <a:rPr lang="ko-KR" altLang="en-US" sz="1000" dirty="0" err="1"/>
              <a:t>list</a:t>
            </a:r>
            <a:r>
              <a:rPr lang="ko-KR" altLang="en-US" sz="1000" dirty="0"/>
              <a:t>-style-</a:t>
            </a:r>
            <a:r>
              <a:rPr lang="ko-KR" altLang="en-US" sz="1000" dirty="0" err="1"/>
              <a:t>type</a:t>
            </a:r>
            <a:r>
              <a:rPr lang="ko-KR" altLang="en-US" sz="1000" dirty="0"/>
              <a:t>: </a:t>
            </a:r>
            <a:r>
              <a:rPr lang="ko-KR" altLang="en-US" sz="1000" dirty="0" err="1"/>
              <a:t>square</a:t>
            </a:r>
            <a:r>
              <a:rPr lang="ko-KR" altLang="en-US" sz="1000" dirty="0"/>
              <a:t>; }</a:t>
            </a:r>
          </a:p>
          <a:p>
            <a:r>
              <a:rPr lang="ko-KR" altLang="en-US" sz="1000" dirty="0"/>
              <a:t>	</a:t>
            </a:r>
            <a:r>
              <a:rPr lang="ko-KR" altLang="en-US" sz="1000" dirty="0" err="1"/>
              <a:t>ul.imgs</a:t>
            </a:r>
            <a:r>
              <a:rPr lang="ko-KR" altLang="en-US" sz="1000" dirty="0"/>
              <a:t> { </a:t>
            </a:r>
            <a:r>
              <a:rPr lang="ko-KR" altLang="en-US" sz="1000" dirty="0" err="1"/>
              <a:t>list-style-image:url</a:t>
            </a:r>
            <a:r>
              <a:rPr lang="ko-KR" altLang="en-US" sz="1000" dirty="0"/>
              <a:t>('</a:t>
            </a:r>
            <a:r>
              <a:rPr lang="ko-KR" altLang="en-US" sz="1000" dirty="0" err="1"/>
              <a:t>test.png</a:t>
            </a:r>
            <a:r>
              <a:rPr lang="ko-KR" altLang="en-US" sz="1000" dirty="0"/>
              <a:t>'); }</a:t>
            </a:r>
          </a:p>
          <a:p>
            <a:r>
              <a:rPr lang="ko-KR" altLang="en-US" sz="1000" dirty="0"/>
              <a:t>&lt;/style&gt;</a:t>
            </a:r>
          </a:p>
          <a:p>
            <a:r>
              <a:rPr lang="ko-KR" altLang="en-US" sz="1000" dirty="0"/>
              <a:t>&lt;/</a:t>
            </a:r>
            <a:r>
              <a:rPr lang="ko-KR" altLang="en-US" sz="1000" dirty="0" err="1"/>
              <a:t>head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&lt;body&gt;</a:t>
            </a:r>
          </a:p>
          <a:p>
            <a:r>
              <a:rPr lang="ko-KR" altLang="en-US" sz="1000" dirty="0"/>
              <a:t>&lt;ul </a:t>
            </a:r>
            <a:r>
              <a:rPr lang="ko-KR" altLang="en-US" sz="1000" dirty="0" err="1"/>
              <a:t>class</a:t>
            </a:r>
            <a:r>
              <a:rPr lang="ko-KR" altLang="en-US" sz="1000" dirty="0"/>
              <a:t>="</a:t>
            </a:r>
            <a:r>
              <a:rPr lang="ko-KR" altLang="en-US" sz="1000" dirty="0" err="1"/>
              <a:t>one</a:t>
            </a:r>
            <a:r>
              <a:rPr lang="ko-KR" altLang="en-US" sz="1000" dirty="0"/>
              <a:t>"&gt;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&gt;우유&lt;/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&gt;커피&lt;/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&gt;홍차&lt;/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&lt;/ul&gt;</a:t>
            </a:r>
          </a:p>
          <a:p>
            <a:r>
              <a:rPr lang="ko-KR" altLang="en-US" sz="1000" dirty="0"/>
              <a:t>&lt;ul </a:t>
            </a:r>
            <a:r>
              <a:rPr lang="ko-KR" altLang="en-US" sz="1000" dirty="0" err="1"/>
              <a:t>class</a:t>
            </a:r>
            <a:r>
              <a:rPr lang="ko-KR" altLang="en-US" sz="1000" dirty="0"/>
              <a:t>="</a:t>
            </a:r>
            <a:r>
              <a:rPr lang="ko-KR" altLang="en-US" sz="1000" dirty="0" err="1"/>
              <a:t>two</a:t>
            </a:r>
            <a:r>
              <a:rPr lang="ko-KR" altLang="en-US" sz="1000" dirty="0"/>
              <a:t>"&gt;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&gt;사과&lt;/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&gt;포도&lt;/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&gt;딸기&lt;/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&lt;/ul&gt;</a:t>
            </a:r>
          </a:p>
          <a:p>
            <a:r>
              <a:rPr lang="ko-KR" altLang="en-US" sz="1000" dirty="0"/>
              <a:t>&lt;ul </a:t>
            </a:r>
            <a:r>
              <a:rPr lang="ko-KR" altLang="en-US" sz="1000" dirty="0" err="1"/>
              <a:t>class</a:t>
            </a:r>
            <a:r>
              <a:rPr lang="ko-KR" altLang="en-US" sz="1000" dirty="0"/>
              <a:t>="</a:t>
            </a:r>
            <a:r>
              <a:rPr lang="ko-KR" altLang="en-US" sz="1000" dirty="0" err="1"/>
              <a:t>three</a:t>
            </a:r>
            <a:r>
              <a:rPr lang="ko-KR" altLang="en-US" sz="1000" dirty="0"/>
              <a:t>"&gt;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&gt;당근&lt;/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&gt;말&lt;/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&gt;채찍&lt;/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&lt;/ul&gt;</a:t>
            </a:r>
          </a:p>
          <a:p>
            <a:r>
              <a:rPr lang="ko-KR" altLang="en-US" sz="1000" dirty="0"/>
              <a:t>&lt;ul </a:t>
            </a:r>
            <a:r>
              <a:rPr lang="ko-KR" altLang="en-US" sz="1000" dirty="0" err="1"/>
              <a:t>class</a:t>
            </a:r>
            <a:r>
              <a:rPr lang="ko-KR" altLang="en-US" sz="1000" dirty="0"/>
              <a:t>="</a:t>
            </a:r>
            <a:r>
              <a:rPr lang="ko-KR" altLang="en-US" sz="1000" dirty="0" err="1"/>
              <a:t>imgs</a:t>
            </a:r>
            <a:r>
              <a:rPr lang="ko-KR" altLang="en-US" sz="1000" dirty="0"/>
              <a:t>"&gt;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&gt;참나무&lt;/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&gt;소나무&lt;/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  <a:r>
              <a:rPr lang="ko-KR" altLang="en-US" sz="1000" dirty="0" err="1"/>
              <a:t>벛꽃나무</a:t>
            </a:r>
            <a:r>
              <a:rPr lang="ko-KR" altLang="en-US" sz="1000" dirty="0"/>
              <a:t>&lt;/</a:t>
            </a:r>
            <a:r>
              <a:rPr lang="ko-KR" altLang="en-US" sz="1000" dirty="0" err="1"/>
              <a:t>li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&lt;/ul&gt;</a:t>
            </a:r>
          </a:p>
          <a:p>
            <a:r>
              <a:rPr lang="ko-KR" altLang="en-US" sz="1000" dirty="0"/>
              <a:t>&lt;/body&gt;</a:t>
            </a:r>
          </a:p>
          <a:p>
            <a:r>
              <a:rPr lang="ko-KR" altLang="en-US" sz="1000" dirty="0"/>
              <a:t>&lt;/</a:t>
            </a:r>
            <a:r>
              <a:rPr lang="ko-KR" altLang="en-US" sz="1000" dirty="0" err="1"/>
              <a:t>html</a:t>
            </a:r>
            <a:r>
              <a:rPr lang="ko-KR" altLang="en-US" sz="1000" dirty="0"/>
              <a:t>&gt;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9E87AD7-A1B3-4F91-71D7-87CCDD780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851936"/>
            <a:ext cx="1466671" cy="425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24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E543E-E4FA-1CE7-282B-C1B6ABB2F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(10)</a:t>
            </a:r>
            <a:br>
              <a:rPr lang="en-US" altLang="ko-KR" dirty="0"/>
            </a:br>
            <a:r>
              <a:rPr lang="en-US" altLang="ko-KR" dirty="0"/>
              <a:t>				</a:t>
            </a:r>
            <a:r>
              <a:rPr lang="ko-KR" altLang="en-US" dirty="0"/>
              <a:t>네비게이션 바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7F6C03-0C80-D58D-EF05-ED621191A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052736"/>
            <a:ext cx="7772400" cy="831081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네비게이션 바를 만들기 위한 스타일 코드이다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리스트 태그를 응용하여 만든 형태로 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20EB70-D427-79D7-1E2B-3B5AB8039C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7455A2-C36C-2F7E-DDA1-D40A6B817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2312A-AD74-50A0-5BEF-63DB3E5F2DC3}"/>
              </a:ext>
            </a:extLst>
          </p:cNvPr>
          <p:cNvSpPr txBox="1"/>
          <p:nvPr/>
        </p:nvSpPr>
        <p:spPr>
          <a:xfrm>
            <a:off x="611560" y="2060848"/>
            <a:ext cx="4464496" cy="415498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&lt;style&gt;</a:t>
            </a:r>
          </a:p>
          <a:p>
            <a:r>
              <a:rPr lang="en-US" altLang="ko-KR" sz="1200" dirty="0"/>
              <a:t>	ul {</a:t>
            </a:r>
          </a:p>
          <a:p>
            <a:r>
              <a:rPr lang="en-US" altLang="ko-KR" sz="1200" dirty="0"/>
              <a:t>		list-style: none;</a:t>
            </a:r>
          </a:p>
          <a:p>
            <a:r>
              <a:rPr lang="en-US" altLang="ko-KR" sz="1200" dirty="0"/>
              <a:t>		text-align: center;</a:t>
            </a:r>
          </a:p>
          <a:p>
            <a:r>
              <a:rPr lang="en-US" altLang="ko-KR" sz="1200" dirty="0"/>
              <a:t>		border-top: 1px solid red;</a:t>
            </a:r>
          </a:p>
          <a:p>
            <a:r>
              <a:rPr lang="en-US" altLang="ko-KR" sz="1200" dirty="0"/>
              <a:t>		border-bottom: 1px solid red;</a:t>
            </a:r>
          </a:p>
          <a:p>
            <a:r>
              <a:rPr lang="en-US" altLang="ko-KR" sz="1200" dirty="0"/>
              <a:t>		padding: 10px 0;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	ul li {</a:t>
            </a:r>
          </a:p>
          <a:p>
            <a:r>
              <a:rPr lang="en-US" altLang="ko-KR" sz="1200" dirty="0"/>
              <a:t>		display: inline;</a:t>
            </a:r>
          </a:p>
          <a:p>
            <a:r>
              <a:rPr lang="en-US" altLang="ko-KR" sz="1200" dirty="0"/>
              <a:t>		</a:t>
            </a:r>
            <a:r>
              <a:rPr lang="en-US" altLang="ko-KR" sz="1200" dirty="0" err="1"/>
              <a:t>text-transform:uppercase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/>
              <a:t>		padding: 0 10px;</a:t>
            </a:r>
          </a:p>
          <a:p>
            <a:r>
              <a:rPr lang="en-US" altLang="ko-KR" sz="1200" dirty="0"/>
              <a:t>		letter-spacing: 10px;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	ul li a {</a:t>
            </a:r>
          </a:p>
          <a:p>
            <a:r>
              <a:rPr lang="en-US" altLang="ko-KR" sz="1200" dirty="0"/>
              <a:t>		text-decoration: none;</a:t>
            </a:r>
          </a:p>
          <a:p>
            <a:r>
              <a:rPr lang="en-US" altLang="ko-KR" sz="1200" dirty="0"/>
              <a:t>		</a:t>
            </a:r>
            <a:r>
              <a:rPr lang="en-US" altLang="ko-KR" sz="1200" dirty="0" err="1"/>
              <a:t>color:black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	ul li a:hover {</a:t>
            </a:r>
          </a:p>
          <a:p>
            <a:r>
              <a:rPr lang="en-US" altLang="ko-KR" sz="1200" dirty="0"/>
              <a:t>		text-decoration: underline;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&lt;/style&gt;</a:t>
            </a:r>
            <a:endParaRPr lang="ko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B90CE8-E603-BDFF-C202-EA6F67BDA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594" y="3573016"/>
            <a:ext cx="3706812" cy="66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06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81E87-0172-2865-AD26-E8C74BBBD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(11)</a:t>
            </a:r>
            <a:br>
              <a:rPr lang="en-US" altLang="ko-KR" dirty="0"/>
            </a:br>
            <a:r>
              <a:rPr lang="en-US" altLang="ko-KR" dirty="0"/>
              <a:t>				</a:t>
            </a:r>
            <a:r>
              <a:rPr lang="ko-KR" altLang="en-US" dirty="0"/>
              <a:t>테이블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BB5A5-8AA8-EB46-F7F7-5F640662A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449" y="1120422"/>
            <a:ext cx="7772400" cy="1008112"/>
          </a:xfrm>
        </p:spPr>
        <p:txBody>
          <a:bodyPr>
            <a:noAutofit/>
          </a:bodyPr>
          <a:lstStyle/>
          <a:p>
            <a:r>
              <a:rPr lang="en-US" altLang="ko-KR" sz="1400" b="1" dirty="0"/>
              <a:t>border,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border-collapse</a:t>
            </a:r>
          </a:p>
          <a:p>
            <a:pPr lvl="1"/>
            <a:r>
              <a:rPr lang="en-US" altLang="ko-KR" sz="1400" dirty="0"/>
              <a:t>border </a:t>
            </a:r>
          </a:p>
          <a:p>
            <a:pPr lvl="2"/>
            <a:r>
              <a:rPr lang="ko-KR" altLang="en-US" sz="1400" dirty="0"/>
              <a:t>셀과 행</a:t>
            </a:r>
            <a:r>
              <a:rPr lang="en-US" altLang="ko-KR" sz="1400" dirty="0"/>
              <a:t>, </a:t>
            </a:r>
            <a:r>
              <a:rPr lang="ko-KR" altLang="en-US" sz="1400" dirty="0"/>
              <a:t>열 전체 테이블의 테두리를 정의한다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border-collapse</a:t>
            </a:r>
          </a:p>
          <a:p>
            <a:pPr lvl="2"/>
            <a:r>
              <a:rPr lang="ko-KR" altLang="en-US" sz="1400" dirty="0"/>
              <a:t>셀 테두리의 겹침 여부를 결정한다</a:t>
            </a:r>
            <a:r>
              <a:rPr lang="en-US" altLang="ko-KR" sz="140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4516B4-FFEA-E82A-D236-4568E941C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2C3A17-6B14-D8AC-AEA6-8CEDC249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1F81A-6BDE-BB31-3BB8-E9E72D59EEFA}"/>
              </a:ext>
            </a:extLst>
          </p:cNvPr>
          <p:cNvSpPr txBox="1"/>
          <p:nvPr/>
        </p:nvSpPr>
        <p:spPr>
          <a:xfrm>
            <a:off x="3347864" y="2604342"/>
            <a:ext cx="5508104" cy="383181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900" dirty="0"/>
              <a:t>&lt;!DOCTYPE </a:t>
            </a:r>
            <a:r>
              <a:rPr lang="ko-KR" altLang="en-US" sz="900" dirty="0" err="1"/>
              <a:t>html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&lt;</a:t>
            </a:r>
            <a:r>
              <a:rPr lang="ko-KR" altLang="en-US" sz="900" dirty="0" err="1"/>
              <a:t>html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&lt;</a:t>
            </a:r>
            <a:r>
              <a:rPr lang="ko-KR" altLang="en-US" sz="900" dirty="0" err="1"/>
              <a:t>head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&lt;</a:t>
            </a:r>
            <a:r>
              <a:rPr lang="ko-KR" altLang="en-US" sz="900" dirty="0" err="1"/>
              <a:t>title</a:t>
            </a:r>
            <a:r>
              <a:rPr lang="ko-KR" altLang="en-US" sz="900" dirty="0"/>
              <a:t>&gt;표 스타일 예제</a:t>
            </a:r>
            <a:r>
              <a:rPr lang="en-US" altLang="ko-KR" sz="900" dirty="0"/>
              <a:t>1</a:t>
            </a:r>
            <a:r>
              <a:rPr lang="ko-KR" altLang="en-US" sz="900" dirty="0"/>
              <a:t>&lt;/</a:t>
            </a:r>
            <a:r>
              <a:rPr lang="ko-KR" altLang="en-US" sz="900" dirty="0" err="1"/>
              <a:t>title</a:t>
            </a:r>
            <a:r>
              <a:rPr lang="ko-KR" altLang="en-US" sz="900" dirty="0"/>
              <a:t>&gt;</a:t>
            </a:r>
          </a:p>
          <a:p>
            <a:r>
              <a:rPr lang="ko-KR" altLang="en-US" sz="900" b="1" dirty="0"/>
              <a:t>&lt;style&gt;</a:t>
            </a:r>
          </a:p>
          <a:p>
            <a:r>
              <a:rPr lang="ko-KR" altLang="en-US" sz="900" b="1" dirty="0"/>
              <a:t>	</a:t>
            </a:r>
            <a:r>
              <a:rPr lang="ko-KR" altLang="en-US" sz="900" b="1" dirty="0" err="1"/>
              <a:t>table</a:t>
            </a:r>
            <a:r>
              <a:rPr lang="ko-KR" altLang="en-US" sz="900" b="1" dirty="0"/>
              <a:t> {</a:t>
            </a:r>
          </a:p>
          <a:p>
            <a:r>
              <a:rPr lang="ko-KR" altLang="en-US" sz="900" b="1" dirty="0"/>
              <a:t>  		</a:t>
            </a:r>
            <a:r>
              <a:rPr lang="ko-KR" altLang="en-US" sz="900" b="1" dirty="0" err="1"/>
              <a:t>border</a:t>
            </a:r>
            <a:r>
              <a:rPr lang="ko-KR" altLang="en-US" sz="900" b="1" dirty="0"/>
              <a:t>: 1px </a:t>
            </a:r>
            <a:r>
              <a:rPr lang="ko-KR" altLang="en-US" sz="900" b="1" dirty="0" err="1"/>
              <a:t>solid</a:t>
            </a:r>
            <a:r>
              <a:rPr lang="ko-KR" altLang="en-US" sz="900" b="1" dirty="0"/>
              <a:t> #ccc;</a:t>
            </a:r>
          </a:p>
          <a:p>
            <a:r>
              <a:rPr lang="ko-KR" altLang="en-US" sz="900" b="1" dirty="0"/>
              <a:t>  		</a:t>
            </a:r>
            <a:r>
              <a:rPr lang="ko-KR" altLang="en-US" sz="900" b="1" dirty="0" err="1"/>
              <a:t>border-collapse</a:t>
            </a:r>
            <a:r>
              <a:rPr lang="ko-KR" altLang="en-US" sz="900" b="1" dirty="0"/>
              <a:t>: </a:t>
            </a:r>
            <a:r>
              <a:rPr lang="ko-KR" altLang="en-US" sz="900" b="1" dirty="0" err="1"/>
              <a:t>collapse</a:t>
            </a:r>
            <a:r>
              <a:rPr lang="ko-KR" altLang="en-US" sz="900" b="1" dirty="0"/>
              <a:t>; /* 셀 테두리를 하나로 합침 */</a:t>
            </a:r>
          </a:p>
          <a:p>
            <a:r>
              <a:rPr lang="ko-KR" altLang="en-US" sz="900" b="1" dirty="0"/>
              <a:t>	}</a:t>
            </a:r>
          </a:p>
          <a:p>
            <a:r>
              <a:rPr lang="ko-KR" altLang="en-US" sz="900" b="1" dirty="0"/>
              <a:t>	</a:t>
            </a:r>
            <a:r>
              <a:rPr lang="ko-KR" altLang="en-US" sz="900" b="1" dirty="0" err="1"/>
              <a:t>th</a:t>
            </a:r>
            <a:r>
              <a:rPr lang="ko-KR" altLang="en-US" sz="900" b="1" dirty="0"/>
              <a:t>, </a:t>
            </a:r>
            <a:r>
              <a:rPr lang="ko-KR" altLang="en-US" sz="900" b="1" dirty="0" err="1"/>
              <a:t>td</a:t>
            </a:r>
            <a:r>
              <a:rPr lang="ko-KR" altLang="en-US" sz="900" b="1" dirty="0"/>
              <a:t> {</a:t>
            </a:r>
          </a:p>
          <a:p>
            <a:r>
              <a:rPr lang="ko-KR" altLang="en-US" sz="900" b="1" dirty="0"/>
              <a:t>  		</a:t>
            </a:r>
            <a:r>
              <a:rPr lang="ko-KR" altLang="en-US" sz="900" b="1" dirty="0" err="1"/>
              <a:t>border</a:t>
            </a:r>
            <a:r>
              <a:rPr lang="ko-KR" altLang="en-US" sz="900" b="1" dirty="0"/>
              <a:t>: 1px </a:t>
            </a:r>
            <a:r>
              <a:rPr lang="ko-KR" altLang="en-US" sz="900" b="1" dirty="0" err="1"/>
              <a:t>solid</a:t>
            </a:r>
            <a:r>
              <a:rPr lang="ko-KR" altLang="en-US" sz="900" b="1" dirty="0"/>
              <a:t> #999;</a:t>
            </a:r>
          </a:p>
          <a:p>
            <a:r>
              <a:rPr lang="ko-KR" altLang="en-US" sz="900" b="1" dirty="0"/>
              <a:t>	}</a:t>
            </a:r>
          </a:p>
          <a:p>
            <a:r>
              <a:rPr lang="ko-KR" altLang="en-US" sz="900" b="1" dirty="0"/>
              <a:t>&lt;/style&gt;</a:t>
            </a:r>
          </a:p>
          <a:p>
            <a:r>
              <a:rPr lang="ko-KR" altLang="en-US" sz="900" dirty="0"/>
              <a:t>&lt;/</a:t>
            </a:r>
            <a:r>
              <a:rPr lang="ko-KR" altLang="en-US" sz="900" dirty="0" err="1"/>
              <a:t>head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&lt;body&gt;</a:t>
            </a:r>
          </a:p>
          <a:p>
            <a:r>
              <a:rPr lang="ko-KR" altLang="en-US" sz="900" dirty="0"/>
              <a:t>	&lt;</a:t>
            </a:r>
            <a:r>
              <a:rPr lang="ko-KR" altLang="en-US" sz="900" dirty="0" err="1"/>
              <a:t>table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	&lt;</a:t>
            </a:r>
            <a:r>
              <a:rPr lang="ko-KR" altLang="en-US" sz="900" dirty="0" err="1"/>
              <a:t>tr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		&lt;</a:t>
            </a:r>
            <a:r>
              <a:rPr lang="ko-KR" altLang="en-US" sz="900" dirty="0" err="1"/>
              <a:t>td</a:t>
            </a:r>
            <a:r>
              <a:rPr lang="ko-KR" altLang="en-US" sz="900" dirty="0"/>
              <a:t>&gt;김철수&lt;/</a:t>
            </a:r>
            <a:r>
              <a:rPr lang="ko-KR" altLang="en-US" sz="900" dirty="0" err="1"/>
              <a:t>td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		&lt;</a:t>
            </a:r>
            <a:r>
              <a:rPr lang="ko-KR" altLang="en-US" sz="900" dirty="0" err="1"/>
              <a:t>td</a:t>
            </a:r>
            <a:r>
              <a:rPr lang="ko-KR" altLang="en-US" sz="900" dirty="0"/>
              <a:t>&gt;이민철&lt;/</a:t>
            </a:r>
            <a:r>
              <a:rPr lang="ko-KR" altLang="en-US" sz="900" dirty="0" err="1"/>
              <a:t>td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	&lt;/</a:t>
            </a:r>
            <a:r>
              <a:rPr lang="ko-KR" altLang="en-US" sz="900" dirty="0" err="1"/>
              <a:t>tr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	&lt;</a:t>
            </a:r>
            <a:r>
              <a:rPr lang="ko-KR" altLang="en-US" sz="900" dirty="0" err="1"/>
              <a:t>tr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		&lt;</a:t>
            </a:r>
            <a:r>
              <a:rPr lang="ko-KR" altLang="en-US" sz="900" dirty="0" err="1"/>
              <a:t>td</a:t>
            </a:r>
            <a:r>
              <a:rPr lang="ko-KR" altLang="en-US" sz="900" dirty="0"/>
              <a:t>&gt;</a:t>
            </a:r>
            <a:r>
              <a:rPr lang="ko-KR" altLang="en-US" sz="900" dirty="0" err="1"/>
              <a:t>임가중</a:t>
            </a:r>
            <a:r>
              <a:rPr lang="ko-KR" altLang="en-US" sz="900" dirty="0"/>
              <a:t>&lt;/</a:t>
            </a:r>
            <a:r>
              <a:rPr lang="ko-KR" altLang="en-US" sz="900" dirty="0" err="1"/>
              <a:t>td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		&lt;</a:t>
            </a:r>
            <a:r>
              <a:rPr lang="ko-KR" altLang="en-US" sz="900" dirty="0" err="1"/>
              <a:t>td</a:t>
            </a:r>
            <a:r>
              <a:rPr lang="ko-KR" altLang="en-US" sz="900" dirty="0"/>
              <a:t>&gt;</a:t>
            </a:r>
            <a:r>
              <a:rPr lang="ko-KR" altLang="en-US" sz="900" dirty="0" err="1"/>
              <a:t>윤이슬</a:t>
            </a:r>
            <a:r>
              <a:rPr lang="ko-KR" altLang="en-US" sz="900" dirty="0"/>
              <a:t>&lt;/</a:t>
            </a:r>
            <a:r>
              <a:rPr lang="ko-KR" altLang="en-US" sz="900" dirty="0" err="1"/>
              <a:t>td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	&lt;/</a:t>
            </a:r>
            <a:r>
              <a:rPr lang="ko-KR" altLang="en-US" sz="900" dirty="0" err="1"/>
              <a:t>tr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	&lt;/</a:t>
            </a:r>
            <a:r>
              <a:rPr lang="ko-KR" altLang="en-US" sz="900" dirty="0" err="1"/>
              <a:t>table</a:t>
            </a:r>
            <a:r>
              <a:rPr lang="ko-KR" altLang="en-US" sz="900" dirty="0"/>
              <a:t>&gt;</a:t>
            </a:r>
          </a:p>
          <a:p>
            <a:r>
              <a:rPr lang="ko-KR" altLang="en-US" sz="900" dirty="0"/>
              <a:t>&lt;/body&gt;</a:t>
            </a:r>
          </a:p>
          <a:p>
            <a:r>
              <a:rPr lang="ko-KR" altLang="en-US" sz="900" dirty="0"/>
              <a:t>&lt;/</a:t>
            </a:r>
            <a:r>
              <a:rPr lang="ko-KR" altLang="en-US" sz="900" dirty="0" err="1"/>
              <a:t>html</a:t>
            </a:r>
            <a:r>
              <a:rPr lang="ko-KR" altLang="en-US" sz="900" dirty="0"/>
              <a:t>&gt;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C4C4F07-6AC2-FE12-49C5-73CA305B4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901" y="3537376"/>
            <a:ext cx="1000125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321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E0A7-B4DF-8EEA-6D45-E64A52D3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D6A630-FF70-BF16-BAC3-295C8F5AF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(12)</a:t>
            </a:r>
            <a:br>
              <a:rPr lang="en-US" altLang="ko-KR" dirty="0"/>
            </a:br>
            <a:r>
              <a:rPr lang="en-US" altLang="ko-KR" dirty="0"/>
              <a:t>				</a:t>
            </a:r>
            <a:r>
              <a:rPr lang="ko-KR" altLang="en-US" dirty="0"/>
              <a:t>테이블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20ACF7-7AF7-2D4D-5DE6-097F50B1E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449" y="1120422"/>
            <a:ext cx="7772400" cy="2308578"/>
          </a:xfrm>
        </p:spPr>
        <p:txBody>
          <a:bodyPr>
            <a:noAutofit/>
          </a:bodyPr>
          <a:lstStyle/>
          <a:p>
            <a:r>
              <a:rPr lang="en-US" altLang="ko-KR" sz="1400" b="1" dirty="0"/>
              <a:t>Width, padding, text-align</a:t>
            </a:r>
          </a:p>
          <a:p>
            <a:pPr lvl="1"/>
            <a:r>
              <a:rPr lang="en-US" altLang="ko-KR" sz="1400" dirty="0"/>
              <a:t>width</a:t>
            </a:r>
          </a:p>
          <a:p>
            <a:pPr lvl="2"/>
            <a:r>
              <a:rPr lang="ko-KR" altLang="en-US" sz="1400" dirty="0"/>
              <a:t>셀이나 테이블의 가로 길이를 설정한다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padding </a:t>
            </a:r>
          </a:p>
          <a:p>
            <a:pPr lvl="2"/>
            <a:r>
              <a:rPr lang="ko-KR" altLang="en-US" sz="1400" dirty="0"/>
              <a:t>셀 안쪽 여백을 설정한다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text-align</a:t>
            </a:r>
          </a:p>
          <a:p>
            <a:pPr lvl="2"/>
            <a:r>
              <a:rPr lang="ko-KR" altLang="en-US" sz="1400" dirty="0"/>
              <a:t>셀 안 텍스트를 정렬한다</a:t>
            </a:r>
            <a:r>
              <a:rPr lang="en-US" altLang="ko-KR" sz="1400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B51A3-D285-4FE2-F601-D70EB62CA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AA336B-7BB6-3E4C-EF75-CD89D795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C4CA8-C97C-3A39-3F53-5D24B78BB318}"/>
              </a:ext>
            </a:extLst>
          </p:cNvPr>
          <p:cNvSpPr txBox="1"/>
          <p:nvPr/>
        </p:nvSpPr>
        <p:spPr>
          <a:xfrm>
            <a:off x="4175649" y="2145546"/>
            <a:ext cx="4572000" cy="424731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&lt;!DOCTYPE </a:t>
            </a:r>
            <a:r>
              <a:rPr lang="ko-KR" altLang="en-US" sz="1000" dirty="0" err="1"/>
              <a:t>html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</a:t>
            </a:r>
            <a:r>
              <a:rPr lang="ko-KR" altLang="en-US" sz="1000" dirty="0" err="1"/>
              <a:t>html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</a:t>
            </a:r>
            <a:r>
              <a:rPr lang="ko-KR" altLang="en-US" sz="1000" dirty="0" err="1"/>
              <a:t>head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</a:t>
            </a:r>
            <a:r>
              <a:rPr lang="ko-KR" altLang="en-US" sz="1000" dirty="0" err="1"/>
              <a:t>title</a:t>
            </a:r>
            <a:r>
              <a:rPr lang="ko-KR" altLang="en-US" sz="1000" dirty="0"/>
              <a:t>&gt;표 스타일 예제2&lt;/</a:t>
            </a:r>
            <a:r>
              <a:rPr lang="ko-KR" altLang="en-US" sz="1000" dirty="0" err="1"/>
              <a:t>title</a:t>
            </a:r>
            <a:r>
              <a:rPr lang="ko-KR" altLang="en-US" sz="1000" dirty="0"/>
              <a:t>&gt;</a:t>
            </a:r>
          </a:p>
          <a:p>
            <a:r>
              <a:rPr lang="ko-KR" altLang="en-US" sz="1000" b="1" dirty="0"/>
              <a:t>&lt;style&gt;</a:t>
            </a:r>
          </a:p>
          <a:p>
            <a:r>
              <a:rPr lang="ko-KR" altLang="en-US" sz="1000" b="1" dirty="0"/>
              <a:t>	</a:t>
            </a:r>
            <a:r>
              <a:rPr lang="ko-KR" altLang="en-US" sz="1000" b="1" dirty="0" err="1"/>
              <a:t>table</a:t>
            </a:r>
            <a:r>
              <a:rPr lang="ko-KR" altLang="en-US" sz="1000" b="1" dirty="0"/>
              <a:t> {</a:t>
            </a:r>
          </a:p>
          <a:p>
            <a:r>
              <a:rPr lang="ko-KR" altLang="en-US" sz="1000" b="1" dirty="0"/>
              <a:t>  		</a:t>
            </a:r>
            <a:r>
              <a:rPr lang="ko-KR" altLang="en-US" sz="1000" b="1" dirty="0" err="1"/>
              <a:t>width</a:t>
            </a:r>
            <a:r>
              <a:rPr lang="ko-KR" altLang="en-US" sz="1000" b="1" dirty="0"/>
              <a:t>: 100%;</a:t>
            </a:r>
          </a:p>
          <a:p>
            <a:r>
              <a:rPr lang="ko-KR" altLang="en-US" sz="1000" b="1" dirty="0"/>
              <a:t>	}</a:t>
            </a:r>
          </a:p>
          <a:p>
            <a:r>
              <a:rPr lang="ko-KR" altLang="en-US" sz="1000" b="1" dirty="0"/>
              <a:t>	</a:t>
            </a:r>
            <a:r>
              <a:rPr lang="ko-KR" altLang="en-US" sz="1000" b="1" dirty="0" err="1"/>
              <a:t>th</a:t>
            </a:r>
            <a:r>
              <a:rPr lang="ko-KR" altLang="en-US" sz="1000" b="1" dirty="0"/>
              <a:t>, </a:t>
            </a:r>
            <a:r>
              <a:rPr lang="ko-KR" altLang="en-US" sz="1000" b="1" dirty="0" err="1"/>
              <a:t>td</a:t>
            </a:r>
            <a:r>
              <a:rPr lang="ko-KR" altLang="en-US" sz="1000" b="1" dirty="0"/>
              <a:t> {</a:t>
            </a:r>
          </a:p>
          <a:p>
            <a:r>
              <a:rPr lang="ko-KR" altLang="en-US" sz="1000" b="1" dirty="0"/>
              <a:t>  		</a:t>
            </a:r>
            <a:r>
              <a:rPr lang="ko-KR" altLang="en-US" sz="1000" b="1" dirty="0" err="1"/>
              <a:t>padding</a:t>
            </a:r>
            <a:r>
              <a:rPr lang="ko-KR" altLang="en-US" sz="1000" b="1" dirty="0"/>
              <a:t>: 10px;</a:t>
            </a:r>
          </a:p>
          <a:p>
            <a:r>
              <a:rPr lang="ko-KR" altLang="en-US" sz="1000" b="1" dirty="0"/>
              <a:t>  		text-align: center;</a:t>
            </a:r>
          </a:p>
          <a:p>
            <a:r>
              <a:rPr lang="ko-KR" altLang="en-US" sz="1000" b="1" dirty="0"/>
              <a:t>	}</a:t>
            </a:r>
          </a:p>
          <a:p>
            <a:r>
              <a:rPr lang="ko-KR" altLang="en-US" sz="1000" b="1" dirty="0"/>
              <a:t>&lt;/style&gt;</a:t>
            </a:r>
          </a:p>
          <a:p>
            <a:r>
              <a:rPr lang="ko-KR" altLang="en-US" sz="1000" dirty="0"/>
              <a:t>&lt;/</a:t>
            </a:r>
            <a:r>
              <a:rPr lang="ko-KR" altLang="en-US" sz="1000" dirty="0" err="1"/>
              <a:t>head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&lt;body&gt;</a:t>
            </a:r>
          </a:p>
          <a:p>
            <a:r>
              <a:rPr lang="ko-KR" altLang="en-US" sz="1000" dirty="0"/>
              <a:t>	&lt;</a:t>
            </a:r>
            <a:r>
              <a:rPr lang="ko-KR" altLang="en-US" sz="1000" dirty="0" err="1"/>
              <a:t>table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&lt;</a:t>
            </a:r>
            <a:r>
              <a:rPr lang="ko-KR" altLang="en-US" sz="1000" dirty="0" err="1"/>
              <a:t>tr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	&lt;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&gt;김철수&lt;/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	&lt;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&gt;이민철&lt;/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&lt;/</a:t>
            </a:r>
            <a:r>
              <a:rPr lang="ko-KR" altLang="en-US" sz="1000" dirty="0" err="1"/>
              <a:t>tr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&lt;</a:t>
            </a:r>
            <a:r>
              <a:rPr lang="ko-KR" altLang="en-US" sz="1000" dirty="0" err="1"/>
              <a:t>tr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	&lt;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</a:t>
            </a:r>
            <a:r>
              <a:rPr lang="ko-KR" altLang="en-US" sz="1000" dirty="0" err="1"/>
              <a:t>임가중</a:t>
            </a:r>
            <a:r>
              <a:rPr lang="ko-KR" altLang="en-US" sz="1000" dirty="0"/>
              <a:t>&lt;/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	&lt;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</a:t>
            </a:r>
            <a:r>
              <a:rPr lang="ko-KR" altLang="en-US" sz="1000" dirty="0" err="1"/>
              <a:t>윤이슬</a:t>
            </a:r>
            <a:r>
              <a:rPr lang="ko-KR" altLang="en-US" sz="1000" dirty="0"/>
              <a:t>&lt;/</a:t>
            </a:r>
            <a:r>
              <a:rPr lang="ko-KR" altLang="en-US" sz="1000" dirty="0" err="1"/>
              <a:t>td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	&lt;/</a:t>
            </a:r>
            <a:r>
              <a:rPr lang="ko-KR" altLang="en-US" sz="1000" dirty="0" err="1"/>
              <a:t>tr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	&lt;/</a:t>
            </a:r>
            <a:r>
              <a:rPr lang="ko-KR" altLang="en-US" sz="1000" dirty="0" err="1"/>
              <a:t>table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&lt;/body&gt;</a:t>
            </a:r>
          </a:p>
          <a:p>
            <a:r>
              <a:rPr lang="ko-KR" altLang="en-US" sz="1000" dirty="0"/>
              <a:t>&lt;/</a:t>
            </a:r>
            <a:r>
              <a:rPr lang="ko-KR" altLang="en-US" sz="1000" dirty="0" err="1"/>
              <a:t>html</a:t>
            </a:r>
            <a:r>
              <a:rPr lang="ko-KR" altLang="en-US" sz="1000" dirty="0"/>
              <a:t>&gt;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C37274C-A78C-3FF3-B87C-C5A5B252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3" y="4776838"/>
            <a:ext cx="3983757" cy="73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26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061E5-88EB-F43E-C79A-AB858CAE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7778B-1F02-4C91-8058-40AC23AC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박스모델과 응용</a:t>
            </a:r>
            <a:r>
              <a:rPr lang="en-US" altLang="ko-KR" dirty="0"/>
              <a:t>(13)</a:t>
            </a:r>
            <a:br>
              <a:rPr lang="en-US" altLang="ko-KR" dirty="0"/>
            </a:br>
            <a:r>
              <a:rPr lang="en-US" altLang="ko-KR" dirty="0"/>
              <a:t>				</a:t>
            </a:r>
            <a:r>
              <a:rPr lang="ko-KR" altLang="en-US" dirty="0"/>
              <a:t>테이블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542C1E-A40F-70D7-8264-6D2B6B556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485" y="980728"/>
            <a:ext cx="7772400" cy="2308578"/>
          </a:xfrm>
        </p:spPr>
        <p:txBody>
          <a:bodyPr>
            <a:noAutofit/>
          </a:bodyPr>
          <a:lstStyle/>
          <a:p>
            <a:r>
              <a:rPr lang="en-US" altLang="ko-KR" sz="1400" b="1" dirty="0"/>
              <a:t>background-color</a:t>
            </a:r>
            <a:r>
              <a:rPr lang="ko-KR" altLang="en-US" sz="1400" b="1" dirty="0"/>
              <a:t>로 헤더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줄무늬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마우스 오버 시 배경을 설정할 수 있다</a:t>
            </a:r>
            <a:r>
              <a:rPr lang="en-US" altLang="ko-KR" sz="1400" b="1" dirty="0"/>
              <a:t>.</a:t>
            </a:r>
            <a:endParaRPr lang="en-US" altLang="ko-KR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575592-997E-219B-C533-DC4C62772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CC34CA-C9A0-E1CD-1F48-51416166D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60832-7FD8-F40D-9B8A-206BD4486B0F}"/>
              </a:ext>
            </a:extLst>
          </p:cNvPr>
          <p:cNvSpPr txBox="1"/>
          <p:nvPr/>
        </p:nvSpPr>
        <p:spPr>
          <a:xfrm>
            <a:off x="683568" y="1361204"/>
            <a:ext cx="5542384" cy="501675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&lt;!DOCTYPE html&gt;</a:t>
            </a:r>
          </a:p>
          <a:p>
            <a:r>
              <a:rPr lang="en-US" altLang="ko-KR" sz="1000" dirty="0"/>
              <a:t>&lt;html&gt;</a:t>
            </a:r>
          </a:p>
          <a:p>
            <a:r>
              <a:rPr lang="en-US" altLang="ko-KR" sz="1000" dirty="0"/>
              <a:t>&lt;head&gt;</a:t>
            </a:r>
          </a:p>
          <a:p>
            <a:r>
              <a:rPr lang="en-US" altLang="ko-KR" sz="1000" dirty="0"/>
              <a:t>&lt;title&gt;</a:t>
            </a:r>
            <a:r>
              <a:rPr lang="ko-KR" altLang="en-US" sz="1000" dirty="0"/>
              <a:t>표 스타일 예제</a:t>
            </a:r>
            <a:r>
              <a:rPr lang="en-US" altLang="ko-KR" sz="1000" dirty="0"/>
              <a:t>3&lt;/title&gt;</a:t>
            </a:r>
          </a:p>
          <a:p>
            <a:r>
              <a:rPr lang="en-US" altLang="ko-KR" sz="1000" dirty="0"/>
              <a:t>&lt;style&gt;</a:t>
            </a:r>
          </a:p>
          <a:p>
            <a:r>
              <a:rPr lang="en-US" altLang="ko-KR" sz="1000" dirty="0"/>
              <a:t>	</a:t>
            </a:r>
            <a:r>
              <a:rPr lang="en-US" altLang="ko-KR" sz="1000" dirty="0" err="1"/>
              <a:t>th</a:t>
            </a:r>
            <a:r>
              <a:rPr lang="en-US" altLang="ko-KR" sz="1000" dirty="0"/>
              <a:t> {</a:t>
            </a:r>
          </a:p>
          <a:p>
            <a:r>
              <a:rPr lang="en-US" altLang="ko-KR" sz="1000" dirty="0"/>
              <a:t>  		background-color: #f2f2f2;</a:t>
            </a:r>
          </a:p>
          <a:p>
            <a:r>
              <a:rPr lang="en-US" altLang="ko-KR" sz="1000" dirty="0"/>
              <a:t>	}</a:t>
            </a:r>
          </a:p>
          <a:p>
            <a:endParaRPr lang="en-US" altLang="ko-KR" sz="1000" dirty="0"/>
          </a:p>
          <a:p>
            <a:r>
              <a:rPr lang="en-US" altLang="ko-KR" sz="1000" dirty="0"/>
              <a:t>	</a:t>
            </a:r>
            <a:r>
              <a:rPr lang="en-US" altLang="ko-KR" sz="1000" dirty="0" err="1"/>
              <a:t>tr:nth-child</a:t>
            </a:r>
            <a:r>
              <a:rPr lang="en-US" altLang="ko-KR" sz="1000" dirty="0"/>
              <a:t>(even) {</a:t>
            </a:r>
          </a:p>
          <a:p>
            <a:r>
              <a:rPr lang="en-US" altLang="ko-KR" sz="1000" dirty="0"/>
              <a:t>  		background-color: #f9f9f9;  /* </a:t>
            </a:r>
            <a:r>
              <a:rPr lang="ko-KR" altLang="en-US" sz="1000" dirty="0"/>
              <a:t>줄무늬 효과 *</a:t>
            </a:r>
            <a:r>
              <a:rPr lang="en-US" altLang="ko-KR" sz="1000" dirty="0"/>
              <a:t>/</a:t>
            </a:r>
          </a:p>
          <a:p>
            <a:r>
              <a:rPr lang="en-US" altLang="ko-KR" sz="1000" dirty="0"/>
              <a:t>	}</a:t>
            </a:r>
          </a:p>
          <a:p>
            <a:endParaRPr lang="en-US" altLang="ko-KR" sz="1000" dirty="0"/>
          </a:p>
          <a:p>
            <a:r>
              <a:rPr lang="en-US" altLang="ko-KR" sz="1000" dirty="0"/>
              <a:t>	</a:t>
            </a:r>
            <a:r>
              <a:rPr lang="en-US" altLang="ko-KR" sz="1000" dirty="0" err="1"/>
              <a:t>tr:hover</a:t>
            </a:r>
            <a:r>
              <a:rPr lang="en-US" altLang="ko-KR" sz="1000" dirty="0"/>
              <a:t> {</a:t>
            </a:r>
          </a:p>
          <a:p>
            <a:r>
              <a:rPr lang="en-US" altLang="ko-KR" sz="1000" dirty="0"/>
              <a:t> 		 background-color: #e6f7ff;  /* </a:t>
            </a:r>
            <a:r>
              <a:rPr lang="ko-KR" altLang="en-US" sz="1000" dirty="0"/>
              <a:t>마우스 오버 시 하이라이트 *</a:t>
            </a:r>
            <a:r>
              <a:rPr lang="en-US" altLang="ko-KR" sz="1000" dirty="0"/>
              <a:t>/</a:t>
            </a:r>
          </a:p>
          <a:p>
            <a:r>
              <a:rPr lang="en-US" altLang="ko-KR" sz="1000" dirty="0"/>
              <a:t>	}</a:t>
            </a:r>
          </a:p>
          <a:p>
            <a:r>
              <a:rPr lang="en-US" altLang="ko-KR" sz="1000" dirty="0"/>
              <a:t>&lt;/style&gt;</a:t>
            </a:r>
          </a:p>
          <a:p>
            <a:r>
              <a:rPr lang="en-US" altLang="ko-KR" sz="1000" dirty="0"/>
              <a:t>&lt;/head&gt;</a:t>
            </a:r>
          </a:p>
          <a:p>
            <a:r>
              <a:rPr lang="en-US" altLang="ko-KR" sz="1000" dirty="0"/>
              <a:t>&lt;body&gt;</a:t>
            </a:r>
          </a:p>
          <a:p>
            <a:r>
              <a:rPr lang="en-US" altLang="ko-KR" sz="1000" dirty="0"/>
              <a:t>	&lt;table&gt;</a:t>
            </a:r>
          </a:p>
          <a:p>
            <a:r>
              <a:rPr lang="en-US" altLang="ko-KR" sz="1000" dirty="0"/>
              <a:t>		&lt;tr&gt;</a:t>
            </a:r>
          </a:p>
          <a:p>
            <a:r>
              <a:rPr lang="en-US" altLang="ko-KR" sz="1000" dirty="0"/>
              <a:t>			&lt;td&gt;</a:t>
            </a:r>
            <a:r>
              <a:rPr lang="ko-KR" altLang="en-US" sz="1000" dirty="0"/>
              <a:t>김철수</a:t>
            </a:r>
            <a:r>
              <a:rPr lang="en-US" altLang="ko-KR" sz="1000" dirty="0"/>
              <a:t>&lt;/td&gt;</a:t>
            </a:r>
          </a:p>
          <a:p>
            <a:r>
              <a:rPr lang="en-US" altLang="ko-KR" sz="1000" dirty="0"/>
              <a:t>			&lt;td&gt;</a:t>
            </a:r>
            <a:r>
              <a:rPr lang="ko-KR" altLang="en-US" sz="1000" dirty="0"/>
              <a:t>이민철</a:t>
            </a:r>
            <a:r>
              <a:rPr lang="en-US" altLang="ko-KR" sz="1000" dirty="0"/>
              <a:t>&lt;/td&gt;</a:t>
            </a:r>
          </a:p>
          <a:p>
            <a:r>
              <a:rPr lang="en-US" altLang="ko-KR" sz="1000" dirty="0"/>
              <a:t>		&lt;/tr&gt;</a:t>
            </a:r>
          </a:p>
          <a:p>
            <a:r>
              <a:rPr lang="en-US" altLang="ko-KR" sz="1000" dirty="0"/>
              <a:t>		&lt;tr&gt;</a:t>
            </a:r>
          </a:p>
          <a:p>
            <a:r>
              <a:rPr lang="en-US" altLang="ko-KR" sz="1000" dirty="0"/>
              <a:t>			&lt;td&gt;</a:t>
            </a:r>
            <a:r>
              <a:rPr lang="ko-KR" altLang="en-US" sz="1000" dirty="0" err="1"/>
              <a:t>임가중</a:t>
            </a:r>
            <a:r>
              <a:rPr lang="en-US" altLang="ko-KR" sz="1000" dirty="0"/>
              <a:t>&lt;/td&gt;</a:t>
            </a:r>
          </a:p>
          <a:p>
            <a:r>
              <a:rPr lang="en-US" altLang="ko-KR" sz="1000" dirty="0"/>
              <a:t>			&lt;td&gt;</a:t>
            </a:r>
            <a:r>
              <a:rPr lang="ko-KR" altLang="en-US" sz="1000" dirty="0" err="1"/>
              <a:t>윤이슬</a:t>
            </a:r>
            <a:r>
              <a:rPr lang="en-US" altLang="ko-KR" sz="1000" dirty="0"/>
              <a:t>&lt;/td&gt;</a:t>
            </a:r>
          </a:p>
          <a:p>
            <a:r>
              <a:rPr lang="en-US" altLang="ko-KR" sz="1000" dirty="0"/>
              <a:t>		&lt;/tr&gt;</a:t>
            </a:r>
          </a:p>
          <a:p>
            <a:r>
              <a:rPr lang="en-US" altLang="ko-KR" sz="1000" dirty="0"/>
              <a:t>	&lt;/table&gt;</a:t>
            </a:r>
          </a:p>
          <a:p>
            <a:r>
              <a:rPr lang="en-US" altLang="ko-KR" sz="1000" dirty="0"/>
              <a:t>&lt;/body&gt;</a:t>
            </a:r>
          </a:p>
          <a:p>
            <a:r>
              <a:rPr lang="en-US" altLang="ko-KR" sz="1000" dirty="0"/>
              <a:t>&lt;/html&gt;</a:t>
            </a:r>
            <a:endParaRPr lang="ko-KR" altLang="en-US" sz="10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5F1C994-98E9-BAAE-FD6E-B38A10D89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170" y="3361984"/>
            <a:ext cx="1567355" cy="107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024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A2EDB-A17D-3806-7448-BF6B3BD5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6EF5C9-F9B7-545E-E9AE-9185954CA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52525"/>
            <a:ext cx="8820472" cy="5019675"/>
          </a:xfrm>
        </p:spPr>
        <p:txBody>
          <a:bodyPr/>
          <a:lstStyle/>
          <a:p>
            <a:r>
              <a:rPr lang="ko-KR" altLang="en-US" dirty="0"/>
              <a:t>웹 페이지를 만들고 화면과 같이 나오도록 스타일을 적용시켜본다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3009FF-3211-0BEF-F6AB-402DF1B112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A54EE8-3340-23BD-6A1E-6ED0B9B3C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473148-E691-40EF-E752-523B4EE07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772816"/>
            <a:ext cx="648652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536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3DF15-9494-D072-3EED-C711A8E8E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EE07FD-7195-EB3B-EA55-EBE9642E3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8375972" cy="5019675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표에 스타일을 적용하여 작성해본다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웹 사이트 레이아웃을 구현하는 것이 목적이며</a:t>
            </a:r>
            <a:r>
              <a:rPr lang="en-US" altLang="ko-KR" sz="1800" dirty="0"/>
              <a:t>, </a:t>
            </a:r>
            <a:r>
              <a:rPr lang="ko-KR" altLang="en-US" sz="1800" dirty="0"/>
              <a:t>헤더</a:t>
            </a:r>
            <a:r>
              <a:rPr lang="en-US" altLang="ko-KR" sz="1800" dirty="0"/>
              <a:t>(</a:t>
            </a:r>
            <a:r>
              <a:rPr lang="ko-KR" altLang="en-US" sz="1800" dirty="0"/>
              <a:t>제목 포함</a:t>
            </a:r>
            <a:r>
              <a:rPr lang="en-US" altLang="ko-KR" sz="1800" dirty="0"/>
              <a:t>), </a:t>
            </a:r>
            <a:r>
              <a:rPr lang="ko-KR" altLang="en-US" sz="1800" dirty="0"/>
              <a:t>좌측 사이드 메뉴</a:t>
            </a:r>
            <a:r>
              <a:rPr lang="en-US" altLang="ko-KR" sz="1800" dirty="0"/>
              <a:t>, </a:t>
            </a:r>
            <a:r>
              <a:rPr lang="ko-KR" altLang="en-US" sz="1800" dirty="0"/>
              <a:t>중앙 콘텐츠 영역으로 구성되어 있다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37161-8CCB-05BA-6B11-DC7E622A4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A281FB-ACB6-6641-6978-2D3A2D59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89B38CD-5996-DA0C-90F1-FF3EBD1E8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131" y="2266752"/>
            <a:ext cx="5299869" cy="40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38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D5C66-2811-1FAD-13ED-502AEB401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34033E-158F-E5B7-DE3F-394DC44A6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943924" cy="5019675"/>
          </a:xfrm>
        </p:spPr>
        <p:txBody>
          <a:bodyPr/>
          <a:lstStyle/>
          <a:p>
            <a:r>
              <a:rPr lang="ko-KR" altLang="en-US" dirty="0"/>
              <a:t>테이블에서 짝수행과 홀수행을 다르게 만들어보자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마우스를 </a:t>
            </a:r>
            <a:r>
              <a:rPr lang="en-US" altLang="ko-KR" dirty="0"/>
              <a:t>hover </a:t>
            </a:r>
            <a:r>
              <a:rPr lang="ko-KR" altLang="en-US" dirty="0"/>
              <a:t>했을 때 배경과 글자 색상이 바뀌도록 해본다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3A27C0-8C59-80E5-F4BD-B1C6871BC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90021D-D43E-E3E6-17C4-715B0F84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443ECF4-DBC9-456F-DA99-199DF216D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42" y="2348880"/>
            <a:ext cx="69723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914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4E2DC-097B-1F8F-38C0-2E348918A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3 - </a:t>
            </a:r>
            <a:r>
              <a:rPr lang="ko-KR" altLang="en-US" dirty="0"/>
              <a:t>응용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F5DBB-6CC2-E775-14DA-1251EF10B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476275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 클래스 선택자나 아이디 선택자로 바꿔서 구현해보자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573C23-E428-1A15-93E9-0C0E564AF7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8EF0C7-6A15-658C-A50B-1C6F53DB4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E66032-2DE6-FCA9-5A2A-C4DE7A3BBD83}"/>
              </a:ext>
            </a:extLst>
          </p:cNvPr>
          <p:cNvSpPr txBox="1"/>
          <p:nvPr/>
        </p:nvSpPr>
        <p:spPr>
          <a:xfrm>
            <a:off x="442913" y="1628800"/>
            <a:ext cx="3769047" cy="440120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&lt;style&gt;</a:t>
            </a:r>
          </a:p>
          <a:p>
            <a:r>
              <a:rPr lang="en-US" altLang="ko-KR" sz="1400" dirty="0"/>
              <a:t>    table {</a:t>
            </a:r>
          </a:p>
          <a:p>
            <a:r>
              <a:rPr lang="en-US" altLang="ko-KR" sz="1400" dirty="0"/>
              <a:t>      border-collapse: collapse;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    td, </a:t>
            </a:r>
            <a:r>
              <a:rPr lang="en-US" altLang="ko-KR" sz="1400" dirty="0" err="1"/>
              <a:t>th</a:t>
            </a:r>
            <a:r>
              <a:rPr lang="en-US" altLang="ko-KR" sz="1400" dirty="0"/>
              <a:t>{</a:t>
            </a:r>
          </a:p>
          <a:p>
            <a:r>
              <a:rPr lang="en-US" altLang="ko-KR" sz="1400" dirty="0"/>
              <a:t>      border-bottom: 1px solid green;</a:t>
            </a:r>
          </a:p>
          <a:p>
            <a:r>
              <a:rPr lang="en-US" altLang="ko-KR" sz="1400" dirty="0"/>
              <a:t>      width: 100px;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th</a:t>
            </a:r>
            <a:r>
              <a:rPr lang="en-US" altLang="ko-KR" sz="1400" dirty="0"/>
              <a:t> {</a:t>
            </a:r>
          </a:p>
          <a:p>
            <a:r>
              <a:rPr lang="en-US" altLang="ko-KR" sz="1400" dirty="0"/>
              <a:t>      background-color: green;</a:t>
            </a:r>
          </a:p>
          <a:p>
            <a:r>
              <a:rPr lang="en-US" altLang="ko-KR" sz="1400" dirty="0"/>
              <a:t>      color: white;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tr:nth-child</a:t>
            </a:r>
            <a:r>
              <a:rPr lang="en-US" altLang="ko-KR" sz="1400" dirty="0"/>
              <a:t>(even) {</a:t>
            </a:r>
          </a:p>
          <a:p>
            <a:r>
              <a:rPr lang="en-US" altLang="ko-KR" sz="1400" dirty="0"/>
              <a:t>      background-color: bisque;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tr:hover</a:t>
            </a:r>
            <a:r>
              <a:rPr lang="en-US" altLang="ko-KR" sz="1400" dirty="0"/>
              <a:t>{</a:t>
            </a:r>
          </a:p>
          <a:p>
            <a:r>
              <a:rPr lang="en-US" altLang="ko-KR" sz="1400" dirty="0"/>
              <a:t>      background-color: brown;</a:t>
            </a:r>
          </a:p>
          <a:p>
            <a:r>
              <a:rPr lang="en-US" altLang="ko-KR" sz="1400" dirty="0"/>
              <a:t>      color: white;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&lt;/style&gt;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207852-B0AC-9FB4-F211-EE6C6CBAE3EA}"/>
              </a:ext>
            </a:extLst>
          </p:cNvPr>
          <p:cNvSpPr txBox="1"/>
          <p:nvPr/>
        </p:nvSpPr>
        <p:spPr>
          <a:xfrm>
            <a:off x="4535948" y="1628800"/>
            <a:ext cx="4096535" cy="449353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&lt;table&gt;</a:t>
            </a:r>
          </a:p>
          <a:p>
            <a:r>
              <a:rPr lang="en-US" altLang="ko-KR" sz="1100" dirty="0"/>
              <a:t>    &lt;tr&gt;</a:t>
            </a:r>
          </a:p>
          <a:p>
            <a:r>
              <a:rPr lang="en-US" altLang="ko-KR" sz="1100" dirty="0"/>
              <a:t>      &lt;</a:t>
            </a:r>
            <a:r>
              <a:rPr lang="en-US" altLang="ko-KR" sz="1100" dirty="0" err="1"/>
              <a:t>th</a:t>
            </a:r>
            <a:r>
              <a:rPr lang="en-US" altLang="ko-KR" sz="1100" dirty="0"/>
              <a:t>&gt;</a:t>
            </a:r>
            <a:r>
              <a:rPr lang="ko-KR" altLang="en-US" sz="1100" dirty="0"/>
              <a:t>학번</a:t>
            </a:r>
            <a:r>
              <a:rPr lang="en-US" altLang="ko-KR" sz="1100" dirty="0"/>
              <a:t>&lt;/</a:t>
            </a:r>
            <a:r>
              <a:rPr lang="en-US" altLang="ko-KR" sz="1100" dirty="0" err="1"/>
              <a:t>th</a:t>
            </a:r>
            <a:r>
              <a:rPr lang="en-US" altLang="ko-KR" sz="1100" dirty="0"/>
              <a:t>&gt;</a:t>
            </a:r>
          </a:p>
          <a:p>
            <a:r>
              <a:rPr lang="en-US" altLang="ko-KR" sz="1100" dirty="0"/>
              <a:t>      &lt;</a:t>
            </a:r>
            <a:r>
              <a:rPr lang="en-US" altLang="ko-KR" sz="1100" dirty="0" err="1"/>
              <a:t>th</a:t>
            </a:r>
            <a:r>
              <a:rPr lang="en-US" altLang="ko-KR" sz="1100" dirty="0"/>
              <a:t>&gt;</a:t>
            </a:r>
            <a:r>
              <a:rPr lang="ko-KR" altLang="en-US" sz="1100" dirty="0"/>
              <a:t>이름</a:t>
            </a:r>
            <a:r>
              <a:rPr lang="en-US" altLang="ko-KR" sz="1100" dirty="0"/>
              <a:t>&lt;/</a:t>
            </a:r>
            <a:r>
              <a:rPr lang="en-US" altLang="ko-KR" sz="1100" dirty="0" err="1"/>
              <a:t>th</a:t>
            </a:r>
            <a:r>
              <a:rPr lang="en-US" altLang="ko-KR" sz="1100" dirty="0"/>
              <a:t>&gt;</a:t>
            </a:r>
          </a:p>
          <a:p>
            <a:r>
              <a:rPr lang="en-US" altLang="ko-KR" sz="1100" dirty="0"/>
              <a:t>      &lt;</a:t>
            </a:r>
            <a:r>
              <a:rPr lang="en-US" altLang="ko-KR" sz="1100" dirty="0" err="1"/>
              <a:t>th</a:t>
            </a:r>
            <a:r>
              <a:rPr lang="en-US" altLang="ko-KR" sz="1100" dirty="0"/>
              <a:t>&gt;</a:t>
            </a:r>
            <a:r>
              <a:rPr lang="ko-KR" altLang="en-US" sz="1100" dirty="0"/>
              <a:t>성적</a:t>
            </a:r>
            <a:r>
              <a:rPr lang="en-US" altLang="ko-KR" sz="1100" dirty="0"/>
              <a:t>&lt;/</a:t>
            </a:r>
            <a:r>
              <a:rPr lang="en-US" altLang="ko-KR" sz="1100" dirty="0" err="1"/>
              <a:t>th</a:t>
            </a:r>
            <a:r>
              <a:rPr lang="en-US" altLang="ko-KR" sz="1100" dirty="0"/>
              <a:t>&gt;</a:t>
            </a:r>
          </a:p>
          <a:p>
            <a:r>
              <a:rPr lang="en-US" altLang="ko-KR" sz="1100" dirty="0"/>
              <a:t>      &lt;</a:t>
            </a:r>
            <a:r>
              <a:rPr lang="en-US" altLang="ko-KR" sz="1100" dirty="0" err="1"/>
              <a:t>th</a:t>
            </a:r>
            <a:r>
              <a:rPr lang="en-US" altLang="ko-KR" sz="1100" dirty="0"/>
              <a:t>&gt;</a:t>
            </a:r>
            <a:r>
              <a:rPr lang="ko-KR" altLang="en-US" sz="1100" dirty="0"/>
              <a:t>학점</a:t>
            </a:r>
            <a:r>
              <a:rPr lang="en-US" altLang="ko-KR" sz="1100" dirty="0"/>
              <a:t>&lt;/</a:t>
            </a:r>
            <a:r>
              <a:rPr lang="en-US" altLang="ko-KR" sz="1100" dirty="0" err="1"/>
              <a:t>th</a:t>
            </a:r>
            <a:r>
              <a:rPr lang="en-US" altLang="ko-KR" sz="1100" dirty="0"/>
              <a:t>&gt;</a:t>
            </a:r>
          </a:p>
          <a:p>
            <a:r>
              <a:rPr lang="en-US" altLang="ko-KR" sz="1100" dirty="0"/>
              <a:t>    &lt;/tr&gt;</a:t>
            </a:r>
          </a:p>
          <a:p>
            <a:r>
              <a:rPr lang="en-US" altLang="ko-KR" sz="1100" dirty="0"/>
              <a:t>    &lt;tr&gt;</a:t>
            </a:r>
          </a:p>
          <a:p>
            <a:r>
              <a:rPr lang="en-US" altLang="ko-KR" sz="1100" dirty="0"/>
              <a:t>      &lt;td&gt;1&lt;/td&gt;</a:t>
            </a:r>
          </a:p>
          <a:p>
            <a:r>
              <a:rPr lang="en-US" altLang="ko-KR" sz="1100" dirty="0"/>
              <a:t>      &lt;td&gt;Bill&lt;/td&gt;</a:t>
            </a:r>
          </a:p>
          <a:p>
            <a:r>
              <a:rPr lang="en-US" altLang="ko-KR" sz="1100" dirty="0"/>
              <a:t>      &lt;td&gt;98&lt;/td&gt;</a:t>
            </a:r>
          </a:p>
          <a:p>
            <a:r>
              <a:rPr lang="en-US" altLang="ko-KR" sz="1100" dirty="0"/>
              <a:t>      &lt;td&gt;A+&lt;/td&gt;</a:t>
            </a:r>
          </a:p>
          <a:p>
            <a:r>
              <a:rPr lang="en-US" altLang="ko-KR" sz="1100" dirty="0"/>
              <a:t>    &lt;/tr&gt;</a:t>
            </a:r>
          </a:p>
          <a:p>
            <a:r>
              <a:rPr lang="en-US" altLang="ko-KR" sz="1100" dirty="0"/>
              <a:t>    &lt;tr&gt;</a:t>
            </a:r>
          </a:p>
          <a:p>
            <a:r>
              <a:rPr lang="en-US" altLang="ko-KR" sz="1100" dirty="0"/>
              <a:t>      &lt;td&gt;2&lt;/td&gt;</a:t>
            </a:r>
          </a:p>
          <a:p>
            <a:r>
              <a:rPr lang="en-US" altLang="ko-KR" sz="1100" dirty="0"/>
              <a:t>      &lt;td&gt;Stave&lt;/td&gt;</a:t>
            </a:r>
          </a:p>
          <a:p>
            <a:r>
              <a:rPr lang="en-US" altLang="ko-KR" sz="1100" dirty="0"/>
              <a:t>      &lt;td&gt;89&lt;/td&gt;</a:t>
            </a:r>
          </a:p>
          <a:p>
            <a:r>
              <a:rPr lang="en-US" altLang="ko-KR" sz="1100" dirty="0"/>
              <a:t>      &lt;td&gt;B+&lt;/td&gt;</a:t>
            </a:r>
          </a:p>
          <a:p>
            <a:r>
              <a:rPr lang="en-US" altLang="ko-KR" sz="1100" dirty="0"/>
              <a:t>    &lt;/tr&gt;</a:t>
            </a:r>
          </a:p>
          <a:p>
            <a:r>
              <a:rPr lang="en-US" altLang="ko-KR" sz="1100" dirty="0"/>
              <a:t>    &lt;tr&gt;</a:t>
            </a:r>
          </a:p>
          <a:p>
            <a:r>
              <a:rPr lang="en-US" altLang="ko-KR" sz="1100" dirty="0"/>
              <a:t>      &lt;td&gt;3&lt;/td&gt;</a:t>
            </a:r>
          </a:p>
          <a:p>
            <a:r>
              <a:rPr lang="en-US" altLang="ko-KR" sz="1100" dirty="0"/>
              <a:t>      &lt;td&gt;Larry&lt;/td&gt;</a:t>
            </a:r>
          </a:p>
          <a:p>
            <a:r>
              <a:rPr lang="en-US" altLang="ko-KR" sz="1100" dirty="0"/>
              <a:t>      &lt;td&gt;93&lt;/td&gt;</a:t>
            </a:r>
          </a:p>
          <a:p>
            <a:r>
              <a:rPr lang="en-US" altLang="ko-KR" sz="1100" dirty="0"/>
              <a:t>      &lt;td&gt;A+&lt;/td&gt;</a:t>
            </a:r>
          </a:p>
          <a:p>
            <a:r>
              <a:rPr lang="en-US" altLang="ko-KR" sz="1100" dirty="0"/>
              <a:t>    &lt;/tr&gt;</a:t>
            </a:r>
          </a:p>
          <a:p>
            <a:r>
              <a:rPr lang="en-US" altLang="ko-KR" sz="1100" dirty="0"/>
              <a:t>&lt;/table&gt;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24763781"/>
      </p:ext>
    </p:extLst>
  </p:cSld>
  <p:clrMapOvr>
    <a:masterClrMapping/>
  </p:clrMapOvr>
</p:sld>
</file>

<file path=ppt/theme/theme1.xml><?xml version="1.0" encoding="utf-8"?>
<a:theme xmlns:a="http://schemas.openxmlformats.org/drawingml/2006/main" name="가로-고려대마크-1">
  <a:themeElements>
    <a:clrScheme name="가로-고려대마크-1 7">
      <a:dk1>
        <a:srgbClr val="41280D"/>
      </a:dk1>
      <a:lt1>
        <a:srgbClr val="FFFFFF"/>
      </a:lt1>
      <a:dk2>
        <a:srgbClr val="336699"/>
      </a:dk2>
      <a:lt2>
        <a:srgbClr val="666633"/>
      </a:lt2>
      <a:accent1>
        <a:srgbClr val="FFCC66"/>
      </a:accent1>
      <a:accent2>
        <a:srgbClr val="993300"/>
      </a:accent2>
      <a:accent3>
        <a:srgbClr val="FFFFFF"/>
      </a:accent3>
      <a:accent4>
        <a:srgbClr val="362109"/>
      </a:accent4>
      <a:accent5>
        <a:srgbClr val="FFE2B8"/>
      </a:accent5>
      <a:accent6>
        <a:srgbClr val="8A2D00"/>
      </a:accent6>
      <a:hlink>
        <a:srgbClr val="008000"/>
      </a:hlink>
      <a:folHlink>
        <a:srgbClr val="969696"/>
      </a:folHlink>
    </a:clrScheme>
    <a:fontScheme name="가로-고려대마크-1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가로-고려대마크-1 1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2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6">
        <a:dk1>
          <a:srgbClr val="41280D"/>
        </a:dk1>
        <a:lt1>
          <a:srgbClr val="FFFFFF"/>
        </a:lt1>
        <a:dk2>
          <a:srgbClr val="B4783C"/>
        </a:dk2>
        <a:lt2>
          <a:srgbClr val="666633"/>
        </a:lt2>
        <a:accent1>
          <a:srgbClr val="4C7188"/>
        </a:accent1>
        <a:accent2>
          <a:srgbClr val="FF9900"/>
        </a:accent2>
        <a:accent3>
          <a:srgbClr val="FFFFFF"/>
        </a:accent3>
        <a:accent4>
          <a:srgbClr val="362109"/>
        </a:accent4>
        <a:accent5>
          <a:srgbClr val="B2BBC3"/>
        </a:accent5>
        <a:accent6>
          <a:srgbClr val="E78A00"/>
        </a:accent6>
        <a:hlink>
          <a:srgbClr val="0000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7">
        <a:dk1>
          <a:srgbClr val="41280D"/>
        </a:dk1>
        <a:lt1>
          <a:srgbClr val="FFFFFF"/>
        </a:lt1>
        <a:dk2>
          <a:srgbClr val="336699"/>
        </a:dk2>
        <a:lt2>
          <a:srgbClr val="666633"/>
        </a:lt2>
        <a:accent1>
          <a:srgbClr val="FFCC66"/>
        </a:accent1>
        <a:accent2>
          <a:srgbClr val="993300"/>
        </a:accent2>
        <a:accent3>
          <a:srgbClr val="FFFFFF"/>
        </a:accent3>
        <a:accent4>
          <a:srgbClr val="362109"/>
        </a:accent4>
        <a:accent5>
          <a:srgbClr val="FFE2B8"/>
        </a:accent5>
        <a:accent6>
          <a:srgbClr val="8A2D00"/>
        </a:accent6>
        <a:hlink>
          <a:srgbClr val="008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가로-고려대마크-1 7">
    <a:dk1>
      <a:srgbClr val="41280D"/>
    </a:dk1>
    <a:lt1>
      <a:srgbClr val="FFFFFF"/>
    </a:lt1>
    <a:dk2>
      <a:srgbClr val="336699"/>
    </a:dk2>
    <a:lt2>
      <a:srgbClr val="666633"/>
    </a:lt2>
    <a:accent1>
      <a:srgbClr val="FFCC66"/>
    </a:accent1>
    <a:accent2>
      <a:srgbClr val="993300"/>
    </a:accent2>
    <a:accent3>
      <a:srgbClr val="FFFFFF"/>
    </a:accent3>
    <a:accent4>
      <a:srgbClr val="362109"/>
    </a:accent4>
    <a:accent5>
      <a:srgbClr val="FFE2B8"/>
    </a:accent5>
    <a:accent6>
      <a:srgbClr val="8A2D00"/>
    </a:accent6>
    <a:hlink>
      <a:srgbClr val="008000"/>
    </a:hlink>
    <a:folHlink>
      <a:srgbClr val="96969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36</Pages>
  <Paragraphs>763</Paragraphs>
  <Words>4327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조재한</dc:creator>
  <cp:lastModifiedBy>a93686351</cp:lastModifiedBy>
  <dc:title>정보기기 소프트웨어 설계(1학기)</dc:title>
  <cp:version>10.105.293.56114</cp:version>
  <dcterms:modified xsi:type="dcterms:W3CDTF">2026-03-04T03:25:22Z</dcterms:modified>
</cp:coreProperties>
</file>
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emf" ContentType="image/x-emf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ink/ink1.xml" ContentType="application/inkml+xml"/>
  <Override PartName="/ppt/ink/ink2.xml" ContentType="application/inkml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?>
<Relationships xmlns="http://schemas.openxmlformats.org/package/2006/relationships"><Relationship Id="rId1" Type="http://schemas.openxmlformats.org/officeDocument/2006/relationships/officeDocument" Target="ppt/presentation.xml"></Relationship><Relationship Id="rId2" Type="http://schemas.openxmlformats.org/package/2006/relationships/metadata/core-properties" Target="docProps/core.xml"></Relationship><Relationship Id="rId3" Type="http://schemas.openxmlformats.org/officeDocument/2006/relationships/extended-properties" Target="docProps/app.xml"></Relationship><Relationship Id="rId4" Type="http://schemas.openxmlformats.org/package/2006/relationships/metadata/thumbnail" Target="docProps/thumbnail.jpeg"></Relationship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saveSubsetFonts="1">
  <p:sldMasterIdLst>
    <p:sldMasterId id="2147483667" r:id="rId5"/>
  </p:sldMasterIdLst>
  <p:notesMasterIdLst>
    <p:notesMasterId r:id="rId7"/>
  </p:notesMasterIdLst>
  <p:sldIdLst>
    <p:sldId id="287" r:id="rId9"/>
    <p:sldId id="263" r:id="rId10"/>
    <p:sldId id="264" r:id="rId12"/>
    <p:sldId id="265" r:id="rId14"/>
    <p:sldId id="288" r:id="rId16"/>
    <p:sldId id="289" r:id="rId17"/>
    <p:sldId id="290" r:id="rId18"/>
    <p:sldId id="291" r:id="rId19"/>
    <p:sldId id="292" r:id="rId20"/>
    <p:sldId id="293" r:id="rId21"/>
    <p:sldId id="294" r:id="rId22"/>
    <p:sldId id="295" r:id="rId23"/>
    <p:sldId id="296" r:id="rId24"/>
    <p:sldId id="297" r:id="rId25"/>
    <p:sldId id="298" r:id="rId26"/>
  </p:sldIdLst>
  <p:sldSz cx="9144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7" userDrawn="0">
          <p15:clr>
            <a:srgbClr val="A4A3A4"/>
          </p15:clr>
        </p15:guide>
        <p15:guide id="2" pos="2877" userDrawn="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  <p:clrMru>
    <a:srgbClr val="000000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>
    <p:restoredLeft sz="15935" autoAdjust="0"/>
    <p:restoredTop sz="94660"/>
  </p:normalViewPr>
  <p:slideViewPr>
    <p:cSldViewPr snapToGrid="1" snapToObjects="1">
      <p:cViewPr varScale="1">
        <p:scale>
          <a:sx n="97" d="100"/>
          <a:sy n="97" d="100"/>
        </p:scale>
        <p:origin x="1986" y="306"/>
      </p:cViewPr>
      <p:guideLst>
        <p:guide orient="horz" pos="2157"/>
        <p:guide pos="287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?>
<Relationships xmlns="http://schemas.openxmlformats.org/package/2006/relationships"><Relationship Id="rId1" Type="http://schemas.openxmlformats.org/officeDocument/2006/relationships/tableStyles" Target="tableStyles.xml"></Relationship><Relationship Id="rId5" Type="http://schemas.openxmlformats.org/officeDocument/2006/relationships/slideMaster" Target="slideMasters/slideMaster1.xml"></Relationship><Relationship Id="rId6" Type="http://schemas.openxmlformats.org/officeDocument/2006/relationships/theme" Target="theme/theme1.xml"></Relationship><Relationship Id="rId7" Type="http://schemas.openxmlformats.org/officeDocument/2006/relationships/notesMaster" Target="notesMasters/notesMaster1.xml"></Relationship><Relationship Id="rId9" Type="http://schemas.openxmlformats.org/officeDocument/2006/relationships/slide" Target="slides/slide1.xml"></Relationship><Relationship Id="rId10" Type="http://schemas.openxmlformats.org/officeDocument/2006/relationships/slide" Target="slides/slide2.xml"></Relationship><Relationship Id="rId12" Type="http://schemas.openxmlformats.org/officeDocument/2006/relationships/slide" Target="slides/slide3.xml"></Relationship><Relationship Id="rId14" Type="http://schemas.openxmlformats.org/officeDocument/2006/relationships/slide" Target="slides/slide4.xml"></Relationship><Relationship Id="rId16" Type="http://schemas.openxmlformats.org/officeDocument/2006/relationships/slide" Target="slides/slide5.xml"></Relationship><Relationship Id="rId17" Type="http://schemas.openxmlformats.org/officeDocument/2006/relationships/slide" Target="slides/slide6.xml"></Relationship><Relationship Id="rId18" Type="http://schemas.openxmlformats.org/officeDocument/2006/relationships/slide" Target="slides/slide7.xml"></Relationship><Relationship Id="rId19" Type="http://schemas.openxmlformats.org/officeDocument/2006/relationships/slide" Target="slides/slide8.xml"></Relationship><Relationship Id="rId20" Type="http://schemas.openxmlformats.org/officeDocument/2006/relationships/slide" Target="slides/slide9.xml"></Relationship><Relationship Id="rId21" Type="http://schemas.openxmlformats.org/officeDocument/2006/relationships/slide" Target="slides/slide10.xml"></Relationship><Relationship Id="rId22" Type="http://schemas.openxmlformats.org/officeDocument/2006/relationships/slide" Target="slides/slide11.xml"></Relationship><Relationship Id="rId23" Type="http://schemas.openxmlformats.org/officeDocument/2006/relationships/slide" Target="slides/slide12.xml"></Relationship><Relationship Id="rId24" Type="http://schemas.openxmlformats.org/officeDocument/2006/relationships/slide" Target="slides/slide13.xml"></Relationship><Relationship Id="rId25" Type="http://schemas.openxmlformats.org/officeDocument/2006/relationships/slide" Target="slides/slide14.xml"></Relationship><Relationship Id="rId26" Type="http://schemas.openxmlformats.org/officeDocument/2006/relationships/slide" Target="slides/slide15.xml"></Relationship><Relationship Id="rId27" Type="http://schemas.openxmlformats.org/officeDocument/2006/relationships/viewProps" Target="viewProps.xml"></Relationship><Relationship Id="rId28" Type="http://schemas.openxmlformats.org/officeDocument/2006/relationships/presProps" Target="presProps.xml"></Relationship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1066 377,'-22'22,"-178"178,66-66,23-1,-89 111,89-177,22-23,23 1,66-23,-67 0,23 23,22-45,44 0,0 0,0 0,23 0,43 22,24 0,21 0,-22-22,-67 0,1 0,-1 0,1 0,-1 0,0 0,-21 0,-23-22,0-45,0 1,0-23,0-22,0 0,-45-23,-21 23,43-22,-21 22,0-22,-23 66,45 45,-1-23,-21 1,0-23,-1 45,23 0,22 0,-44 0,21 22,23 22,-22 67,0 66,-45 45,67-67,0 23,0-1,22 45,23-22,-23-23,-22-66,0 0,45-22,-23-45,-22 0,22-22,-22 23,22-23,0 0,1 0,-1-45,0 1,-22-134,44 45,1-45,-23 22,0-21,23 21,-23 1,-22-1,0 156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177 1177,'0'-22,"0"-45,0 45,22-23,-22-21,0-1,0 0,23-21,-1 43,0-44,-22 23,0 43,22-43,1-1,-23 23,0-1,22 23,-22-22,22 21,0 1,-22 0,22 0,-22 0,23-1,-1 23,-22-22,22 22,-22-22,22 22,-22-22,22 22,-22-22,23 22,-46 0,23 22,-22-22,0 0,0 44,0-22,-1-22,1 23,22-1,-22-22,0 0,22 22,0 0,0 0,-22 1,22-1,0 0,0 0,-23-22,23 23,0-1,0 0,0 22,0-21,0 21,0-22,0 0,0 23,0-23,0 0,0 1,0 21,0 0,0 1,0-1,0-22,0 1,0-1,0 0,0 0,0 1,0-1,0 0,0 22,0 1,0-23,0 0,0 0,0 1,0-1,-22-22,0 0,0 0,22-22,-23-1,1-21,0 22,-22-45,44 45,-23 0,23-23,-22 1,0-1,22 23,-22 22,22-22,0 0,0 0,0-1,0 1,0 0,-22 22,22 22,0 23,0-23,22 0,0 0,-22 45,22-45,0 67,1-67,21 67,-22-45,-22-21,0-1,22 0,-22 0,23 1,-23-1,22-22,-22 22,22-22,0 0,1-22,-1 0,0-1,-22 1,22 22,0-22,-22 0,23-1,-1 1,0 22,-22-22,0 0,22 0,-22-1,22 1,-22 0,23 0,-23 0,22-23,0 23,-22 0,0-1,0 1,0 0,0 22</inkml:trace>
</inkml:ink>
</file>

<file path=ppt/notesMasters/_rels/notesMaster1.xml.rels><?xml version="1.0" encoding="UTF-8"?>
<Relationships xmlns="http://schemas.openxmlformats.org/package/2006/relationships"><Relationship Id="rId1" Type="http://schemas.openxmlformats.org/officeDocument/2006/relationships/theme" Target="../theme/theme2.xml"></Relationship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D67E21-F3AE-43E5-8344-710FD999BB11}" type="datetimeFigureOut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F8DAAC-260C-484A-B0EF-1E8BC18453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05909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2.xml"></Relationship></Relationships>
</file>

<file path=ppt/notesSlides/_rels/notesSlide3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3.xml"></Relationship></Relationships>
</file>

<file path=ppt/notesSlides/_rels/notesSlide4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4.xml"></Relationship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0" y="1497013"/>
            <a:ext cx="9144000" cy="50800"/>
            <a:chOff x="0" y="583"/>
            <a:chExt cx="5760" cy="50"/>
          </a:xfrm>
        </p:grpSpPr>
        <p:sp>
          <p:nvSpPr>
            <p:cNvPr id="6" name="Rectangle 9"/>
            <p:cNvSpPr>
              <a:spLocks noChangeArrowheads="1"/>
            </p:cNvSpPr>
            <p:nvPr userDrawn="1"/>
          </p:nvSpPr>
          <p:spPr bwMode="auto">
            <a:xfrm>
              <a:off x="0" y="583"/>
              <a:ext cx="1645" cy="50"/>
            </a:xfrm>
            <a:prstGeom prst="rect">
              <a:avLst/>
            </a:prstGeom>
            <a:solidFill>
              <a:srgbClr val="000099"/>
            </a:solidFill>
            <a:ln w="9525" algn="ctr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ko-KR" altLang="en-US"/>
            </a:p>
          </p:txBody>
        </p:sp>
        <p:sp>
          <p:nvSpPr>
            <p:cNvPr id="7" name="Rectangle 10"/>
            <p:cNvSpPr>
              <a:spLocks noChangeArrowheads="1"/>
            </p:cNvSpPr>
            <p:nvPr userDrawn="1"/>
          </p:nvSpPr>
          <p:spPr bwMode="auto">
            <a:xfrm>
              <a:off x="1638" y="589"/>
              <a:ext cx="4122" cy="44"/>
            </a:xfrm>
            <a:prstGeom prst="rect">
              <a:avLst/>
            </a:prstGeom>
            <a:solidFill>
              <a:srgbClr val="DDDDDD"/>
            </a:solidFill>
            <a:ln w="9525" algn="ctr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ko-KR" altLang="en-US"/>
            </a:p>
          </p:txBody>
        </p:sp>
      </p:grpSp>
      <p:grpSp>
        <p:nvGrpSpPr>
          <p:cNvPr id="3" name="Group 11"/>
          <p:cNvGrpSpPr>
            <a:grpSpLocks/>
          </p:cNvGrpSpPr>
          <p:nvPr/>
        </p:nvGrpSpPr>
        <p:grpSpPr bwMode="auto">
          <a:xfrm>
            <a:off x="0" y="6288088"/>
            <a:ext cx="9144000" cy="50800"/>
            <a:chOff x="0" y="583"/>
            <a:chExt cx="5760" cy="50"/>
          </a:xfrm>
        </p:grpSpPr>
        <p:sp>
          <p:nvSpPr>
            <p:cNvPr id="9" name="Rectangle 12"/>
            <p:cNvSpPr>
              <a:spLocks noChangeArrowheads="1"/>
            </p:cNvSpPr>
            <p:nvPr userDrawn="1"/>
          </p:nvSpPr>
          <p:spPr bwMode="auto">
            <a:xfrm>
              <a:off x="0" y="583"/>
              <a:ext cx="1645" cy="50"/>
            </a:xfrm>
            <a:prstGeom prst="rect">
              <a:avLst/>
            </a:prstGeom>
            <a:solidFill>
              <a:srgbClr val="000099"/>
            </a:solidFill>
            <a:ln w="9525" algn="ctr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ko-KR" altLang="en-US"/>
            </a:p>
          </p:txBody>
        </p:sp>
        <p:sp>
          <p:nvSpPr>
            <p:cNvPr id="10" name="Rectangle 13"/>
            <p:cNvSpPr>
              <a:spLocks noChangeArrowheads="1"/>
            </p:cNvSpPr>
            <p:nvPr userDrawn="1"/>
          </p:nvSpPr>
          <p:spPr bwMode="auto">
            <a:xfrm>
              <a:off x="1638" y="589"/>
              <a:ext cx="4122" cy="44"/>
            </a:xfrm>
            <a:prstGeom prst="rect">
              <a:avLst/>
            </a:prstGeom>
            <a:solidFill>
              <a:srgbClr val="DDDDDD"/>
            </a:solidFill>
            <a:ln w="9525" algn="ctr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ko-KR" altLang="en-US"/>
            </a:p>
          </p:txBody>
        </p:sp>
      </p:grpSp>
      <p:sp>
        <p:nvSpPr>
          <p:cNvPr id="6146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1143000" y="1676400"/>
            <a:ext cx="7010400" cy="1752600"/>
          </a:xfrm>
        </p:spPr>
        <p:txBody>
          <a:bodyPr anchor="ctr"/>
          <a:lstStyle>
            <a:lvl1pPr algn="ctr">
              <a:defRPr sz="28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762000" y="4343400"/>
            <a:ext cx="7696200" cy="1752600"/>
          </a:xfrm>
        </p:spPr>
        <p:txBody>
          <a:bodyPr anchor="ctr"/>
          <a:lstStyle>
            <a:lvl1pPr marL="0" indent="0" algn="ctr">
              <a:buFont typeface="Wingdings" pitchFamily="2" charset="2"/>
              <a:buNone/>
              <a:defRPr sz="2000" b="1"/>
            </a:lvl1pPr>
          </a:lstStyle>
          <a:p>
            <a:r>
              <a:rPr lang="ko-KR" altLang="en-US"/>
              <a:t>마스터 부제목 스타일 편집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53E709-C6A3-4DBD-82F7-6E5ED028B16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제목 및 차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42913" y="146050"/>
            <a:ext cx="7772400" cy="7620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차트 개체 틀 2"/>
          <p:cNvSpPr>
            <a:spLocks noGrp="1"/>
          </p:cNvSpPr>
          <p:nvPr>
            <p:ph type="chart" idx="1"/>
          </p:nvPr>
        </p:nvSpPr>
        <p:spPr>
          <a:xfrm>
            <a:off x="444500" y="1152525"/>
            <a:ext cx="7772400" cy="5019675"/>
          </a:xfrm>
        </p:spPr>
        <p:txBody>
          <a:bodyPr/>
          <a:lstStyle/>
          <a:p>
            <a:pPr lvl="0"/>
            <a:endParaRPr lang="ko-KR" alt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466BAE-B407-4D4C-92B0-3DCDF5F79E0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12000" y="6419850"/>
            <a:ext cx="1905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defRPr kumimoji="0" sz="1300">
                <a:solidFill>
                  <a:schemeClr val="tx2"/>
                </a:solidFill>
                <a:latin typeface="+mn-ea"/>
                <a:ea typeface="굴림" pitchFamily="50" charset="-127"/>
              </a:defRPr>
            </a:lvl1pPr>
          </a:lstStyle>
          <a:p>
            <a:pPr>
              <a:defRPr/>
            </a:pPr>
            <a:fld id="{7654FC3B-6869-4E9F-A7F1-8E695089650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027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444500" y="1152525"/>
            <a:ext cx="7772400" cy="5019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131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896938" y="6392863"/>
            <a:ext cx="3109912" cy="34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lnSpc>
                <a:spcPct val="100000"/>
              </a:lnSpc>
              <a:spcBef>
                <a:spcPct val="0"/>
              </a:spcBef>
              <a:defRPr kumimoji="0">
                <a:solidFill>
                  <a:srgbClr val="40458C"/>
                </a:solidFill>
                <a:latin typeface="+mn-lt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grpSp>
        <p:nvGrpSpPr>
          <p:cNvPr id="2" name="Group 20"/>
          <p:cNvGrpSpPr>
            <a:grpSpLocks/>
          </p:cNvGrpSpPr>
          <p:nvPr/>
        </p:nvGrpSpPr>
        <p:grpSpPr bwMode="auto">
          <a:xfrm>
            <a:off x="0" y="954088"/>
            <a:ext cx="9144000" cy="50800"/>
            <a:chOff x="0" y="583"/>
            <a:chExt cx="5760" cy="50"/>
          </a:xfrm>
        </p:grpSpPr>
        <p:sp>
          <p:nvSpPr>
            <p:cNvPr id="1035" name="Rectangle 14"/>
            <p:cNvSpPr>
              <a:spLocks noChangeArrowheads="1"/>
            </p:cNvSpPr>
            <p:nvPr userDrawn="1"/>
          </p:nvSpPr>
          <p:spPr bwMode="auto">
            <a:xfrm>
              <a:off x="0" y="583"/>
              <a:ext cx="1645" cy="50"/>
            </a:xfrm>
            <a:prstGeom prst="rect">
              <a:avLst/>
            </a:prstGeom>
            <a:solidFill>
              <a:srgbClr val="000099"/>
            </a:solidFill>
            <a:ln w="9525" algn="ctr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ko-KR" altLang="en-US"/>
            </a:p>
          </p:txBody>
        </p:sp>
        <p:sp>
          <p:nvSpPr>
            <p:cNvPr id="1036" name="Rectangle 17"/>
            <p:cNvSpPr>
              <a:spLocks noChangeArrowheads="1"/>
            </p:cNvSpPr>
            <p:nvPr userDrawn="1"/>
          </p:nvSpPr>
          <p:spPr bwMode="auto">
            <a:xfrm>
              <a:off x="1638" y="589"/>
              <a:ext cx="4122" cy="44"/>
            </a:xfrm>
            <a:prstGeom prst="rect">
              <a:avLst/>
            </a:prstGeom>
            <a:solidFill>
              <a:srgbClr val="DDDDDD"/>
            </a:solidFill>
            <a:ln w="9525" algn="ctr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ko-KR" altLang="en-US"/>
            </a:p>
          </p:txBody>
        </p:sp>
      </p:grpSp>
      <p:grpSp>
        <p:nvGrpSpPr>
          <p:cNvPr id="3" name="Group 21"/>
          <p:cNvGrpSpPr>
            <a:grpSpLocks/>
          </p:cNvGrpSpPr>
          <p:nvPr/>
        </p:nvGrpSpPr>
        <p:grpSpPr bwMode="auto">
          <a:xfrm>
            <a:off x="0" y="6383338"/>
            <a:ext cx="9144000" cy="60325"/>
            <a:chOff x="0" y="583"/>
            <a:chExt cx="5760" cy="50"/>
          </a:xfrm>
        </p:grpSpPr>
        <p:sp>
          <p:nvSpPr>
            <p:cNvPr id="1033" name="Rectangle 22"/>
            <p:cNvSpPr>
              <a:spLocks noChangeArrowheads="1"/>
            </p:cNvSpPr>
            <p:nvPr userDrawn="1"/>
          </p:nvSpPr>
          <p:spPr bwMode="auto">
            <a:xfrm>
              <a:off x="0" y="583"/>
              <a:ext cx="1645" cy="50"/>
            </a:xfrm>
            <a:prstGeom prst="rect">
              <a:avLst/>
            </a:prstGeom>
            <a:solidFill>
              <a:srgbClr val="000099"/>
            </a:solidFill>
            <a:ln w="9525" algn="ctr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ko-KR" altLang="en-US"/>
            </a:p>
          </p:txBody>
        </p:sp>
        <p:sp>
          <p:nvSpPr>
            <p:cNvPr id="1034" name="Rectangle 23"/>
            <p:cNvSpPr>
              <a:spLocks noChangeArrowheads="1"/>
            </p:cNvSpPr>
            <p:nvPr userDrawn="1"/>
          </p:nvSpPr>
          <p:spPr bwMode="auto">
            <a:xfrm>
              <a:off x="1638" y="590"/>
              <a:ext cx="4122" cy="43"/>
            </a:xfrm>
            <a:prstGeom prst="rect">
              <a:avLst/>
            </a:prstGeom>
            <a:solidFill>
              <a:srgbClr val="DDDDDD"/>
            </a:solidFill>
            <a:ln w="9525" algn="ctr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ko-KR" altLang="en-US"/>
            </a:p>
          </p:txBody>
        </p:sp>
      </p:grpSp>
      <p:sp>
        <p:nvSpPr>
          <p:cNvPr id="1032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442913" y="146050"/>
            <a:ext cx="77724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hd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rgbClr val="40458C"/>
        </a:buClr>
        <a:buFont typeface="Wingdings" pitchFamily="2" charset="2"/>
        <a:buChar char="n"/>
        <a:defRPr kumimoji="1" sz="2200">
          <a:solidFill>
            <a:srgbClr val="40458C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w"/>
        <a:defRPr kumimoji="1"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Times New Roman" pitchFamily="18" charset="0"/>
        <a:buChar char="–"/>
        <a:defRPr kumimoji="1"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w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w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w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w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w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w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
<Relationships xmlns="http://schemas.openxmlformats.org/package/2006/relationships"><Relationship Id="rId2" Type="http://schemas.openxmlformats.org/officeDocument/2006/relationships/notesSlide" Target="../notesSlides/notesSlide2.xml"></Relationship><Relationship Id="rId1" Type="http://schemas.openxmlformats.org/officeDocument/2006/relationships/slideLayout" Target="../slideLayouts/slideLayout2.xml"></Relationship></Relationships>
</file>

<file path=ppt/slides/_rels/slide3.xml.rels><?xml version="1.0" encoding="UTF-8"?>
<Relationships xmlns="http://schemas.openxmlformats.org/package/2006/relationships"><Relationship Id="rId2" Type="http://schemas.openxmlformats.org/officeDocument/2006/relationships/notesSlide" Target="../notesSlides/notesSlide3.xml"></Relationship><Relationship Id="rId1" Type="http://schemas.openxmlformats.org/officeDocument/2006/relationships/slideLayout" Target="../slideLayouts/slideLayout2.xml"></Relationship></Relationships>
</file>

<file path=ppt/slides/_rels/slide4.xml.rels><?xml version="1.0" encoding="UTF-8"?>
<Relationships xmlns="http://schemas.openxmlformats.org/package/2006/relationships"><Relationship Id="rId2" Type="http://schemas.openxmlformats.org/officeDocument/2006/relationships/notesSlide" Target="../notesSlides/notesSlide4.xml"></Relationship><Relationship Id="rId1" Type="http://schemas.openxmlformats.org/officeDocument/2006/relationships/slideLayout" Target="../slideLayouts/slideLayout2.xml"></Relationship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?>
<Relationships xmlns="http://schemas.openxmlformats.org/package/2006/relationships"><Relationship Id="rId1" Type="http://schemas.openxmlformats.org/officeDocument/2006/relationships/customXml" Target="../ink/ink1.xml"></Relationship><Relationship Id="rId2" Type="http://schemas.openxmlformats.org/officeDocument/2006/relationships/image" Target="../media/fImage355614641.emf"></Relationship><Relationship Id="rId3" Type="http://schemas.openxmlformats.org/officeDocument/2006/relationships/slideLayout" Target="../slideLayouts/slideLayout2.xml"></Relationship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?>
<Relationships xmlns="http://schemas.openxmlformats.org/package/2006/relationships"><Relationship Id="rId2" Type="http://schemas.openxmlformats.org/officeDocument/2006/relationships/image" Target="../media/image4.png"></Relationship><Relationship Id="rId3" Type="http://schemas.openxmlformats.org/officeDocument/2006/relationships/customXml" Target="../ink/ink2.xml"></Relationship><Relationship Id="rId4" Type="http://schemas.openxmlformats.org/officeDocument/2006/relationships/image" Target="../media/fImage643614441.emf"></Relationship><Relationship Id="rId5" Type="http://schemas.openxmlformats.org/officeDocument/2006/relationships/slideLayout" Target="../slideLayouts/slideLayout2.xml"></Relationship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_rels/slide1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66420-79E1-F495-47F6-CFF02C92A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FFFF52-91E3-332C-388F-833F6DA44CE1}"/>
              </a:ext>
            </a:extLst>
          </p:cNvPr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r>
              <a:rPr lang="ko-KR" altLang="en-US" dirty="0"/>
              <a:t>웹 프로그래밍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part</a:t>
            </a:r>
            <a:r>
              <a:rPr lang="ko-KR" altLang="en-US" dirty="0"/>
              <a:t> </a:t>
            </a:r>
            <a:r>
              <a:rPr lang="en-US" altLang="ko-KR"/>
              <a:t>6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91C8CD7-E553-BD68-17BA-011E9601DAA6}"/>
              </a:ext>
            </a:extLst>
          </p:cNvPr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r>
              <a:rPr lang="ko-KR" altLang="en-US" dirty="0"/>
              <a:t>금오공과대학교</a:t>
            </a:r>
            <a:endParaRPr lang="en-US" altLang="ko-KR" dirty="0"/>
          </a:p>
          <a:p>
            <a:r>
              <a:rPr lang="ko-KR" altLang="en-US" dirty="0"/>
              <a:t>조재한</a:t>
            </a:r>
          </a:p>
        </p:txBody>
      </p:sp>
    </p:spTree>
    <p:extLst>
      <p:ext uri="{BB962C8B-B14F-4D97-AF65-F5344CB8AC3E}">
        <p14:creationId xmlns:p14="http://schemas.microsoft.com/office/powerpoint/2010/main" val="7872137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7B45E4D-C2CD-88A0-A786-9D38338E99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400" b="1" dirty="0"/>
              <a:t>조건문</a:t>
            </a:r>
          </a:p>
          <a:p>
            <a:pPr lvl="1"/>
            <a:r>
              <a:rPr lang="ko-KR" altLang="en-US" sz="1400" dirty="0"/>
              <a:t>조건문은 주어진 조건에 따라 서로 다른 코드를 실행하는데 사용된다</a:t>
            </a:r>
            <a:r>
              <a:rPr lang="en-US" altLang="ko-KR" sz="1400" dirty="0"/>
              <a:t>.</a:t>
            </a:r>
          </a:p>
          <a:p>
            <a:pPr lvl="1"/>
            <a:r>
              <a:rPr lang="en-US" altLang="ko-KR" sz="1400" b="1" dirty="0"/>
              <a:t>if/else </a:t>
            </a:r>
            <a:r>
              <a:rPr lang="ko-KR" altLang="en-US" sz="1400" dirty="0"/>
              <a:t>문은 가장 기본이 되는 조건문</a:t>
            </a:r>
          </a:p>
          <a:p>
            <a:endParaRPr lang="ko-KR" altLang="en-US" sz="1400" dirty="0"/>
          </a:p>
          <a:p>
            <a:endParaRPr lang="ko-KR" altLang="en-US" sz="1400" dirty="0"/>
          </a:p>
          <a:p>
            <a:endParaRPr lang="ko-KR" altLang="en-US" sz="1400" dirty="0"/>
          </a:p>
          <a:p>
            <a:endParaRPr lang="ko-KR" altLang="en-US" sz="1400" dirty="0"/>
          </a:p>
          <a:p>
            <a:endParaRPr lang="ko-KR" altLang="en-US" sz="1400" dirty="0"/>
          </a:p>
          <a:p>
            <a:endParaRPr lang="en-US" altLang="ko-KR" sz="1400" dirty="0"/>
          </a:p>
          <a:p>
            <a:endParaRPr lang="en-US" altLang="ko-KR" sz="1400" dirty="0"/>
          </a:p>
          <a:p>
            <a:r>
              <a:rPr lang="ko-KR" altLang="en-US" sz="1400" b="1" dirty="0"/>
              <a:t>삼항 연산자</a:t>
            </a:r>
          </a:p>
          <a:p>
            <a:pPr lvl="1"/>
            <a:r>
              <a:rPr lang="ko-KR" altLang="en-US" sz="1200" dirty="0"/>
              <a:t>간단한 조건문 표현</a:t>
            </a:r>
          </a:p>
          <a:p>
            <a:endParaRPr lang="ko-KR" altLang="en-US" dirty="0"/>
          </a:p>
        </p:txBody>
      </p:sp>
      <p:sp>
        <p:nvSpPr>
          <p:cNvPr id="99" name="Google Shape;99;p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ko-KR" altLang="en-US" dirty="0"/>
              <a:t>자바스크립트에서 </a:t>
            </a:r>
            <a:r>
              <a:rPr lang="en-US" dirty="0"/>
              <a:t>제어문 </a:t>
            </a:r>
            <a:r>
              <a:rPr lang="ko-KR" altLang="en-US" dirty="0"/>
              <a:t>사용하기</a:t>
            </a:r>
            <a:r>
              <a:rPr lang="en-US" altLang="ko-KR" dirty="0"/>
              <a:t>(1)</a:t>
            </a:r>
            <a:br>
              <a:rPr lang="en-US" dirty="0"/>
            </a:br>
            <a:r>
              <a:rPr lang="en-US" dirty="0"/>
              <a:t>				조건문 – if-else/</a:t>
            </a:r>
            <a:r>
              <a:rPr lang="ko-KR" altLang="en-US" dirty="0"/>
              <a:t>삼항 연산자</a:t>
            </a:r>
            <a:endParaRPr dirty="0"/>
          </a:p>
        </p:txBody>
      </p:sp>
      <p:sp>
        <p:nvSpPr>
          <p:cNvPr id="102" name="Google Shape;102;p8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b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</a:pPr>
            <a:endParaRPr/>
          </a:p>
        </p:txBody>
      </p:sp>
      <p:sp>
        <p:nvSpPr>
          <p:cNvPr id="101" name="Google Shape;101;p8"/>
          <p:cNvSpPr txBox="1">
            <a:spLocks noGrp="1"/>
          </p:cNvSpPr>
          <p:nvPr>
            <p:ph type="sldNum" idx="4294967295"/>
          </p:nvPr>
        </p:nvSpPr>
        <p:spPr>
          <a:xfrm>
            <a:off x="6604000" y="641985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algn="r"/>
            <a:fld id="{00000000-1234-1234-1234-123412341234}" type="slidenum">
              <a:rPr lang="en-US" smtClean="0"/>
              <a:pPr algn="r"/>
              <a:t>2</a:t>
            </a:fld>
            <a:endParaRPr/>
          </a:p>
        </p:txBody>
      </p:sp>
      <p:graphicFrame>
        <p:nvGraphicFramePr>
          <p:cNvPr id="103" name="Google Shape;103;p8"/>
          <p:cNvGraphicFramePr/>
          <p:nvPr>
            <p:extLst>
              <p:ext uri="{D42A27DB-BD31-4B8C-83A1-F6EECF244321}">
                <p14:modId xmlns:p14="http://schemas.microsoft.com/office/powerpoint/2010/main" val="2943578476"/>
              </p:ext>
            </p:extLst>
          </p:nvPr>
        </p:nvGraphicFramePr>
        <p:xfrm>
          <a:off x="1259632" y="2117957"/>
          <a:ext cx="4176464" cy="1775468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41764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25730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/>
                        <a:t>if</a:t>
                      </a:r>
                      <a:r>
                        <a:rPr lang="en-US" sz="1400" b="0" u="none" strike="noStrike" cap="none" dirty="0"/>
                        <a:t> (a &gt; b) </a:t>
                      </a:r>
                      <a:endParaRPr sz="14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 dirty="0"/>
                        <a:t>{    </a:t>
                      </a:r>
                      <a:endParaRPr sz="14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 dirty="0"/>
                        <a:t>    </a:t>
                      </a:r>
                      <a:r>
                        <a:rPr lang="en-US" altLang="ko-KR" sz="1400" b="0" u="none" strike="noStrike" cap="none" dirty="0"/>
                        <a:t>document.write</a:t>
                      </a:r>
                      <a:r>
                        <a:rPr lang="en-US" sz="1400" b="0" u="none" strike="noStrike" cap="none" dirty="0"/>
                        <a:t>("a가 b보다 큽니다.&lt;br&gt;</a:t>
                      </a:r>
                      <a:r>
                        <a:rPr lang="en-US" altLang="ko-KR" sz="1400" b="0" u="none" strike="noStrike" cap="none" dirty="0"/>
                        <a:t>"</a:t>
                      </a:r>
                      <a:r>
                        <a:rPr lang="en-US" sz="1400" b="0" u="none" strike="noStrike" cap="none" dirty="0"/>
                        <a:t>);</a:t>
                      </a:r>
                      <a:endParaRPr sz="14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 dirty="0"/>
                        <a:t>} </a:t>
                      </a:r>
                      <a:r>
                        <a:rPr lang="en-US" sz="1400" b="1" u="none" strike="noStrike" cap="none" dirty="0"/>
                        <a:t>else if </a:t>
                      </a:r>
                      <a:r>
                        <a:rPr lang="en-US" sz="1400" b="0" u="none" strike="noStrike" cap="none" dirty="0"/>
                        <a:t>(a === b) {    </a:t>
                      </a:r>
                      <a:endParaRPr sz="14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 dirty="0"/>
                        <a:t>    </a:t>
                      </a:r>
                      <a:r>
                        <a:rPr lang="en-US" altLang="ko-KR" sz="1400" b="0" u="none" strike="noStrike" cap="none" dirty="0"/>
                        <a:t>document.write </a:t>
                      </a:r>
                      <a:r>
                        <a:rPr lang="en-US" sz="1400" b="0" u="none" strike="noStrike" cap="none" dirty="0"/>
                        <a:t>("a와 b가 </a:t>
                      </a:r>
                      <a:r>
                        <a:rPr lang="en-US" sz="1400" b="0" u="none" strike="noStrike" cap="none" dirty="0" err="1"/>
                        <a:t>같습니다</a:t>
                      </a:r>
                      <a:r>
                        <a:rPr lang="en-US" sz="1400" b="0" u="none" strike="noStrike" cap="none" dirty="0"/>
                        <a:t>.</a:t>
                      </a:r>
                      <a:r>
                        <a:rPr lang="en-US" altLang="ko-KR" sz="1400" b="0" u="none" strike="noStrike" cap="none" dirty="0"/>
                        <a:t>&lt;br&gt;"</a:t>
                      </a:r>
                      <a:r>
                        <a:rPr lang="en-US" sz="1400" b="0" u="none" strike="noStrike" cap="none" dirty="0"/>
                        <a:t>);</a:t>
                      </a:r>
                      <a:endParaRPr sz="14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 dirty="0"/>
                        <a:t>} </a:t>
                      </a:r>
                      <a:r>
                        <a:rPr lang="en-US" sz="1400" b="1" u="none" strike="noStrike" cap="none" dirty="0"/>
                        <a:t>else</a:t>
                      </a:r>
                      <a:r>
                        <a:rPr lang="en-US" sz="1400" b="0" u="none" strike="noStrike" cap="none" dirty="0"/>
                        <a:t> {    </a:t>
                      </a:r>
                      <a:endParaRPr sz="14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 dirty="0"/>
                        <a:t>    </a:t>
                      </a:r>
                      <a:r>
                        <a:rPr lang="en-US" altLang="ko-KR" sz="1400" b="0" u="none" strike="noStrike" cap="none" dirty="0"/>
                        <a:t>document.write</a:t>
                      </a:r>
                      <a:r>
                        <a:rPr lang="en-US" sz="1400" b="0" u="none" strike="noStrike" cap="none" dirty="0"/>
                        <a:t>("a가 b보다 작습니다.</a:t>
                      </a:r>
                      <a:r>
                        <a:rPr lang="en-US" altLang="ko-KR" sz="1400" b="0" u="none" strike="noStrike" cap="none" dirty="0"/>
                        <a:t>&lt;br&gt;"</a:t>
                      </a:r>
                      <a:r>
                        <a:rPr lang="en-US" sz="1400" b="0" u="none" strike="noStrike" cap="none" dirty="0"/>
                        <a:t>);</a:t>
                      </a:r>
                      <a:endParaRPr sz="14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 dirty="0"/>
                        <a:t>}</a:t>
                      </a:r>
                      <a:endParaRPr sz="1400" b="0" u="none" strike="noStrike" cap="none" dirty="0"/>
                    </a:p>
                  </a:txBody>
                  <a:tcPr marL="68588" marR="68588" marT="34294" marB="3429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4" name="Google Shape;104;p8"/>
          <p:cNvGraphicFramePr/>
          <p:nvPr>
            <p:extLst>
              <p:ext uri="{D42A27DB-BD31-4B8C-83A1-F6EECF244321}">
                <p14:modId xmlns:p14="http://schemas.microsoft.com/office/powerpoint/2010/main" val="2084526114"/>
              </p:ext>
            </p:extLst>
          </p:nvPr>
        </p:nvGraphicFramePr>
        <p:xfrm>
          <a:off x="1259632" y="4806544"/>
          <a:ext cx="5584771" cy="495308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55847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6882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/>
                        <a:t>const</a:t>
                      </a:r>
                      <a:r>
                        <a:rPr lang="en-US" sz="1400" b="0" u="none" strike="noStrike" cap="none" dirty="0"/>
                        <a:t> result = a &gt; b ? "a가 더 큽니다." : "b가 더 크거나 같습니다.";</a:t>
                      </a:r>
                      <a:endParaRPr sz="14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400" b="0" u="none" strike="noStrike" cap="none" dirty="0"/>
                        <a:t>document.write</a:t>
                      </a:r>
                      <a:r>
                        <a:rPr lang="en-US" sz="1400" b="0" u="none" strike="noStrike" cap="none" dirty="0"/>
                        <a:t>(result);</a:t>
                      </a:r>
                      <a:endParaRPr sz="1400" b="0" u="none" strike="noStrike" cap="none" dirty="0"/>
                    </a:p>
                  </a:txBody>
                  <a:tcPr marL="68588" marR="68588" marT="34294" marB="3429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ko-KR" altLang="en-US" dirty="0"/>
              <a:t>자바스크립트에서 </a:t>
            </a:r>
            <a:r>
              <a:rPr lang="en-US" altLang="ko-KR" dirty="0"/>
              <a:t>제어문 </a:t>
            </a:r>
            <a:r>
              <a:rPr lang="ko-KR" altLang="en-US" dirty="0"/>
              <a:t>사용하기</a:t>
            </a:r>
            <a:r>
              <a:rPr lang="en-US" altLang="ko-KR" dirty="0"/>
              <a:t>(2)</a:t>
            </a:r>
            <a:br>
              <a:rPr lang="en-US" altLang="ko-KR" dirty="0"/>
            </a:br>
            <a:r>
              <a:rPr lang="en-US" altLang="ko-KR" dirty="0"/>
              <a:t>					</a:t>
            </a:r>
            <a:r>
              <a:rPr lang="en-US" dirty="0"/>
              <a:t>조건문(switch)</a:t>
            </a:r>
            <a:endParaRPr dirty="0"/>
          </a:p>
        </p:txBody>
      </p:sp>
      <p:sp>
        <p:nvSpPr>
          <p:cNvPr id="112" name="Google Shape;112;p9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b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</a:pPr>
            <a:endParaRPr/>
          </a:p>
        </p:txBody>
      </p:sp>
      <p:sp>
        <p:nvSpPr>
          <p:cNvPr id="111" name="Google Shape;111;p9"/>
          <p:cNvSpPr txBox="1">
            <a:spLocks noGrp="1"/>
          </p:cNvSpPr>
          <p:nvPr>
            <p:ph type="sldNum" idx="4294967295"/>
          </p:nvPr>
        </p:nvSpPr>
        <p:spPr>
          <a:xfrm>
            <a:off x="6604000" y="641985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algn="r"/>
            <a:fld id="{00000000-1234-1234-1234-123412341234}" type="slidenum">
              <a:rPr lang="en-US" smtClean="0"/>
              <a:pPr algn="r"/>
              <a:t>3</a:t>
            </a:fld>
            <a:endParaRPr/>
          </a:p>
        </p:txBody>
      </p:sp>
      <p:graphicFrame>
        <p:nvGraphicFramePr>
          <p:cNvPr id="113" name="Google Shape;113;p9"/>
          <p:cNvGraphicFramePr/>
          <p:nvPr>
            <p:extLst>
              <p:ext uri="{D42A27DB-BD31-4B8C-83A1-F6EECF244321}">
                <p14:modId xmlns:p14="http://schemas.microsoft.com/office/powerpoint/2010/main" val="3383110799"/>
              </p:ext>
            </p:extLst>
          </p:nvPr>
        </p:nvGraphicFramePr>
        <p:xfrm>
          <a:off x="1071664" y="2257898"/>
          <a:ext cx="6096000" cy="2506988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2598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/>
                        <a:t>switch</a:t>
                      </a:r>
                      <a:r>
                        <a:rPr lang="en-US" sz="1600" b="0" u="none" strike="noStrike" cap="none" dirty="0"/>
                        <a:t> (day) {    </a:t>
                      </a:r>
                      <a:endParaRPr sz="16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dirty="0"/>
                        <a:t>      </a:t>
                      </a:r>
                      <a:r>
                        <a:rPr lang="en-US" sz="1600" b="1" u="none" strike="noStrike" cap="none" dirty="0"/>
                        <a:t>case</a:t>
                      </a:r>
                      <a:r>
                        <a:rPr lang="en-US" sz="1600" b="0" u="none" strike="noStrike" cap="none" dirty="0"/>
                        <a:t> 1:        </a:t>
                      </a:r>
                      <a:endParaRPr sz="16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dirty="0"/>
                        <a:t>          </a:t>
                      </a:r>
                      <a:r>
                        <a:rPr lang="en-US" altLang="ko-KR" sz="1600" b="0" u="none" strike="noStrike" cap="none" dirty="0"/>
                        <a:t>document.write</a:t>
                      </a:r>
                      <a:r>
                        <a:rPr lang="en-US" sz="1600" b="0" u="none" strike="noStrike" cap="none" dirty="0"/>
                        <a:t>("</a:t>
                      </a:r>
                      <a:r>
                        <a:rPr lang="en-US" sz="1600" b="0" u="none" strike="noStrike" cap="none" dirty="0" err="1"/>
                        <a:t>월요일</a:t>
                      </a:r>
                      <a:r>
                        <a:rPr lang="en-US" sz="1600" b="0" u="none" strike="noStrike" cap="none" dirty="0"/>
                        <a:t>");        </a:t>
                      </a:r>
                      <a:endParaRPr sz="16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dirty="0"/>
                        <a:t>          break;    </a:t>
                      </a:r>
                      <a:endParaRPr sz="16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dirty="0"/>
                        <a:t>      </a:t>
                      </a:r>
                      <a:r>
                        <a:rPr lang="en-US" sz="1600" b="1" u="none" strike="noStrike" cap="none" dirty="0"/>
                        <a:t>case</a:t>
                      </a:r>
                      <a:r>
                        <a:rPr lang="en-US" sz="1600" b="0" u="none" strike="noStrike" cap="none" dirty="0"/>
                        <a:t> 2:        </a:t>
                      </a:r>
                      <a:endParaRPr sz="16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dirty="0"/>
                        <a:t>          </a:t>
                      </a:r>
                      <a:r>
                        <a:rPr lang="en-US" altLang="ko-KR" sz="1600" b="0" u="none" strike="noStrike" cap="none" dirty="0"/>
                        <a:t>document.write</a:t>
                      </a:r>
                      <a:r>
                        <a:rPr lang="en-US" sz="1600" b="0" u="none" strike="noStrike" cap="none" dirty="0"/>
                        <a:t>("</a:t>
                      </a:r>
                      <a:r>
                        <a:rPr lang="en-US" sz="1600" b="0" u="none" strike="noStrike" cap="none" dirty="0" err="1"/>
                        <a:t>화요일</a:t>
                      </a:r>
                      <a:r>
                        <a:rPr lang="en-US" sz="1600" b="0" u="none" strike="noStrike" cap="none" dirty="0"/>
                        <a:t>");        </a:t>
                      </a:r>
                      <a:endParaRPr sz="16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dirty="0"/>
                        <a:t>          break;    </a:t>
                      </a:r>
                      <a:endParaRPr sz="16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dirty="0"/>
                        <a:t>      </a:t>
                      </a:r>
                      <a:r>
                        <a:rPr lang="en-US" sz="1600" b="1" u="none" strike="noStrike" cap="none" dirty="0"/>
                        <a:t>default</a:t>
                      </a:r>
                      <a:r>
                        <a:rPr lang="en-US" sz="1600" b="0" u="none" strike="noStrike" cap="none" dirty="0"/>
                        <a:t>:        </a:t>
                      </a:r>
                      <a:endParaRPr sz="16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dirty="0"/>
                        <a:t>          </a:t>
                      </a:r>
                      <a:r>
                        <a:rPr lang="en-US" altLang="ko-KR" sz="1600" b="0" u="none" strike="noStrike" cap="none" dirty="0"/>
                        <a:t>document.write</a:t>
                      </a:r>
                      <a:r>
                        <a:rPr lang="en-US" sz="1600" b="0" u="none" strike="noStrike" cap="none" dirty="0"/>
                        <a:t>("</a:t>
                      </a:r>
                      <a:r>
                        <a:rPr lang="en-US" sz="1600" b="0" u="none" strike="noStrike" cap="none" dirty="0" err="1"/>
                        <a:t>주말</a:t>
                      </a:r>
                      <a:r>
                        <a:rPr lang="en-US" sz="1600" b="0" u="none" strike="noStrike" cap="none" dirty="0"/>
                        <a:t> </a:t>
                      </a:r>
                      <a:r>
                        <a:rPr lang="en-US" sz="1600" b="0" u="none" strike="noStrike" cap="none" dirty="0" err="1"/>
                        <a:t>또는</a:t>
                      </a:r>
                      <a:r>
                        <a:rPr lang="en-US" sz="1600" b="0" u="none" strike="noStrike" cap="none" dirty="0"/>
                        <a:t> </a:t>
                      </a:r>
                      <a:r>
                        <a:rPr lang="en-US" sz="1600" b="0" u="none" strike="noStrike" cap="none" dirty="0" err="1"/>
                        <a:t>잘못된</a:t>
                      </a:r>
                      <a:r>
                        <a:rPr lang="en-US" sz="1600" b="0" u="none" strike="noStrike" cap="none" dirty="0"/>
                        <a:t> </a:t>
                      </a:r>
                      <a:r>
                        <a:rPr lang="en-US" sz="1600" b="0" u="none" strike="noStrike" cap="none" dirty="0" err="1"/>
                        <a:t>입력</a:t>
                      </a:r>
                      <a:r>
                        <a:rPr lang="en-US" sz="1600" b="0" u="none" strike="noStrike" cap="none" dirty="0"/>
                        <a:t>");</a:t>
                      </a:r>
                      <a:endParaRPr sz="16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dirty="0"/>
                        <a:t>}</a:t>
                      </a:r>
                      <a:endParaRPr sz="1600" b="0" u="none" strike="noStrike" cap="none" dirty="0"/>
                    </a:p>
                  </a:txBody>
                  <a:tcPr marL="68588" marR="68588" marT="34294" marB="3429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FC049F5-1D4F-C05D-5A2D-C74662C02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조건문</a:t>
            </a:r>
          </a:p>
          <a:p>
            <a:pPr lvl="1"/>
            <a:r>
              <a:rPr lang="en-US" altLang="ko-KR" dirty="0"/>
              <a:t>switch</a:t>
            </a:r>
            <a:r>
              <a:rPr lang="ko-KR" altLang="en-US" dirty="0"/>
              <a:t>문은 여러 경우를 처리할 때 사용된다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6F8E22-73D9-371F-1D22-41412B9557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반복문은 특정 코드를 여러 번 실행할 때 사용된다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for </a:t>
            </a:r>
            <a:r>
              <a:rPr lang="ko-KR" altLang="en-US" dirty="0"/>
              <a:t>문</a:t>
            </a:r>
          </a:p>
          <a:p>
            <a:pPr lvl="1"/>
            <a:r>
              <a:rPr lang="ko-KR" altLang="en-US" dirty="0"/>
              <a:t>고정된 횟수 반복</a:t>
            </a:r>
          </a:p>
          <a:p>
            <a:endParaRPr lang="ko-KR" altLang="en-US" dirty="0"/>
          </a:p>
          <a:p>
            <a:pPr marL="0" indent="0">
              <a:buNone/>
            </a:pPr>
            <a:endParaRPr lang="ko-KR" altLang="en-US" dirty="0"/>
          </a:p>
          <a:p>
            <a:r>
              <a:rPr lang="en-US" altLang="ko-KR" dirty="0"/>
              <a:t>while </a:t>
            </a:r>
            <a:r>
              <a:rPr lang="ko-KR" altLang="en-US" dirty="0"/>
              <a:t>문</a:t>
            </a:r>
          </a:p>
          <a:p>
            <a:pPr lvl="1"/>
            <a:r>
              <a:rPr lang="ko-KR" altLang="en-US" dirty="0"/>
              <a:t>조건이 참인 동안 반복</a:t>
            </a:r>
          </a:p>
        </p:txBody>
      </p:sp>
      <p:sp>
        <p:nvSpPr>
          <p:cNvPr id="118" name="Google Shape;118;p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ko-KR" altLang="en-US" dirty="0"/>
              <a:t>자바스크립트에서 </a:t>
            </a:r>
            <a:r>
              <a:rPr lang="en-US" altLang="ko-KR" dirty="0"/>
              <a:t>제어문 </a:t>
            </a:r>
            <a:r>
              <a:rPr lang="ko-KR" altLang="en-US" dirty="0"/>
              <a:t>사용하기</a:t>
            </a:r>
            <a:r>
              <a:rPr lang="en-US" altLang="ko-KR" dirty="0"/>
              <a:t>(3)</a:t>
            </a:r>
            <a:br>
              <a:rPr lang="en-US" altLang="ko-KR" dirty="0"/>
            </a:br>
            <a:r>
              <a:rPr lang="en-US" altLang="ko-KR" dirty="0"/>
              <a:t>					</a:t>
            </a:r>
            <a:r>
              <a:rPr lang="ko-KR" altLang="en-US" dirty="0"/>
              <a:t>반복문</a:t>
            </a:r>
            <a:r>
              <a:rPr lang="en-US" altLang="ko-KR" dirty="0"/>
              <a:t>(for/while)</a:t>
            </a:r>
            <a:endParaRPr dirty="0"/>
          </a:p>
        </p:txBody>
      </p:sp>
      <p:sp>
        <p:nvSpPr>
          <p:cNvPr id="121" name="Google Shape;121;p10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numCol="1" anchor="b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</a:pPr>
            <a:endParaRPr/>
          </a:p>
        </p:txBody>
      </p:sp>
      <p:sp>
        <p:nvSpPr>
          <p:cNvPr id="120" name="Google Shape;120;p10"/>
          <p:cNvSpPr txBox="1">
            <a:spLocks noGrp="1"/>
          </p:cNvSpPr>
          <p:nvPr>
            <p:ph type="sldNum" idx="4294967295"/>
          </p:nvPr>
        </p:nvSpPr>
        <p:spPr>
          <a:xfrm>
            <a:off x="6604000" y="641985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algn="r"/>
            <a:fld id="{00000000-1234-1234-1234-123412341234}" type="slidenum">
              <a:rPr lang="en-US" smtClean="0"/>
              <a:pPr algn="r"/>
              <a:t>4</a:t>
            </a:fld>
            <a:endParaRPr/>
          </a:p>
        </p:txBody>
      </p:sp>
      <p:graphicFrame>
        <p:nvGraphicFramePr>
          <p:cNvPr id="122" name="Google Shape;122;p10"/>
          <p:cNvGraphicFramePr/>
          <p:nvPr>
            <p:extLst>
              <p:ext uri="{D42A27DB-BD31-4B8C-83A1-F6EECF244321}">
                <p14:modId xmlns:p14="http://schemas.microsoft.com/office/powerpoint/2010/main" val="2511337010"/>
              </p:ext>
            </p:extLst>
          </p:nvPr>
        </p:nvGraphicFramePr>
        <p:xfrm>
          <a:off x="1547664" y="2564904"/>
          <a:ext cx="5056336" cy="72008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50563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2008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n-NO" sz="1400" b="1" u="none" strike="noStrike" cap="none" dirty="0"/>
                        <a:t>for</a:t>
                      </a:r>
                      <a:r>
                        <a:rPr lang="nn-NO" sz="1400" b="0" u="none" strike="noStrike" cap="none" dirty="0"/>
                        <a:t> (</a:t>
                      </a:r>
                      <a:r>
                        <a:rPr lang="nn-NO" sz="1400" b="1" u="none" strike="noStrike" cap="none" dirty="0"/>
                        <a:t>let</a:t>
                      </a:r>
                      <a:r>
                        <a:rPr lang="nn-NO" sz="1400" b="0" u="none" strike="noStrike" cap="none" dirty="0"/>
                        <a:t> i = 0; i &lt; 5; i++) {</a:t>
                      </a:r>
                      <a:endParaRPr lang="nn-NO" sz="14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n-NO" sz="1400" b="0" u="none" strike="noStrike" cap="none" dirty="0"/>
                        <a:t>   document.write(i+</a:t>
                      </a:r>
                      <a:r>
                        <a:rPr lang="nn-NO" altLang="ko-KR" sz="1400" dirty="0"/>
                        <a:t>"&lt;br&gt;"</a:t>
                      </a:r>
                      <a:r>
                        <a:rPr lang="nn-NO" sz="1400" b="0" u="none" strike="noStrike" cap="none" dirty="0"/>
                        <a:t>);</a:t>
                      </a:r>
                      <a:endParaRPr lang="nn-NO" sz="14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n-NO" sz="1400" b="0" u="none" strike="noStrike" cap="none" dirty="0"/>
                        <a:t>}</a:t>
                      </a:r>
                    </a:p>
                  </a:txBody>
                  <a:tcPr marL="68588" marR="68588" marT="34294" marB="3429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3" name="Google Shape;123;p10"/>
          <p:cNvGraphicFramePr/>
          <p:nvPr>
            <p:extLst>
              <p:ext uri="{D42A27DB-BD31-4B8C-83A1-F6EECF244321}">
                <p14:modId xmlns:p14="http://schemas.microsoft.com/office/powerpoint/2010/main" val="3158247190"/>
              </p:ext>
            </p:extLst>
          </p:nvPr>
        </p:nvGraphicFramePr>
        <p:xfrm>
          <a:off x="1541492" y="4437112"/>
          <a:ext cx="5056335" cy="1348748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50563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0302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/>
                        <a:t>let</a:t>
                      </a:r>
                      <a:r>
                        <a:rPr lang="en-US" sz="1400" b="0" u="none" strike="noStrike" cap="none" dirty="0"/>
                        <a:t> count = 3;</a:t>
                      </a:r>
                      <a:endParaRPr sz="14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/>
                        <a:t>while</a:t>
                      </a:r>
                      <a:r>
                        <a:rPr lang="en-US" sz="1400" b="0" u="none" strike="noStrike" cap="none" dirty="0"/>
                        <a:t> (count &gt; 0) </a:t>
                      </a:r>
                      <a:endParaRPr sz="14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 dirty="0"/>
                        <a:t>{   </a:t>
                      </a:r>
                      <a:endParaRPr sz="14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 dirty="0"/>
                        <a:t>   document.write(count</a:t>
                      </a:r>
                      <a:r>
                        <a:rPr lang="en-US" altLang="ko-KR" sz="1400" b="0" u="none" strike="noStrike" cap="none" dirty="0"/>
                        <a:t>+</a:t>
                      </a:r>
                      <a:r>
                        <a:rPr lang="en-US" altLang="ko-KR" sz="1400" dirty="0"/>
                        <a:t>"&lt;br&gt;"</a:t>
                      </a:r>
                      <a:r>
                        <a:rPr lang="en-US" sz="1400" b="0" u="none" strike="noStrike" cap="none" dirty="0"/>
                        <a:t>);    </a:t>
                      </a:r>
                      <a:endParaRPr sz="14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 dirty="0"/>
                        <a:t>   count--;</a:t>
                      </a:r>
                      <a:endParaRPr sz="14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 dirty="0"/>
                        <a:t>}</a:t>
                      </a:r>
                      <a:endParaRPr sz="1400" b="0" u="none" strike="noStrike" cap="none" dirty="0"/>
                    </a:p>
                  </a:txBody>
                  <a:tcPr marL="68588" marR="68588" marT="34294" marB="3429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A370F9-1FEE-32B7-0502-A5E938489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자바스크립트에서 </a:t>
            </a:r>
            <a:r>
              <a:rPr lang="en-US" altLang="ko-KR" dirty="0"/>
              <a:t>제어문 </a:t>
            </a:r>
            <a:r>
              <a:rPr lang="ko-KR" altLang="en-US" dirty="0"/>
              <a:t>사용하기</a:t>
            </a:r>
            <a:r>
              <a:rPr lang="en-US" altLang="ko-KR" dirty="0"/>
              <a:t>(4)</a:t>
            </a:r>
            <a:br>
              <a:rPr lang="en-US" altLang="ko-KR" dirty="0"/>
            </a:br>
            <a:r>
              <a:rPr lang="en-US" altLang="ko-KR" dirty="0"/>
              <a:t>					</a:t>
            </a:r>
            <a:r>
              <a:rPr lang="ko-KR" altLang="en-US" dirty="0"/>
              <a:t>배열 순회</a:t>
            </a:r>
            <a:r>
              <a:rPr lang="en-US" altLang="ko-KR" dirty="0"/>
              <a:t>/</a:t>
            </a:r>
            <a:r>
              <a:rPr lang="ko-KR" altLang="en-US" dirty="0"/>
              <a:t>객체 순회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B0173C8-79CE-1B73-0678-16767772C2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배열 순회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en-US" dirty="0"/>
              <a:t>객체 순회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1B9136-3EB8-C20A-E85D-F01289F369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753E709-C6A3-4DBD-82F7-6E5ED028B16F}" type="slidenum">
              <a:rPr lang="en-US" altLang="ko-KR" smtClean="0"/>
              <a:pPr>
                <a:defRPr/>
              </a:pPr>
              <a:t>5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64F285-F1D3-78E3-6C0D-6D6F32A6E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57C38B-35F5-FFA7-516F-05F092591F45}"/>
              </a:ext>
            </a:extLst>
          </p:cNvPr>
          <p:cNvSpPr txBox="1"/>
          <p:nvPr/>
        </p:nvSpPr>
        <p:spPr>
          <a:xfrm>
            <a:off x="827584" y="1700808"/>
            <a:ext cx="4055213" cy="1477328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let fruits = ["</a:t>
            </a:r>
            <a:r>
              <a:rPr lang="ko-KR" altLang="en-US" dirty="0"/>
              <a:t>사과</a:t>
            </a:r>
            <a:r>
              <a:rPr lang="en-US" altLang="ko-KR" dirty="0"/>
              <a:t>", "</a:t>
            </a:r>
            <a:r>
              <a:rPr lang="ko-KR" altLang="en-US" dirty="0"/>
              <a:t>바나나</a:t>
            </a:r>
            <a:r>
              <a:rPr lang="en-US" altLang="ko-KR" dirty="0"/>
              <a:t>", "</a:t>
            </a:r>
            <a:r>
              <a:rPr lang="ko-KR" altLang="en-US" dirty="0"/>
              <a:t>포도</a:t>
            </a:r>
            <a:r>
              <a:rPr lang="en-US" altLang="ko-KR" dirty="0"/>
              <a:t>"];</a:t>
            </a:r>
          </a:p>
          <a:p>
            <a:endParaRPr lang="en-US" altLang="ko-KR" dirty="0"/>
          </a:p>
          <a:p>
            <a:r>
              <a:rPr lang="en-US" altLang="ko-KR" dirty="0"/>
              <a:t>for (</a:t>
            </a:r>
            <a:r>
              <a:rPr lang="en-US" altLang="ko-KR" b="1" dirty="0"/>
              <a:t>let fruit of fruits</a:t>
            </a:r>
            <a:r>
              <a:rPr lang="en-US" altLang="ko-KR" dirty="0"/>
              <a:t>) {</a:t>
            </a:r>
          </a:p>
          <a:p>
            <a:r>
              <a:rPr lang="en-US" altLang="ko-KR" dirty="0"/>
              <a:t>  document.write(fruit+"&lt;br&gt;");</a:t>
            </a:r>
          </a:p>
          <a:p>
            <a:r>
              <a:rPr lang="en-US" altLang="ko-KR" dirty="0"/>
              <a:t>}</a:t>
            </a:r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42F196E3-2088-C355-21DF-77FD1F8332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6096" y="1614996"/>
            <a:ext cx="1524000" cy="1704975"/>
          </a:xfrm>
          <a:prstGeom prst="rect">
            <a:avLst/>
          </a:prstGeom>
          <a:ln>
            <a:solidFill>
              <a:srgbClr val="000000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1EC8989-2907-DD22-57F7-975D21B11518}"/>
              </a:ext>
            </a:extLst>
          </p:cNvPr>
          <p:cNvSpPr txBox="1"/>
          <p:nvPr/>
        </p:nvSpPr>
        <p:spPr>
          <a:xfrm>
            <a:off x="827584" y="4031940"/>
            <a:ext cx="4776820" cy="1754326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let person = { name: "</a:t>
            </a:r>
            <a:r>
              <a:rPr lang="ko-KR" altLang="en-US" dirty="0"/>
              <a:t>재한</a:t>
            </a:r>
            <a:r>
              <a:rPr lang="en-US" altLang="ko-KR" dirty="0"/>
              <a:t>", age: 30 };</a:t>
            </a:r>
          </a:p>
          <a:p>
            <a:endParaRPr lang="en-US" altLang="ko-KR" dirty="0"/>
          </a:p>
          <a:p>
            <a:r>
              <a:rPr lang="en-US" altLang="ko-KR" dirty="0"/>
              <a:t>for (</a:t>
            </a:r>
            <a:r>
              <a:rPr lang="en-US" altLang="ko-KR" b="1" dirty="0"/>
              <a:t>let key in person</a:t>
            </a:r>
            <a:r>
              <a:rPr lang="en-US" altLang="ko-KR" dirty="0"/>
              <a:t>) {</a:t>
            </a:r>
          </a:p>
          <a:p>
            <a:r>
              <a:rPr lang="en-US" altLang="ko-KR" dirty="0"/>
              <a:t>   document.write(key + ": " + person[key]);</a:t>
            </a:r>
          </a:p>
          <a:p>
            <a:r>
              <a:rPr lang="en-US" altLang="ko-KR" dirty="0"/>
              <a:t>}</a:t>
            </a:r>
          </a:p>
          <a:p>
            <a:endParaRPr lang="ko-KR" alt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C32E891D-AF7B-A286-1DCE-703C097CF4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6444" y="4439444"/>
            <a:ext cx="2219325" cy="1228725"/>
          </a:xfrm>
          <a:prstGeom prst="rect">
            <a:avLst/>
          </a:prstGeom>
          <a:ln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3477643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11474B-A0B2-58D0-2DBD-7B4A37ACB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230" y="146050"/>
            <a:ext cx="7773035" cy="762635"/>
          </a:xfrm>
        </p:spPr>
        <p:txBody>
          <a:bodyPr/>
          <a:lstStyle/>
          <a:p>
            <a:r>
              <a:rPr lang="ko-KR" altLang="en-US" dirty="0"/>
              <a:t>자바스크립트에서 배열 사용하기</a:t>
            </a:r>
            <a:r>
              <a:rPr lang="en-US" altLang="ko-KR" dirty="0"/>
              <a:t>(1)</a:t>
            </a:r>
            <a:br>
              <a:rPr lang="en-US" altLang="ko-KR" dirty="0"/>
            </a:br>
            <a:r>
              <a:rPr lang="en-US" altLang="ko-KR" dirty="0"/>
              <a:t>					</a:t>
            </a:r>
            <a:r>
              <a:rPr lang="ko-KR" altLang="en-US" dirty="0"/>
              <a:t>배열의 이해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CCB7C3E-5312-F58B-345C-7A3D654A6B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500" y="1152525"/>
            <a:ext cx="7772400" cy="3140710"/>
          </a:xfrm>
        </p:spPr>
        <p:txBody>
          <a:bodyPr>
            <a:normAutofit/>
          </a:bodyPr>
          <a:lstStyle/>
          <a:p>
            <a:r>
              <a:rPr lang="ko-KR" altLang="en-US" sz="1800" dirty="0"/>
              <a:t>배열은 여러 값을 순서대로 저장하는 자료구조이다</a:t>
            </a:r>
            <a:r>
              <a:rPr lang="en-US" altLang="ko-KR" sz="1800" dirty="0"/>
              <a:t>.</a:t>
            </a:r>
          </a:p>
          <a:p>
            <a:r>
              <a:rPr lang="ko-KR" altLang="en-US" sz="1800" dirty="0"/>
              <a:t>문자</a:t>
            </a:r>
            <a:r>
              <a:rPr lang="en-US" altLang="ko-KR" sz="1800" dirty="0"/>
              <a:t>,</a:t>
            </a:r>
            <a:r>
              <a:rPr lang="ko-KR" altLang="en-US" sz="1800" dirty="0"/>
              <a:t> 숫자</a:t>
            </a:r>
            <a:r>
              <a:rPr lang="en-US" altLang="ko-KR" sz="1800" dirty="0"/>
              <a:t>, </a:t>
            </a:r>
            <a:r>
              <a:rPr lang="ko-KR" altLang="en-US" sz="1800" dirty="0"/>
              <a:t>객체</a:t>
            </a:r>
            <a:r>
              <a:rPr lang="en-US" altLang="ko-KR" sz="1800" dirty="0"/>
              <a:t>, </a:t>
            </a:r>
            <a:r>
              <a:rPr lang="ko-KR" altLang="en-US" sz="1800" dirty="0"/>
              <a:t>함수 등 모든 타입을 담을 수 있다</a:t>
            </a:r>
            <a:r>
              <a:rPr lang="en-US" altLang="ko-KR" sz="1800" dirty="0"/>
              <a:t>.</a:t>
            </a:r>
          </a:p>
          <a:p>
            <a:r>
              <a:rPr lang="en-US" altLang="ko-KR" sz="1800" dirty="0"/>
              <a:t>Index</a:t>
            </a:r>
            <a:r>
              <a:rPr lang="ko-KR" altLang="en-US" sz="1800" dirty="0"/>
              <a:t>는</a:t>
            </a:r>
            <a:r>
              <a:rPr lang="en-US" altLang="ko-KR" sz="1800" dirty="0"/>
              <a:t> 0</a:t>
            </a:r>
            <a:r>
              <a:rPr lang="ko-KR" altLang="en-US" sz="1800" dirty="0"/>
              <a:t>부터 시작해서 접근할 수 있다</a:t>
            </a:r>
            <a:r>
              <a:rPr lang="en-US" altLang="ko-KR" sz="1800" dirty="0"/>
              <a:t>.</a:t>
            </a:r>
          </a:p>
          <a:p>
            <a:r>
              <a:rPr lang="ko-KR" altLang="en-US" sz="1800" b="1" dirty="0"/>
              <a:t>배열을 선언하는 방법</a:t>
            </a:r>
            <a:endParaRPr lang="en-US" altLang="ko-KR" sz="1800" b="1" dirty="0"/>
          </a:p>
          <a:p>
            <a:endParaRPr lang="en-US" altLang="ko-KR" sz="1800" dirty="0"/>
          </a:p>
          <a:p>
            <a:endParaRPr lang="en-US" altLang="ko-KR" sz="1800" dirty="0"/>
          </a:p>
          <a:p>
            <a:endParaRPr lang="en-US" altLang="ko-KR" sz="1800" dirty="0"/>
          </a:p>
          <a:p>
            <a:r>
              <a:rPr lang="ko-KR" altLang="en-US" sz="1800" b="1" dirty="0"/>
              <a:t>배열의 기본 특징</a:t>
            </a:r>
            <a:endParaRPr lang="en-US" altLang="ko-KR" sz="1800" b="1" dirty="0"/>
          </a:p>
          <a:p>
            <a:endParaRPr lang="ko-KR" altLang="en-US" sz="18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7C0EBA-1AA4-6AF6-8953-5966803A9E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112000" y="6419850"/>
            <a:ext cx="1905635" cy="305435"/>
          </a:xfrm>
        </p:spPr>
        <p:txBody>
          <a:bodyPr/>
          <a:lstStyle/>
          <a:p>
            <a:pPr>
              <a:defRPr/>
            </a:pPr>
            <a:fld id="{D753E709-C6A3-4DBD-82F7-6E5ED028B16F}" type="slidenum">
              <a:rPr lang="en-US" altLang="ko-KR" smtClean="0"/>
              <a:pPr>
                <a:defRPr/>
              </a:pPr>
              <a:t>6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4968A47-945B-E822-D421-20CEE6F1E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97255" y="6393180"/>
            <a:ext cx="3110230" cy="349885"/>
          </a:xfrm>
        </p:spPr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F0BBD4-0AFD-22A0-215F-7BF09D01D07F}"/>
              </a:ext>
            </a:extLst>
          </p:cNvPr>
          <p:cNvSpPr txBox="1"/>
          <p:nvPr/>
        </p:nvSpPr>
        <p:spPr>
          <a:xfrm>
            <a:off x="838835" y="2708910"/>
            <a:ext cx="6273165" cy="92329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/>
              <a:t>let</a:t>
            </a:r>
            <a:r>
              <a:rPr lang="en-US" altLang="ko-KR" dirty="0"/>
              <a:t> fruits = ["</a:t>
            </a:r>
            <a:r>
              <a:rPr lang="ko-KR" altLang="en-US" dirty="0"/>
              <a:t>사과</a:t>
            </a:r>
            <a:r>
              <a:rPr lang="en-US" altLang="ko-KR" dirty="0"/>
              <a:t>", "</a:t>
            </a:r>
            <a:r>
              <a:rPr lang="ko-KR" altLang="en-US" dirty="0"/>
              <a:t>바나나</a:t>
            </a:r>
            <a:r>
              <a:rPr lang="en-US" altLang="ko-KR" dirty="0"/>
              <a:t>", "</a:t>
            </a:r>
            <a:r>
              <a:rPr lang="ko-KR" altLang="en-US" dirty="0"/>
              <a:t>포도</a:t>
            </a:r>
            <a:r>
              <a:rPr lang="en-US" altLang="ko-KR" dirty="0"/>
              <a:t>"];        // </a:t>
            </a:r>
            <a:r>
              <a:rPr lang="ko-KR" altLang="en-US" dirty="0"/>
              <a:t>배열 리터럴</a:t>
            </a:r>
          </a:p>
          <a:p>
            <a:r>
              <a:rPr lang="en-US" altLang="ko-KR" b="1" dirty="0"/>
              <a:t>let</a:t>
            </a:r>
            <a:r>
              <a:rPr lang="en-US" altLang="ko-KR" dirty="0"/>
              <a:t> numbers = new Array(1, 2, 3, 4);          // Array </a:t>
            </a:r>
            <a:r>
              <a:rPr lang="ko-KR" altLang="en-US" dirty="0"/>
              <a:t>생성자</a:t>
            </a:r>
          </a:p>
          <a:p>
            <a:r>
              <a:rPr lang="en-US" altLang="ko-KR" b="1" dirty="0"/>
              <a:t>let</a:t>
            </a:r>
            <a:r>
              <a:rPr lang="en-US" altLang="ko-KR" dirty="0"/>
              <a:t> empty = [];                                         // </a:t>
            </a:r>
            <a:r>
              <a:rPr lang="ko-KR" altLang="en-US" dirty="0"/>
              <a:t>빈 배열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44EB74-B691-3A8B-E500-06892219BE4E}"/>
              </a:ext>
            </a:extLst>
          </p:cNvPr>
          <p:cNvSpPr txBox="1"/>
          <p:nvPr/>
        </p:nvSpPr>
        <p:spPr>
          <a:xfrm>
            <a:off x="838835" y="4258945"/>
            <a:ext cx="3397885" cy="1477645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fruits[0] → "</a:t>
            </a:r>
            <a:r>
              <a:rPr lang="ko-KR" altLang="en-US" dirty="0"/>
              <a:t>사과</a:t>
            </a:r>
            <a:r>
              <a:rPr lang="en-US" altLang="ko-KR" dirty="0"/>
              <a:t>" (0</a:t>
            </a:r>
            <a:r>
              <a:rPr lang="ko-KR" altLang="en-US" dirty="0"/>
              <a:t>번째 요소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ko-KR" altLang="en-US" dirty="0"/>
              <a:t>배열 길이</a:t>
            </a:r>
            <a:r>
              <a:rPr lang="en-US" altLang="ko-KR" dirty="0"/>
              <a:t>: </a:t>
            </a:r>
            <a:r>
              <a:rPr lang="en-US" altLang="ko-KR" dirty="0" err="1"/>
              <a:t>fruits.length</a:t>
            </a:r>
            <a:r>
              <a:rPr lang="en-US" altLang="ko-KR" dirty="0"/>
              <a:t> → 3</a:t>
            </a:r>
          </a:p>
          <a:p>
            <a:endParaRPr lang="en-US" altLang="ko-KR" dirty="0"/>
          </a:p>
          <a:p>
            <a:r>
              <a:rPr lang="ko-KR" altLang="en-US" dirty="0"/>
              <a:t>타입</a:t>
            </a:r>
            <a:r>
              <a:rPr lang="en-US" altLang="ko-KR" dirty="0"/>
              <a:t>: typeof fruits → "object"</a:t>
            </a:r>
            <a:endParaRPr lang="ko-KR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">
            <p14:nvContentPartPr>
              <p14:cNvPr id="8" name="잉크 1"/>
              <p14:cNvContentPartPr/>
              <p14:nvPr/>
            </p14:nvContentPartPr>
            <p14:xfrm>
              <a:off x="5110480" y="4470400"/>
              <a:ext cx="384175" cy="631825"/>
            </p14:xfrm>
          </p:contentPart>
        </mc:Choice>
        <mc:Fallback>
          <p:pic>
            <p:nvPicPr>
              <p:cNvPr id="8" name="잉크 1"/>
              <p:cNvPicPr/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110480" y="4470400"/>
                <a:ext cx="384175" cy="6318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065742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5B9238-563B-4404-5B31-1FCE4ACE3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자바스크립트에서 배열 사용하기</a:t>
            </a:r>
            <a:r>
              <a:rPr lang="en-US" altLang="ko-KR" dirty="0"/>
              <a:t>(2)</a:t>
            </a:r>
            <a:br>
              <a:rPr lang="en-US" altLang="ko-KR" dirty="0"/>
            </a:br>
            <a:r>
              <a:rPr lang="en-US" altLang="ko-KR" dirty="0"/>
              <a:t>					</a:t>
            </a:r>
            <a:r>
              <a:rPr lang="ko-KR" altLang="en-US" dirty="0"/>
              <a:t>주요 배열 메서드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712A33E-DE5B-2583-1171-022DAD7B5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800" b="1" dirty="0"/>
              <a:t>추가</a:t>
            </a:r>
            <a:r>
              <a:rPr lang="en-US" altLang="ko-KR" sz="1800" b="1" dirty="0"/>
              <a:t>/</a:t>
            </a:r>
            <a:r>
              <a:rPr lang="ko-KR" altLang="en-US" sz="1800" b="1" dirty="0"/>
              <a:t>삭제 메서드</a:t>
            </a:r>
            <a:endParaRPr lang="en-US" altLang="ko-KR" sz="1800" b="1" dirty="0"/>
          </a:p>
          <a:p>
            <a:endParaRPr lang="en-US" altLang="ko-KR" sz="1800" dirty="0"/>
          </a:p>
          <a:p>
            <a:endParaRPr lang="en-US" altLang="ko-KR" sz="1800" dirty="0"/>
          </a:p>
          <a:p>
            <a:endParaRPr lang="en-US" altLang="ko-KR" sz="1800" dirty="0"/>
          </a:p>
          <a:p>
            <a:endParaRPr lang="en-US" altLang="ko-KR" sz="1800" dirty="0"/>
          </a:p>
          <a:p>
            <a:endParaRPr lang="en-US" altLang="ko-KR" sz="1800" dirty="0"/>
          </a:p>
          <a:p>
            <a:r>
              <a:rPr lang="ko-KR" altLang="en-US" sz="1800" b="1" dirty="0"/>
              <a:t>반복 처리</a:t>
            </a:r>
            <a:endParaRPr lang="en-US" altLang="ko-KR" sz="18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D1DF40-54DD-916A-6ABF-70A31DD312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753E709-C6A3-4DBD-82F7-6E5ED028B16F}" type="slidenum">
              <a:rPr lang="en-US" altLang="ko-KR" smtClean="0"/>
              <a:pPr>
                <a:defRPr/>
              </a:pPr>
              <a:t>7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A895ADE-6D1A-29AC-A708-7286AF710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957550-0C67-F17F-D5C1-3C68359366A6}"/>
              </a:ext>
            </a:extLst>
          </p:cNvPr>
          <p:cNvSpPr txBox="1"/>
          <p:nvPr/>
        </p:nvSpPr>
        <p:spPr>
          <a:xfrm>
            <a:off x="827583" y="1556792"/>
            <a:ext cx="4475295" cy="1815882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let</a:t>
            </a:r>
            <a:r>
              <a:rPr lang="en-US" altLang="ko-KR" sz="1600" dirty="0"/>
              <a:t> colors = ["</a:t>
            </a:r>
            <a:r>
              <a:rPr lang="ko-KR" altLang="en-US" sz="1600" dirty="0"/>
              <a:t>빨강</a:t>
            </a:r>
            <a:r>
              <a:rPr lang="en-US" altLang="ko-KR" sz="1600" dirty="0"/>
              <a:t>", "</a:t>
            </a:r>
            <a:r>
              <a:rPr lang="ko-KR" altLang="en-US" sz="1600" dirty="0"/>
              <a:t>파랑</a:t>
            </a:r>
            <a:r>
              <a:rPr lang="en-US" altLang="ko-KR" sz="1600" dirty="0"/>
              <a:t>"];</a:t>
            </a:r>
          </a:p>
          <a:p>
            <a:r>
              <a:rPr lang="en-US" altLang="ko-KR" sz="1600" dirty="0"/>
              <a:t>colors.</a:t>
            </a:r>
            <a:r>
              <a:rPr lang="en-US" altLang="ko-KR" sz="1600" b="1" dirty="0"/>
              <a:t>push</a:t>
            </a:r>
            <a:r>
              <a:rPr lang="en-US" altLang="ko-KR" sz="1600" dirty="0"/>
              <a:t>("</a:t>
            </a:r>
            <a:r>
              <a:rPr lang="ko-KR" altLang="en-US" sz="1600" dirty="0"/>
              <a:t>초록</a:t>
            </a:r>
            <a:r>
              <a:rPr lang="en-US" altLang="ko-KR" sz="1600" dirty="0"/>
              <a:t>");              // </a:t>
            </a:r>
            <a:r>
              <a:rPr lang="ko-KR" altLang="en-US" sz="1600" dirty="0"/>
              <a:t>뒤에 추가</a:t>
            </a:r>
          </a:p>
          <a:p>
            <a:r>
              <a:rPr lang="en-US" altLang="ko-KR" sz="1600" dirty="0"/>
              <a:t>colors.</a:t>
            </a:r>
            <a:r>
              <a:rPr lang="en-US" altLang="ko-KR" sz="1600" b="1" dirty="0"/>
              <a:t>unshift</a:t>
            </a:r>
            <a:r>
              <a:rPr lang="en-US" altLang="ko-KR" sz="1600" dirty="0"/>
              <a:t>("</a:t>
            </a:r>
            <a:r>
              <a:rPr lang="ko-KR" altLang="en-US" sz="1600" dirty="0"/>
              <a:t>노랑</a:t>
            </a:r>
            <a:r>
              <a:rPr lang="en-US" altLang="ko-KR" sz="1600" dirty="0"/>
              <a:t>");           // </a:t>
            </a:r>
            <a:r>
              <a:rPr lang="ko-KR" altLang="en-US" sz="1600" dirty="0"/>
              <a:t>앞에 추가</a:t>
            </a:r>
          </a:p>
          <a:p>
            <a:r>
              <a:rPr lang="en-US" altLang="ko-KR" sz="1600" dirty="0"/>
              <a:t>colors.</a:t>
            </a:r>
            <a:r>
              <a:rPr lang="en-US" altLang="ko-KR" sz="1600" b="1" dirty="0"/>
              <a:t>pop</a:t>
            </a:r>
            <a:r>
              <a:rPr lang="en-US" altLang="ko-KR" sz="1600" dirty="0"/>
              <a:t>();                        // </a:t>
            </a:r>
            <a:r>
              <a:rPr lang="ko-KR" altLang="en-US" sz="1600" dirty="0"/>
              <a:t>뒤에서 삭제</a:t>
            </a:r>
          </a:p>
          <a:p>
            <a:r>
              <a:rPr lang="en-US" altLang="ko-KR" sz="1600" dirty="0"/>
              <a:t>colors.</a:t>
            </a:r>
            <a:r>
              <a:rPr lang="en-US" altLang="ko-KR" sz="1600" b="1" dirty="0"/>
              <a:t>shift</a:t>
            </a:r>
            <a:r>
              <a:rPr lang="en-US" altLang="ko-KR" sz="1600" dirty="0"/>
              <a:t>();                       // </a:t>
            </a:r>
            <a:r>
              <a:rPr lang="ko-KR" altLang="en-US" sz="1600" dirty="0"/>
              <a:t>앞에서 삭제</a:t>
            </a:r>
          </a:p>
          <a:p>
            <a:endParaRPr lang="ko-KR" altLang="en-US" sz="1600" dirty="0"/>
          </a:p>
          <a:p>
            <a:r>
              <a:rPr lang="en-US" altLang="ko-KR" sz="1600" dirty="0"/>
              <a:t>document.write(colors+"&lt;br&gt;");      //</a:t>
            </a:r>
            <a:r>
              <a:rPr lang="ko-KR" altLang="en-US" sz="1600" dirty="0"/>
              <a:t>결과는</a:t>
            </a:r>
            <a:r>
              <a:rPr lang="en-US" altLang="ko-KR" sz="1600" dirty="0"/>
              <a:t>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3EF88E-A53F-9626-AB86-A7389AB4CAC1}"/>
              </a:ext>
            </a:extLst>
          </p:cNvPr>
          <p:cNvSpPr txBox="1"/>
          <p:nvPr/>
        </p:nvSpPr>
        <p:spPr>
          <a:xfrm>
            <a:off x="2843808" y="4581128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FB19FA-D115-51CA-8BB8-51593C4CB12F}"/>
              </a:ext>
            </a:extLst>
          </p:cNvPr>
          <p:cNvSpPr txBox="1"/>
          <p:nvPr/>
        </p:nvSpPr>
        <p:spPr>
          <a:xfrm>
            <a:off x="759648" y="3901430"/>
            <a:ext cx="4594528" cy="1477328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/>
              <a:t>let</a:t>
            </a:r>
            <a:r>
              <a:rPr lang="en-US" altLang="ko-KR" dirty="0"/>
              <a:t> animals = ["</a:t>
            </a:r>
            <a:r>
              <a:rPr lang="ko-KR" altLang="en-US" dirty="0"/>
              <a:t>강아지</a:t>
            </a:r>
            <a:r>
              <a:rPr lang="en-US" altLang="ko-KR" dirty="0"/>
              <a:t>", "</a:t>
            </a:r>
            <a:r>
              <a:rPr lang="ko-KR" altLang="en-US" dirty="0"/>
              <a:t>고양이</a:t>
            </a:r>
            <a:r>
              <a:rPr lang="en-US" altLang="ko-KR" dirty="0"/>
              <a:t>", "</a:t>
            </a:r>
            <a:r>
              <a:rPr lang="ko-KR" altLang="en-US" dirty="0"/>
              <a:t>토끼</a:t>
            </a:r>
            <a:r>
              <a:rPr lang="en-US" altLang="ko-KR" dirty="0"/>
              <a:t>"];</a:t>
            </a:r>
          </a:p>
          <a:p>
            <a:endParaRPr lang="en-US" altLang="ko-KR" dirty="0"/>
          </a:p>
          <a:p>
            <a:r>
              <a:rPr lang="en-US" altLang="ko-KR" dirty="0"/>
              <a:t>animals.</a:t>
            </a:r>
            <a:r>
              <a:rPr lang="en-US" altLang="ko-KR" b="1" dirty="0"/>
              <a:t>forEach</a:t>
            </a:r>
            <a:r>
              <a:rPr lang="en-US" altLang="ko-KR" dirty="0"/>
              <a:t>(function(animal, index) {</a:t>
            </a:r>
          </a:p>
          <a:p>
            <a:r>
              <a:rPr lang="en-US" altLang="ko-KR" dirty="0"/>
              <a:t> </a:t>
            </a:r>
            <a:r>
              <a:rPr lang="en-US" altLang="ko-KR" sz="1800" dirty="0"/>
              <a:t>document.write</a:t>
            </a:r>
            <a:r>
              <a:rPr lang="en-US" altLang="ko-KR" dirty="0"/>
              <a:t>(index + ": " + animal);</a:t>
            </a:r>
          </a:p>
          <a:p>
            <a:r>
              <a:rPr lang="en-US" altLang="ko-KR" dirty="0"/>
              <a:t>});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E4744CDC-FB4B-E629-D2B9-F43E73F4AD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0200" y="3901430"/>
            <a:ext cx="1590675" cy="1638300"/>
          </a:xfrm>
          <a:prstGeom prst="rect">
            <a:avLst/>
          </a:prstGeom>
          <a:ln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8602885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>
          <a:extLst>
            <a:ext uri="{FF2B5EF4-FFF2-40B4-BE49-F238E27FC236}">
              <a16:creationId xmlns:a16="http://schemas.microsoft.com/office/drawing/2014/main" id="{A858BE9C-DC95-C06C-8EF0-581D911E4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D3B6CC-00C3-E674-FC51-06DD49CB5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595" y="146050"/>
            <a:ext cx="8089265" cy="762000"/>
          </a:xfrm>
        </p:spPr>
        <p:txBody>
          <a:bodyPr/>
          <a:lstStyle/>
          <a:p>
            <a:r>
              <a:rPr lang="ko-KR" altLang="en-US" dirty="0"/>
              <a:t>자바스크립트에서 배열 사용하기</a:t>
            </a:r>
            <a:r>
              <a:rPr lang="en-US" altLang="ko-KR" dirty="0"/>
              <a:t>(3)</a:t>
            </a:r>
            <a:br>
              <a:rPr lang="en-US" altLang="ko-KR" dirty="0"/>
            </a:br>
            <a:r>
              <a:rPr lang="en-US" altLang="ko-KR" dirty="0"/>
              <a:t>					</a:t>
            </a:r>
            <a:r>
              <a:rPr lang="ko-KR" altLang="en-US" dirty="0"/>
              <a:t> 주요 배열 메서드</a:t>
            </a:r>
            <a:r>
              <a:rPr lang="en-US" altLang="ko-KR" dirty="0"/>
              <a:t>(</a:t>
            </a:r>
            <a:r>
              <a:rPr lang="ko-KR" altLang="en-US" dirty="0"/>
              <a:t>계속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463CA7-6C48-1A24-4D5C-FBB2FD616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500" y="1152525"/>
            <a:ext cx="7773035" cy="5020310"/>
          </a:xfrm>
        </p:spPr>
        <p:txBody>
          <a:bodyPr>
            <a:normAutofit/>
          </a:bodyPr>
          <a:lstStyle/>
          <a:p>
            <a:r>
              <a:rPr lang="ko-KR" altLang="en-US" sz="1800" b="1" dirty="0"/>
              <a:t>검색과 필터링</a:t>
            </a:r>
            <a:endParaRPr lang="en-US" altLang="ko-KR" sz="1800" b="1" dirty="0"/>
          </a:p>
          <a:p>
            <a:endParaRPr lang="en-US" altLang="ko-KR" sz="1800" dirty="0"/>
          </a:p>
          <a:p>
            <a:endParaRPr lang="en-US" altLang="ko-KR" sz="1800" dirty="0"/>
          </a:p>
          <a:p>
            <a:endParaRPr lang="en-US" altLang="ko-KR" sz="1800" dirty="0"/>
          </a:p>
          <a:p>
            <a:endParaRPr lang="en-US" altLang="ko-KR" sz="1800" dirty="0"/>
          </a:p>
          <a:p>
            <a:endParaRPr lang="en-US" altLang="ko-KR" sz="18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56C610-E31D-85E5-1EC5-29D357D337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112000" y="6419850"/>
            <a:ext cx="1905635" cy="305435"/>
          </a:xfrm>
        </p:spPr>
        <p:txBody>
          <a:bodyPr/>
          <a:lstStyle/>
          <a:p>
            <a:pPr>
              <a:defRPr/>
            </a:pPr>
            <a:fld id="{D753E709-C6A3-4DBD-82F7-6E5ED028B16F}" type="slidenum">
              <a:rPr lang="en-US" altLang="ko-KR" smtClean="0"/>
              <a:pPr>
                <a:defRPr/>
              </a:pPr>
              <a:t>8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7312072-EF9C-0436-7247-9A618CCA2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97255" y="6393180"/>
            <a:ext cx="3110230" cy="349885"/>
          </a:xfrm>
        </p:spPr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8D7BBA-95FB-2DA1-5B76-F12319CD890A}"/>
              </a:ext>
            </a:extLst>
          </p:cNvPr>
          <p:cNvSpPr txBox="1"/>
          <p:nvPr/>
        </p:nvSpPr>
        <p:spPr>
          <a:xfrm>
            <a:off x="827405" y="1557020"/>
            <a:ext cx="6389370" cy="181610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let </a:t>
            </a:r>
            <a:r>
              <a:rPr lang="en-US" altLang="ko-KR" sz="1600" dirty="0"/>
              <a:t>scores = [85, 92, 76, 100, 67];</a:t>
            </a:r>
          </a:p>
          <a:p>
            <a:endParaRPr lang="en-US" altLang="ko-KR" sz="1600" dirty="0"/>
          </a:p>
          <a:p>
            <a:r>
              <a:rPr lang="en-US" altLang="ko-KR" sz="1600" b="1" dirty="0"/>
              <a:t>let</a:t>
            </a:r>
            <a:r>
              <a:rPr lang="en-US" altLang="ko-KR" sz="1600" dirty="0"/>
              <a:t> highScores = scores.</a:t>
            </a:r>
            <a:r>
              <a:rPr lang="en-US" altLang="ko-KR" sz="1600" b="1" dirty="0"/>
              <a:t>filter</a:t>
            </a:r>
            <a:r>
              <a:rPr lang="en-US" altLang="ko-KR" sz="1600" dirty="0"/>
              <a:t>(score =&gt; score &gt;= 90); // 90</a:t>
            </a:r>
            <a:r>
              <a:rPr lang="ko-KR" altLang="en-US" sz="1600" dirty="0"/>
              <a:t>점 이상</a:t>
            </a:r>
          </a:p>
          <a:p>
            <a:r>
              <a:rPr lang="en-US" altLang="ko-KR" sz="1600" dirty="0"/>
              <a:t>document.write(highScores+"&lt;br&gt;"); // [92, 100]</a:t>
            </a:r>
          </a:p>
          <a:p>
            <a:endParaRPr lang="en-US" altLang="ko-KR" sz="1600" dirty="0"/>
          </a:p>
          <a:p>
            <a:r>
              <a:rPr lang="en-US" altLang="ko-KR" sz="1600" b="1" dirty="0"/>
              <a:t>let</a:t>
            </a:r>
            <a:r>
              <a:rPr lang="en-US" altLang="ko-KR" sz="1600" dirty="0"/>
              <a:t> firstPerfect = scores.</a:t>
            </a:r>
            <a:r>
              <a:rPr lang="en-US" altLang="ko-KR" sz="1600" b="1" dirty="0"/>
              <a:t>find</a:t>
            </a:r>
            <a:r>
              <a:rPr lang="en-US" altLang="ko-KR" sz="1600" dirty="0"/>
              <a:t>(score =&gt; score === 100);</a:t>
            </a:r>
          </a:p>
          <a:p>
            <a:r>
              <a:rPr lang="en-US" altLang="ko-KR" sz="1600" dirty="0"/>
              <a:t>document.write(firstPerfect+"&lt;br&gt;"); // 100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1786C8-A0A7-F16C-B008-EC9C85359CFC}"/>
              </a:ext>
            </a:extLst>
          </p:cNvPr>
          <p:cNvSpPr txBox="1"/>
          <p:nvPr/>
        </p:nvSpPr>
        <p:spPr>
          <a:xfrm>
            <a:off x="2843530" y="4580890"/>
            <a:ext cx="45720" cy="3695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AF180034-0260-A8A3-666C-2761058AAA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405" y="3742055"/>
            <a:ext cx="1409700" cy="1514475"/>
          </a:xfrm>
          <a:prstGeom prst="rect">
            <a:avLst/>
          </a:prstGeom>
          <a:ln>
            <a:solidFill>
              <a:srgbClr val="000000"/>
            </a:solidFill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2" name="잉크 1"/>
              <p14:cNvContentPartPr/>
              <p14:nvPr/>
            </p14:nvContentPartPr>
            <p14:xfrm>
              <a:off x="4278630" y="1679575"/>
              <a:ext cx="208280" cy="463550"/>
            </p14:xfrm>
          </p:contentPart>
        </mc:Choice>
        <mc:Fallback>
          <p:pic>
            <p:nvPicPr>
              <p:cNvPr id="12" name="잉크 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78630" y="1679575"/>
                <a:ext cx="208280" cy="463550"/>
              </a:xfrm>
              <a:prstGeom prst="rect">
                <a:avLst/>
              </a:prstGeom>
            </p:spPr>
          </p:pic>
        </mc:Fallback>
      </mc:AlternateContent>
      <p:sp>
        <p:nvSpPr>
          <p:cNvPr id="13" name="텍스트 상자 2"/>
          <p:cNvSpPr txBox="1">
            <a:spLocks/>
          </p:cNvSpPr>
          <p:nvPr/>
        </p:nvSpPr>
        <p:spPr>
          <a:xfrm rot="0">
            <a:off x="4391025" y="1478915"/>
            <a:ext cx="2398395" cy="370205"/>
          </a:xfrm>
          <a:prstGeom prst="rect"/>
          <a:noFill/>
          <a:ln>
            <a:noFill/>
            <a:prstDash/>
          </a:ln>
        </p:spPr>
        <p:txBody>
          <a:bodyPr wrap="none" lIns="89535" tIns="46355" rIns="89535" bIns="46355" vert="horz" anchor="t">
            <a:spAutoFit/>
          </a:bodyPr>
          <a:lstStyle/>
          <a:p>
            <a:pPr marL="0" indent="0" algn="l" hangingPunct="1"/>
            <a:r>
              <a:rPr sz="1800">
                <a:latin typeface="맑은 고딕" charset="0"/>
                <a:ea typeface="맑은 고딕" charset="0"/>
              </a:rPr>
              <a:t>이건 </a:t>
            </a:r>
            <a:r>
              <a:rPr sz="1800">
                <a:latin typeface="맑은 고딕" charset="0"/>
                <a:ea typeface="맑은 고딕" charset="0"/>
              </a:rPr>
              <a:t>가</a:t>
            </a:r>
            <a:r>
              <a:rPr lang="ko-KR" sz="1800">
                <a:latin typeface="맑은 고딕" charset="0"/>
                <a:ea typeface="맑은 고딕" charset="0"/>
              </a:rPr>
              <a:t>리</a:t>
            </a:r>
            <a:r>
              <a:rPr sz="1800">
                <a:latin typeface="맑은 고딕" charset="0"/>
                <a:ea typeface="맑은 고딕" charset="0"/>
              </a:rPr>
              <a:t>키는 화살표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62573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C34A7-41C0-73D0-7F08-B6C4042D9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0F6184-49B9-264F-2A5C-60E68A9B1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2" y="146050"/>
            <a:ext cx="8089528" cy="762000"/>
          </a:xfrm>
        </p:spPr>
        <p:txBody>
          <a:bodyPr/>
          <a:lstStyle/>
          <a:p>
            <a:r>
              <a:rPr lang="ko-KR" altLang="en-US" dirty="0"/>
              <a:t>자바스크립트에서 배열 사용하기</a:t>
            </a:r>
            <a:r>
              <a:rPr lang="en-US" altLang="ko-KR" dirty="0"/>
              <a:t>(4)</a:t>
            </a:r>
            <a:br>
              <a:rPr lang="en-US" altLang="ko-KR" dirty="0"/>
            </a:br>
            <a:r>
              <a:rPr lang="en-US" altLang="ko-KR" dirty="0"/>
              <a:t>					</a:t>
            </a:r>
            <a:r>
              <a:rPr lang="ko-KR" altLang="en-US" dirty="0"/>
              <a:t> 주요 배열 메서드</a:t>
            </a:r>
            <a:r>
              <a:rPr lang="en-US" altLang="ko-KR" dirty="0"/>
              <a:t>(</a:t>
            </a:r>
            <a:r>
              <a:rPr lang="ko-KR" altLang="en-US" dirty="0"/>
              <a:t>계속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3A004F-938A-214A-56A2-6D322194BA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800" b="1" dirty="0"/>
              <a:t>변형</a:t>
            </a:r>
            <a:endParaRPr lang="en-US" altLang="ko-KR" sz="1800" dirty="0"/>
          </a:p>
          <a:p>
            <a:endParaRPr lang="en-US" altLang="ko-KR" sz="1800" dirty="0"/>
          </a:p>
          <a:p>
            <a:endParaRPr lang="en-US" altLang="ko-KR" sz="1800" dirty="0"/>
          </a:p>
          <a:p>
            <a:endParaRPr lang="en-US" altLang="ko-KR" sz="1800" dirty="0"/>
          </a:p>
          <a:p>
            <a:endParaRPr lang="en-US" altLang="ko-KR" sz="1800" dirty="0"/>
          </a:p>
          <a:p>
            <a:endParaRPr lang="en-US" altLang="ko-KR" sz="1800" dirty="0"/>
          </a:p>
          <a:p>
            <a:r>
              <a:rPr lang="ko-KR" altLang="en-US" sz="1800" b="1" dirty="0"/>
              <a:t>정렬</a:t>
            </a:r>
            <a:r>
              <a:rPr lang="en-US" altLang="ko-KR" sz="1800" b="1" dirty="0"/>
              <a:t>/</a:t>
            </a:r>
            <a:r>
              <a:rPr lang="ko-KR" altLang="en-US" sz="1800" b="1" dirty="0"/>
              <a:t>역순</a:t>
            </a:r>
            <a:endParaRPr lang="en-US" altLang="ko-KR" sz="18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A093971-79BE-5EE1-A3D4-C1DA2997EF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753E709-C6A3-4DBD-82F7-6E5ED028B16F}" type="slidenum">
              <a:rPr lang="en-US" altLang="ko-KR" smtClean="0"/>
              <a:pPr>
                <a:defRPr/>
              </a:pPr>
              <a:t>9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684A62-33EB-8781-6724-71A518543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670288-1858-7616-5DC7-34F867CF6377}"/>
              </a:ext>
            </a:extLst>
          </p:cNvPr>
          <p:cNvSpPr txBox="1"/>
          <p:nvPr/>
        </p:nvSpPr>
        <p:spPr>
          <a:xfrm>
            <a:off x="827583" y="1556792"/>
            <a:ext cx="7680962" cy="156966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let</a:t>
            </a:r>
            <a:r>
              <a:rPr lang="en-US" altLang="ko-KR" sz="1600" dirty="0"/>
              <a:t> names = ["</a:t>
            </a:r>
            <a:r>
              <a:rPr lang="ko-KR" altLang="en-US" sz="1600" dirty="0"/>
              <a:t>재한</a:t>
            </a:r>
            <a:r>
              <a:rPr lang="en-US" altLang="ko-KR" sz="1600" dirty="0"/>
              <a:t>", "</a:t>
            </a:r>
            <a:r>
              <a:rPr lang="ko-KR" altLang="en-US" sz="1600" dirty="0"/>
              <a:t>민호</a:t>
            </a:r>
            <a:r>
              <a:rPr lang="en-US" altLang="ko-KR" sz="1600" dirty="0"/>
              <a:t>", "</a:t>
            </a:r>
            <a:r>
              <a:rPr lang="ko-KR" altLang="en-US" sz="1600" dirty="0"/>
              <a:t>수지</a:t>
            </a:r>
            <a:r>
              <a:rPr lang="en-US" altLang="ko-KR" sz="1600" dirty="0"/>
              <a:t>"];</a:t>
            </a:r>
          </a:p>
          <a:p>
            <a:endParaRPr lang="en-US" altLang="ko-KR" sz="1600" dirty="0"/>
          </a:p>
          <a:p>
            <a:r>
              <a:rPr lang="en-US" altLang="ko-KR" sz="1600" b="1" dirty="0"/>
              <a:t>let</a:t>
            </a:r>
            <a:r>
              <a:rPr lang="en-US" altLang="ko-KR" sz="1600" dirty="0"/>
              <a:t> greeting = names.</a:t>
            </a:r>
            <a:r>
              <a:rPr lang="en-US" altLang="ko-KR" sz="1600" b="1" dirty="0"/>
              <a:t>map</a:t>
            </a:r>
            <a:r>
              <a:rPr lang="en-US" altLang="ko-KR" sz="1600" dirty="0"/>
              <a:t>(name =&gt; "</a:t>
            </a:r>
            <a:r>
              <a:rPr lang="ko-KR" altLang="en-US" sz="1600" dirty="0"/>
              <a:t>안녕하세요</a:t>
            </a:r>
            <a:r>
              <a:rPr lang="en-US" altLang="ko-KR" sz="1600" dirty="0"/>
              <a:t>, " + name + "</a:t>
            </a:r>
            <a:r>
              <a:rPr lang="ko-KR" altLang="en-US" sz="1600" dirty="0"/>
              <a:t>님</a:t>
            </a:r>
            <a:r>
              <a:rPr lang="en-US" altLang="ko-KR" sz="1600" dirty="0"/>
              <a:t>!");</a:t>
            </a:r>
          </a:p>
          <a:p>
            <a:r>
              <a:rPr lang="en-US" altLang="ko-KR" sz="1600" dirty="0"/>
              <a:t>document.write(greeting+ "&lt;br&gt;"); //&lt;br&gt;</a:t>
            </a:r>
            <a:r>
              <a:rPr lang="ko-KR" altLang="en-US" sz="1600" dirty="0"/>
              <a:t> 을 여기다 사용하면 어떻게 될까</a:t>
            </a:r>
            <a:r>
              <a:rPr lang="en-US" altLang="ko-KR" sz="1600" dirty="0"/>
              <a:t>?</a:t>
            </a:r>
          </a:p>
          <a:p>
            <a:endParaRPr lang="en-US" altLang="ko-KR" sz="1600" dirty="0"/>
          </a:p>
          <a:p>
            <a:r>
              <a:rPr lang="en-US" altLang="ko-KR" sz="1600" b="1" dirty="0"/>
              <a:t>// ["</a:t>
            </a:r>
            <a:r>
              <a:rPr lang="ko-KR" altLang="en-US" sz="1600" b="1" dirty="0"/>
              <a:t>안녕하세요</a:t>
            </a:r>
            <a:r>
              <a:rPr lang="en-US" altLang="ko-KR" sz="1600" b="1" dirty="0"/>
              <a:t>, </a:t>
            </a:r>
            <a:r>
              <a:rPr lang="ko-KR" altLang="en-US" sz="1600" b="1" dirty="0"/>
              <a:t>재한님</a:t>
            </a:r>
            <a:r>
              <a:rPr lang="en-US" altLang="ko-KR" sz="1600" b="1" dirty="0"/>
              <a:t>!", "</a:t>
            </a:r>
            <a:r>
              <a:rPr lang="ko-KR" altLang="en-US" sz="1600" b="1" dirty="0"/>
              <a:t>안녕하세요</a:t>
            </a:r>
            <a:r>
              <a:rPr lang="en-US" altLang="ko-KR" sz="1600" b="1" dirty="0"/>
              <a:t>, </a:t>
            </a:r>
            <a:r>
              <a:rPr lang="ko-KR" altLang="en-US" sz="1600" b="1" dirty="0"/>
              <a:t>민호님</a:t>
            </a:r>
            <a:r>
              <a:rPr lang="en-US" altLang="ko-KR" sz="1600" b="1" dirty="0"/>
              <a:t>!", "</a:t>
            </a:r>
            <a:r>
              <a:rPr lang="ko-KR" altLang="en-US" sz="1600" b="1" dirty="0"/>
              <a:t>안녕하세요</a:t>
            </a:r>
            <a:r>
              <a:rPr lang="en-US" altLang="ko-KR" sz="1600" b="1" dirty="0"/>
              <a:t>, </a:t>
            </a:r>
            <a:r>
              <a:rPr lang="ko-KR" altLang="en-US" sz="1600" b="1" dirty="0"/>
              <a:t>수지님</a:t>
            </a:r>
            <a:r>
              <a:rPr lang="en-US" altLang="ko-KR" sz="1600" b="1" dirty="0"/>
              <a:t>!"]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84AB61-E5AD-35ED-A123-D8BBD5ADE999}"/>
              </a:ext>
            </a:extLst>
          </p:cNvPr>
          <p:cNvSpPr txBox="1"/>
          <p:nvPr/>
        </p:nvSpPr>
        <p:spPr>
          <a:xfrm>
            <a:off x="2843808" y="4581128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EBD15C-E012-063B-B990-DC21F7445CEE}"/>
              </a:ext>
            </a:extLst>
          </p:cNvPr>
          <p:cNvSpPr txBox="1"/>
          <p:nvPr/>
        </p:nvSpPr>
        <p:spPr>
          <a:xfrm>
            <a:off x="827583" y="3861048"/>
            <a:ext cx="7680962" cy="156966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let</a:t>
            </a:r>
            <a:r>
              <a:rPr lang="en-US" altLang="ko-KR" sz="1600" dirty="0"/>
              <a:t> nums = [5, 1, 3, 10, 2];</a:t>
            </a:r>
          </a:p>
          <a:p>
            <a:r>
              <a:rPr lang="en-US" altLang="ko-KR" sz="1600" dirty="0" err="1"/>
              <a:t>nums.</a:t>
            </a:r>
            <a:r>
              <a:rPr lang="en-US" altLang="ko-KR" sz="1600" b="1" dirty="0" err="1"/>
              <a:t>sort</a:t>
            </a:r>
            <a:r>
              <a:rPr lang="en-US" altLang="ko-KR" sz="1600" dirty="0"/>
              <a:t>((a, b) =&gt; a - b);       // </a:t>
            </a:r>
            <a:r>
              <a:rPr lang="ko-KR" altLang="en-US" sz="1600" dirty="0"/>
              <a:t>오름차순 정렬</a:t>
            </a:r>
          </a:p>
          <a:p>
            <a:r>
              <a:rPr lang="en-US" altLang="ko-KR" sz="1600" dirty="0"/>
              <a:t>document.write(nums);             </a:t>
            </a:r>
            <a:r>
              <a:rPr lang="en-US" altLang="ko-KR" sz="1600" b="1" dirty="0"/>
              <a:t>// [1, 2, 3, 5, 10]</a:t>
            </a:r>
          </a:p>
          <a:p>
            <a:endParaRPr lang="en-US" altLang="ko-KR" sz="1600" b="1" dirty="0"/>
          </a:p>
          <a:p>
            <a:r>
              <a:rPr lang="en-US" altLang="ko-KR" sz="1600" dirty="0" err="1"/>
              <a:t>nums.</a:t>
            </a:r>
            <a:r>
              <a:rPr lang="en-US" altLang="ko-KR" sz="1600" b="1" dirty="0" err="1"/>
              <a:t>reverse</a:t>
            </a:r>
            <a:r>
              <a:rPr lang="en-US" altLang="ko-KR" sz="1600" dirty="0"/>
              <a:t>();                     // </a:t>
            </a:r>
            <a:r>
              <a:rPr lang="ko-KR" altLang="en-US" sz="1600" dirty="0"/>
              <a:t>역순</a:t>
            </a:r>
          </a:p>
          <a:p>
            <a:r>
              <a:rPr lang="en-US" altLang="ko-KR" sz="1600" dirty="0"/>
              <a:t>document.write(nums);           </a:t>
            </a:r>
            <a:r>
              <a:rPr lang="en-US" altLang="ko-KR" sz="1600" b="1" dirty="0"/>
              <a:t>// [10, 5, 3, 2, 1]</a:t>
            </a:r>
          </a:p>
        </p:txBody>
      </p:sp>
    </p:spTree>
    <p:extLst>
      <p:ext uri="{BB962C8B-B14F-4D97-AF65-F5344CB8AC3E}">
        <p14:creationId xmlns:p14="http://schemas.microsoft.com/office/powerpoint/2010/main" val="32689938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EDE517-36E9-A622-FDA1-F6E1659A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2" y="146050"/>
            <a:ext cx="8017520" cy="762000"/>
          </a:xfrm>
        </p:spPr>
        <p:txBody>
          <a:bodyPr/>
          <a:lstStyle/>
          <a:p>
            <a:r>
              <a:rPr lang="ko-KR" altLang="en-US" dirty="0"/>
              <a:t>자바스크립트에서 배열 사용하기</a:t>
            </a:r>
            <a:r>
              <a:rPr lang="en-US" altLang="ko-KR" dirty="0"/>
              <a:t>(5)</a:t>
            </a:r>
            <a:br>
              <a:rPr lang="en-US" altLang="ko-KR" dirty="0"/>
            </a:br>
            <a:r>
              <a:rPr lang="en-US" altLang="ko-KR" dirty="0"/>
              <a:t>					</a:t>
            </a:r>
            <a:r>
              <a:rPr lang="ko-KR" altLang="en-US" dirty="0"/>
              <a:t> 주요 배열 메서드</a:t>
            </a:r>
            <a:r>
              <a:rPr lang="en-US" altLang="ko-KR" dirty="0"/>
              <a:t>(</a:t>
            </a:r>
            <a:r>
              <a:rPr lang="ko-KR" altLang="en-US" dirty="0"/>
              <a:t>계속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93DA206-2884-F78F-0A37-6CBB43C64E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배열 합치기와 잘라내기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en-US" dirty="0"/>
              <a:t>배열 포함 여부 확인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F9C05C-AC86-51FB-2210-77C352CC4C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753E709-C6A3-4DBD-82F7-6E5ED028B16F}" type="slidenum">
              <a:rPr lang="en-US" altLang="ko-KR" smtClean="0"/>
              <a:pPr>
                <a:defRPr/>
              </a:pPr>
              <a:t>10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0D65B10-CE82-5677-5DEE-E7297C781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0E65EE-FE31-AA64-77AE-A1CD72485F96}"/>
              </a:ext>
            </a:extLst>
          </p:cNvPr>
          <p:cNvSpPr txBox="1"/>
          <p:nvPr/>
        </p:nvSpPr>
        <p:spPr>
          <a:xfrm>
            <a:off x="896938" y="1674674"/>
            <a:ext cx="6361550" cy="1477328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/>
              <a:t>let</a:t>
            </a:r>
            <a:r>
              <a:rPr lang="en-US" altLang="ko-KR" dirty="0"/>
              <a:t> a = [1, 2];</a:t>
            </a:r>
          </a:p>
          <a:p>
            <a:r>
              <a:rPr lang="en-US" altLang="ko-KR" b="1" dirty="0"/>
              <a:t>let</a:t>
            </a:r>
            <a:r>
              <a:rPr lang="en-US" altLang="ko-KR" dirty="0"/>
              <a:t> b = [3, 4];</a:t>
            </a:r>
          </a:p>
          <a:p>
            <a:r>
              <a:rPr lang="en-US" altLang="ko-KR" b="1" dirty="0"/>
              <a:t>let</a:t>
            </a:r>
            <a:r>
              <a:rPr lang="en-US" altLang="ko-KR" dirty="0"/>
              <a:t> combined = a.concat(b);        </a:t>
            </a:r>
            <a:r>
              <a:rPr lang="en-US" altLang="ko-KR" b="1" dirty="0"/>
              <a:t>// [1, 2, 3, 4]</a:t>
            </a:r>
          </a:p>
          <a:p>
            <a:endParaRPr lang="en-US" altLang="ko-KR" dirty="0"/>
          </a:p>
          <a:p>
            <a:r>
              <a:rPr lang="en-US" altLang="ko-KR" b="1" dirty="0"/>
              <a:t>let</a:t>
            </a:r>
            <a:r>
              <a:rPr lang="en-US" altLang="ko-KR" dirty="0"/>
              <a:t> sliced = combined.slice(1, 3); </a:t>
            </a:r>
            <a:r>
              <a:rPr lang="en-US" altLang="ko-KR" b="1" dirty="0"/>
              <a:t>// [2, 3] (1~2</a:t>
            </a:r>
            <a:r>
              <a:rPr lang="ko-KR" altLang="en-US" b="1" dirty="0"/>
              <a:t>번 인덱스</a:t>
            </a:r>
            <a:r>
              <a:rPr lang="en-US" altLang="ko-KR" b="1" dirty="0"/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FDF8D1-3578-9EBB-8D51-8C3DDAD63A55}"/>
              </a:ext>
            </a:extLst>
          </p:cNvPr>
          <p:cNvSpPr txBox="1"/>
          <p:nvPr/>
        </p:nvSpPr>
        <p:spPr>
          <a:xfrm>
            <a:off x="827584" y="4077072"/>
            <a:ext cx="6430904" cy="92333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let tools = ["</a:t>
            </a:r>
            <a:r>
              <a:rPr lang="ko-KR" altLang="en-US" dirty="0"/>
              <a:t>망치</a:t>
            </a:r>
            <a:r>
              <a:rPr lang="en-US" altLang="ko-KR" dirty="0"/>
              <a:t>", "</a:t>
            </a:r>
            <a:r>
              <a:rPr lang="ko-KR" altLang="en-US" dirty="0"/>
              <a:t>톱</a:t>
            </a:r>
            <a:r>
              <a:rPr lang="en-US" altLang="ko-KR" dirty="0"/>
              <a:t>", "</a:t>
            </a:r>
            <a:r>
              <a:rPr lang="ko-KR" altLang="en-US" dirty="0"/>
              <a:t>드라이버</a:t>
            </a:r>
            <a:r>
              <a:rPr lang="en-US" altLang="ko-KR" dirty="0"/>
              <a:t>"];</a:t>
            </a:r>
          </a:p>
          <a:p>
            <a:r>
              <a:rPr lang="en-US" altLang="ko-KR" sz="1800" dirty="0"/>
              <a:t>document.write</a:t>
            </a:r>
            <a:r>
              <a:rPr lang="en-US" altLang="ko-KR" dirty="0"/>
              <a:t>(tools.includes("</a:t>
            </a:r>
            <a:r>
              <a:rPr lang="ko-KR" altLang="en-US" dirty="0"/>
              <a:t>톱</a:t>
            </a:r>
            <a:r>
              <a:rPr lang="en-US" altLang="ko-KR" dirty="0"/>
              <a:t>"));      </a:t>
            </a:r>
            <a:r>
              <a:rPr lang="en-US" altLang="ko-KR" b="1" dirty="0"/>
              <a:t>// true</a:t>
            </a:r>
          </a:p>
          <a:p>
            <a:r>
              <a:rPr lang="en-US" altLang="ko-KR" sz="1800" dirty="0"/>
              <a:t>document.write</a:t>
            </a:r>
            <a:r>
              <a:rPr lang="en-US" altLang="ko-KR" dirty="0"/>
              <a:t>(tools.indexOf("</a:t>
            </a:r>
            <a:r>
              <a:rPr lang="ko-KR" altLang="en-US" dirty="0"/>
              <a:t>망치</a:t>
            </a:r>
            <a:r>
              <a:rPr lang="en-US" altLang="ko-KR" dirty="0"/>
              <a:t>"));   </a:t>
            </a:r>
            <a:r>
              <a:rPr lang="en-US" altLang="ko-KR" b="1" dirty="0"/>
              <a:t>// 0</a:t>
            </a:r>
          </a:p>
        </p:txBody>
      </p:sp>
    </p:spTree>
    <p:extLst>
      <p:ext uri="{BB962C8B-B14F-4D97-AF65-F5344CB8AC3E}">
        <p14:creationId xmlns:p14="http://schemas.microsoft.com/office/powerpoint/2010/main" val="14236322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88FA30-6537-8059-FD83-C9FC3D4CF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자바스크립트에서 배열 사용하기</a:t>
            </a:r>
            <a:r>
              <a:rPr lang="en-US" altLang="ko-KR" dirty="0"/>
              <a:t>(6)</a:t>
            </a:r>
            <a:br>
              <a:rPr lang="en-US" altLang="ko-KR" dirty="0"/>
            </a:br>
            <a:r>
              <a:rPr lang="en-US" altLang="ko-KR" dirty="0"/>
              <a:t>						</a:t>
            </a:r>
            <a:r>
              <a:rPr lang="ko-KR" altLang="en-US" dirty="0"/>
              <a:t>퀴즈 풀기 </a:t>
            </a:r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C4F39C-FB15-B595-9103-C5891A944B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400" b="1" dirty="0"/>
              <a:t>퀴즈 </a:t>
            </a:r>
            <a:r>
              <a:rPr lang="en-US" altLang="ko-KR" sz="1400" b="1" dirty="0"/>
              <a:t>1 : </a:t>
            </a:r>
            <a:r>
              <a:rPr lang="ko-KR" altLang="en-US" sz="1400" b="1" dirty="0"/>
              <a:t>배열의 첫 번째 요소를 가져오는 방법은</a:t>
            </a:r>
            <a:r>
              <a:rPr lang="en-US" altLang="ko-KR" sz="1400" b="1" dirty="0"/>
              <a:t>?</a:t>
            </a:r>
          </a:p>
          <a:p>
            <a:pPr lvl="1"/>
            <a:r>
              <a:rPr lang="en-US" altLang="ko-KR" sz="1400" dirty="0"/>
              <a:t>A) arr.first()</a:t>
            </a:r>
          </a:p>
          <a:p>
            <a:pPr lvl="1"/>
            <a:r>
              <a:rPr lang="en-US" altLang="ko-KR" sz="1400" dirty="0"/>
              <a:t>B) arr[0]</a:t>
            </a:r>
          </a:p>
          <a:p>
            <a:pPr lvl="1"/>
            <a:r>
              <a:rPr lang="en-US" altLang="ko-KR" sz="1400" dirty="0"/>
              <a:t>C) arr.get(0)</a:t>
            </a:r>
          </a:p>
          <a:p>
            <a:pPr lvl="1"/>
            <a:r>
              <a:rPr lang="en-US" altLang="ko-KR" sz="1400" dirty="0"/>
              <a:t>D) arr.index(1)</a:t>
            </a:r>
          </a:p>
          <a:p>
            <a:r>
              <a:rPr lang="ko-KR" altLang="en-US" sz="1400" b="1" dirty="0"/>
              <a:t>퀴즈 </a:t>
            </a:r>
            <a:r>
              <a:rPr lang="en-US" altLang="ko-KR" sz="1400" b="1" dirty="0"/>
              <a:t>2 : filter() </a:t>
            </a:r>
            <a:r>
              <a:rPr lang="ko-KR" altLang="en-US" sz="1400" b="1" dirty="0"/>
              <a:t>메서드는 어떤 기능을 하나요</a:t>
            </a:r>
            <a:r>
              <a:rPr lang="en-US" altLang="ko-KR" sz="1400" b="1" dirty="0"/>
              <a:t>?</a:t>
            </a:r>
          </a:p>
          <a:p>
            <a:pPr lvl="1"/>
            <a:r>
              <a:rPr lang="en-US" altLang="ko-KR" sz="1400" dirty="0"/>
              <a:t>A) </a:t>
            </a:r>
            <a:r>
              <a:rPr lang="ko-KR" altLang="en-US" sz="1400" dirty="0"/>
              <a:t>배열을 정렬한다</a:t>
            </a:r>
          </a:p>
          <a:p>
            <a:pPr lvl="1"/>
            <a:r>
              <a:rPr lang="en-US" altLang="ko-KR" sz="1400" dirty="0"/>
              <a:t>B) </a:t>
            </a:r>
            <a:r>
              <a:rPr lang="ko-KR" altLang="en-US" sz="1400" dirty="0"/>
              <a:t>배열의 길이를 구한다</a:t>
            </a:r>
          </a:p>
          <a:p>
            <a:pPr lvl="1"/>
            <a:r>
              <a:rPr lang="en-US" altLang="ko-KR" sz="1400" dirty="0"/>
              <a:t>C) </a:t>
            </a:r>
            <a:r>
              <a:rPr lang="ko-KR" altLang="en-US" sz="1400" dirty="0"/>
              <a:t>조건에 맞는 요소만 추출한다</a:t>
            </a:r>
          </a:p>
          <a:p>
            <a:pPr lvl="1"/>
            <a:r>
              <a:rPr lang="en-US" altLang="ko-KR" sz="1400" dirty="0"/>
              <a:t>D) </a:t>
            </a:r>
            <a:r>
              <a:rPr lang="ko-KR" altLang="en-US" sz="1400" dirty="0"/>
              <a:t>배열을 문자열로 변환한다</a:t>
            </a:r>
            <a:endParaRPr lang="en-US" altLang="ko-KR" sz="1400" dirty="0"/>
          </a:p>
          <a:p>
            <a:r>
              <a:rPr lang="ko-KR" altLang="en-US" sz="1600" b="1" dirty="0"/>
              <a:t>퀴즈 </a:t>
            </a:r>
            <a:r>
              <a:rPr lang="en-US" altLang="ko-KR" sz="1600" b="1" dirty="0"/>
              <a:t>3 : </a:t>
            </a:r>
            <a:r>
              <a:rPr lang="ko-KR" altLang="en-US" sz="1600" b="1" dirty="0"/>
              <a:t>배열 </a:t>
            </a:r>
            <a:r>
              <a:rPr lang="en-US" altLang="ko-KR" sz="1600" b="1" dirty="0"/>
              <a:t>arr = [1, 2, 3]</a:t>
            </a:r>
            <a:r>
              <a:rPr lang="ko-KR" altLang="en-US" sz="1600" b="1" dirty="0"/>
              <a:t>일 때 </a:t>
            </a:r>
            <a:r>
              <a:rPr lang="en-US" altLang="ko-KR" sz="1600" b="1" dirty="0"/>
              <a:t>arr[3]</a:t>
            </a:r>
            <a:r>
              <a:rPr lang="ko-KR" altLang="en-US" sz="1600" b="1" dirty="0"/>
              <a:t>의 값은</a:t>
            </a:r>
            <a:r>
              <a:rPr lang="en-US" altLang="ko-KR" sz="1600" b="1" dirty="0"/>
              <a:t>?</a:t>
            </a:r>
          </a:p>
          <a:p>
            <a:pPr lvl="1"/>
            <a:r>
              <a:rPr lang="en-US" altLang="ko-KR" sz="1400" dirty="0"/>
              <a:t>A) undefined</a:t>
            </a:r>
          </a:p>
          <a:p>
            <a:pPr lvl="1"/>
            <a:r>
              <a:rPr lang="en-US" altLang="ko-KR" sz="1400" dirty="0"/>
              <a:t>B) 3</a:t>
            </a:r>
          </a:p>
          <a:p>
            <a:pPr lvl="1"/>
            <a:r>
              <a:rPr lang="en-US" altLang="ko-KR" sz="1400" dirty="0"/>
              <a:t>C) </a:t>
            </a:r>
            <a:r>
              <a:rPr lang="ko-KR" altLang="en-US" sz="1400" dirty="0"/>
              <a:t>에러 발생</a:t>
            </a:r>
          </a:p>
          <a:p>
            <a:pPr lvl="1"/>
            <a:r>
              <a:rPr lang="en-US" altLang="ko-KR" sz="1400" dirty="0"/>
              <a:t>D) null</a:t>
            </a:r>
            <a:endParaRPr lang="ko-KR" altLang="en-US" sz="14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01150CC-532B-156E-49CB-3CBB7F935A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753E709-C6A3-4DBD-82F7-6E5ED028B16F}" type="slidenum">
              <a:rPr lang="en-US" altLang="ko-KR" smtClean="0"/>
              <a:pPr>
                <a:defRPr/>
              </a:pPr>
              <a:t>11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9ED5F21-4BA4-1633-57C7-2EF517BC3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115766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>
          <a:extLst>
            <a:ext uri="{FF2B5EF4-FFF2-40B4-BE49-F238E27FC236}">
              <a16:creationId xmlns:a16="http://schemas.microsoft.com/office/drawing/2014/main" id="{F52B4A05-0426-E503-E921-CD3E42D97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59A6CD-793B-3BC7-64FF-B5D480E46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230" y="146050"/>
            <a:ext cx="7773035" cy="762635"/>
          </a:xfrm>
        </p:spPr>
        <p:txBody>
          <a:bodyPr/>
          <a:lstStyle/>
          <a:p>
            <a:r>
              <a:rPr lang="ko-KR" altLang="en-US" dirty="0"/>
              <a:t>자바스크립트에서 배열 사용하기</a:t>
            </a:r>
            <a:r>
              <a:rPr lang="en-US" altLang="ko-KR" dirty="0"/>
              <a:t>(7)</a:t>
            </a:r>
            <a:br>
              <a:rPr lang="en-US" altLang="ko-KR" dirty="0"/>
            </a:br>
            <a:r>
              <a:rPr lang="en-US" altLang="ko-KR" dirty="0"/>
              <a:t>						</a:t>
            </a:r>
            <a:r>
              <a:rPr lang="ko-KR" altLang="en-US" dirty="0"/>
              <a:t>퀴즈 풀기 </a:t>
            </a:r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07F197-8FD2-25F7-16A9-0F0F097EE5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500" y="1152525"/>
            <a:ext cx="7773035" cy="5020310"/>
          </a:xfrm>
        </p:spPr>
        <p:txBody>
          <a:bodyPr>
            <a:normAutofit/>
          </a:bodyPr>
          <a:lstStyle/>
          <a:p>
            <a:r>
              <a:rPr lang="ko-KR" altLang="en-US" sz="1400" b="1" dirty="0"/>
              <a:t>퀴즈 </a:t>
            </a:r>
            <a:r>
              <a:rPr lang="en-US" altLang="ko-KR" sz="1400" b="1" dirty="0"/>
              <a:t>4 : </a:t>
            </a:r>
            <a:r>
              <a:rPr lang="ko-KR" altLang="en-US" sz="1400" b="1" dirty="0"/>
              <a:t>아래 코드의 출력 결과는</a:t>
            </a:r>
            <a:r>
              <a:rPr lang="en-US" altLang="ko-KR" sz="1400" b="1" dirty="0"/>
              <a:t>?</a:t>
            </a:r>
          </a:p>
          <a:p>
            <a:endParaRPr lang="en-US" altLang="ko-KR" sz="1400" b="1" dirty="0"/>
          </a:p>
          <a:p>
            <a:endParaRPr lang="en-US" altLang="ko-KR" sz="1400" b="1" dirty="0"/>
          </a:p>
          <a:p>
            <a:pPr lvl="1"/>
            <a:r>
              <a:rPr lang="pt-BR" altLang="ko-KR" sz="1200" dirty="0"/>
              <a:t>A) [10, 20, 30]</a:t>
            </a:r>
          </a:p>
          <a:p>
            <a:pPr lvl="1"/>
            <a:r>
              <a:rPr lang="pt-BR" altLang="ko-KR" sz="1200" dirty="0"/>
              <a:t>B) [11, 22, 33]</a:t>
            </a:r>
          </a:p>
          <a:p>
            <a:pPr lvl="1"/>
            <a:r>
              <a:rPr lang="pt-BR" altLang="ko-KR" sz="1200" dirty="0"/>
              <a:t>C) [10, 21, 32]</a:t>
            </a:r>
          </a:p>
          <a:p>
            <a:pPr lvl="1"/>
            <a:r>
              <a:rPr lang="pt-BR" altLang="ko-KR" sz="1200" dirty="0"/>
              <a:t>D) [0, 1, 2]</a:t>
            </a:r>
          </a:p>
          <a:p>
            <a:endParaRPr lang="en-US" altLang="ko-KR" sz="1400" dirty="0"/>
          </a:p>
          <a:p>
            <a:r>
              <a:rPr lang="ko-KR" altLang="en-US" sz="1400" b="1" dirty="0"/>
              <a:t>퀴즈 </a:t>
            </a:r>
            <a:r>
              <a:rPr lang="en-US" altLang="ko-KR" sz="1400" b="1" dirty="0"/>
              <a:t>5: </a:t>
            </a:r>
            <a:r>
              <a:rPr lang="ko-KR" altLang="en-US" sz="1400" b="1" dirty="0"/>
              <a:t>아래 중 배열 요소를 조건에 따라 제거하는 메서드는</a:t>
            </a:r>
            <a:r>
              <a:rPr lang="en-US" altLang="ko-KR" sz="1400" b="1" dirty="0"/>
              <a:t>?</a:t>
            </a:r>
          </a:p>
          <a:p>
            <a:pPr lvl="1"/>
            <a:r>
              <a:rPr lang="en-US" altLang="ko-KR" sz="1200" dirty="0"/>
              <a:t>A) map()</a:t>
            </a:r>
            <a:endParaRPr lang="en-US" altLang="ko-KR" sz="1400" dirty="0"/>
          </a:p>
          <a:p>
            <a:pPr lvl="1"/>
            <a:r>
              <a:rPr lang="en-US" altLang="ko-KR" sz="1200" dirty="0"/>
              <a:t>B) filter()</a:t>
            </a:r>
          </a:p>
          <a:p>
            <a:pPr lvl="1"/>
            <a:r>
              <a:rPr lang="en-US" altLang="ko-KR" sz="1200" dirty="0"/>
              <a:t>C) reduce()</a:t>
            </a:r>
          </a:p>
          <a:p>
            <a:pPr lvl="1"/>
            <a:r>
              <a:rPr lang="en-US" altLang="ko-KR" sz="1200" dirty="0"/>
              <a:t>D) forEach()</a:t>
            </a:r>
          </a:p>
          <a:p>
            <a:endParaRPr lang="en-US" altLang="ko-KR" sz="1400" dirty="0"/>
          </a:p>
          <a:p>
            <a:r>
              <a:rPr lang="ko-KR" altLang="en-US" sz="1400" b="1" dirty="0"/>
              <a:t>퀴즈 </a:t>
            </a:r>
            <a:r>
              <a:rPr lang="en-US" altLang="ko-KR" sz="1400" b="1" dirty="0"/>
              <a:t>6 : (</a:t>
            </a:r>
            <a:r>
              <a:rPr lang="ko-KR" altLang="en-US" sz="1400" b="1" dirty="0"/>
              <a:t>참</a:t>
            </a:r>
            <a:r>
              <a:rPr lang="en-US" altLang="ko-KR" sz="1400" b="1" dirty="0"/>
              <a:t>/</a:t>
            </a:r>
            <a:r>
              <a:rPr lang="ko-KR" altLang="en-US" sz="1400" b="1" dirty="0"/>
              <a:t>거짓</a:t>
            </a:r>
            <a:r>
              <a:rPr lang="en-US" altLang="ko-KR" sz="1400" b="1" dirty="0"/>
              <a:t>) : forEach()</a:t>
            </a:r>
            <a:r>
              <a:rPr lang="ko-KR" altLang="en-US" sz="1400" b="1" dirty="0"/>
              <a:t>는 </a:t>
            </a:r>
            <a:r>
              <a:rPr lang="en-US" altLang="ko-KR" sz="1400" b="1" dirty="0"/>
              <a:t>return</a:t>
            </a:r>
            <a:r>
              <a:rPr lang="ko-KR" altLang="en-US" sz="1400" b="1" dirty="0"/>
              <a:t>으로 반복을 중단할 수 있다</a:t>
            </a:r>
            <a:r>
              <a:rPr lang="en-US" altLang="ko-KR" sz="1400" b="1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CD3764-3064-607B-21D5-B18B3A3634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112000" y="6419850"/>
            <a:ext cx="1905635" cy="305435"/>
          </a:xfrm>
        </p:spPr>
        <p:txBody>
          <a:bodyPr/>
          <a:lstStyle/>
          <a:p>
            <a:pPr>
              <a:defRPr/>
            </a:pPr>
            <a:fld id="{D753E709-C6A3-4DBD-82F7-6E5ED028B16F}" type="slidenum">
              <a:rPr lang="en-US" altLang="ko-KR" smtClean="0"/>
              <a:pPr>
                <a:defRPr/>
              </a:pPr>
              <a:t>12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B4003CF-3A5E-6353-06BF-6A5FC0F96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97255" y="6393180"/>
            <a:ext cx="3110230" cy="349885"/>
          </a:xfrm>
        </p:spPr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E0B1F6-3C95-824E-76B4-74128554EC22}"/>
              </a:ext>
            </a:extLst>
          </p:cNvPr>
          <p:cNvSpPr txBox="1"/>
          <p:nvPr/>
        </p:nvSpPr>
        <p:spPr>
          <a:xfrm>
            <a:off x="897255" y="1484630"/>
            <a:ext cx="3785870" cy="52324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none" rtlCol="0">
            <a:spAutoFit/>
          </a:bodyPr>
          <a:lstStyle/>
          <a:p>
            <a:r>
              <a:rPr lang="nn-NO" altLang="ko-KR" sz="1400" dirty="0"/>
              <a:t>let result = [10, 20, 30].map((x, i) =&gt; x + i);</a:t>
            </a:r>
          </a:p>
          <a:p>
            <a:r>
              <a:rPr lang="nn-NO" altLang="ko-KR" sz="1400" dirty="0"/>
              <a:t>console.log(result);</a:t>
            </a:r>
          </a:p>
        </p:txBody>
      </p:sp>
      <p:sp>
        <p:nvSpPr>
          <p:cNvPr id="7" name="텍스트 상자 6"/>
          <p:cNvSpPr txBox="1">
            <a:spLocks/>
          </p:cNvSpPr>
          <p:nvPr/>
        </p:nvSpPr>
        <p:spPr>
          <a:xfrm rot="0">
            <a:off x="5526405" y="5334000"/>
            <a:ext cx="796925" cy="370205"/>
          </a:xfrm>
          <a:prstGeom prst="rect"/>
          <a:noFill/>
          <a:ln>
            <a:noFill/>
            <a:prstDash/>
          </a:ln>
        </p:spPr>
        <p:txBody>
          <a:bodyPr wrap="none" lIns="89535" tIns="46355" rIns="89535" bIns="46355" vert="horz" anchor="t">
            <a:spAutoFit/>
          </a:bodyPr>
          <a:lstStyle/>
          <a:p>
            <a:pPr marL="0" indent="0" algn="l" hangingPunct="1"/>
            <a:r>
              <a:rPr sz="1800">
                <a:latin typeface="맑은 고딕" charset="0"/>
                <a:ea typeface="맑은 고딕" charset="0"/>
              </a:rPr>
              <a:t>=</a:t>
            </a:r>
            <a:r>
              <a:rPr sz="1800">
                <a:latin typeface="맑은 고딕" charset="0"/>
                <a:ea typeface="맑은 고딕" charset="0"/>
              </a:rPr>
              <a:t>거짓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84586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5F024C-11F9-5E51-9BBC-0A589D998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230" y="146050"/>
            <a:ext cx="7773035" cy="762635"/>
          </a:xfrm>
        </p:spPr>
        <p:txBody>
          <a:bodyPr/>
          <a:lstStyle/>
          <a:p>
            <a:r>
              <a:rPr lang="ko-KR" altLang="en-US" dirty="0"/>
              <a:t>자바스크립트에서 배열 사용하기</a:t>
            </a:r>
            <a:r>
              <a:rPr lang="en-US" altLang="ko-KR" dirty="0"/>
              <a:t>(8)</a:t>
            </a:r>
            <a:br>
              <a:rPr lang="en-US" altLang="ko-KR" dirty="0"/>
            </a:br>
            <a:r>
              <a:rPr lang="en-US" altLang="ko-KR" dirty="0"/>
              <a:t>						</a:t>
            </a:r>
            <a:r>
              <a:rPr lang="ko-KR" altLang="en-US" dirty="0"/>
              <a:t>예제</a:t>
            </a:r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3A1AA2-F135-9F82-A7D0-911395EECB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500" y="1152525"/>
            <a:ext cx="7773035" cy="5020310"/>
          </a:xfrm>
        </p:spPr>
        <p:txBody>
          <a:bodyPr/>
          <a:lstStyle/>
          <a:p>
            <a:r>
              <a:rPr lang="ko-KR" altLang="en-US" dirty="0"/>
              <a:t>객체 배열에서 특정 이름의 유무 확인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55C2D92-E0E1-FBCD-5A83-280C406BC2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112000" y="6419850"/>
            <a:ext cx="1905635" cy="305435"/>
          </a:xfrm>
        </p:spPr>
        <p:txBody>
          <a:bodyPr/>
          <a:lstStyle/>
          <a:p>
            <a:pPr>
              <a:defRPr/>
            </a:pPr>
            <a:fld id="{D753E709-C6A3-4DBD-82F7-6E5ED028B16F}" type="slidenum">
              <a:rPr lang="en-US" altLang="ko-KR" smtClean="0"/>
              <a:pPr>
                <a:defRPr/>
              </a:pPr>
              <a:t>13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75F696-D1AC-D1F9-B560-CB662156C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97255" y="6393180"/>
            <a:ext cx="3110230" cy="349885"/>
          </a:xfrm>
        </p:spPr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383440-1311-F873-0C03-9285C25CC38B}"/>
              </a:ext>
            </a:extLst>
          </p:cNvPr>
          <p:cNvSpPr txBox="1"/>
          <p:nvPr/>
        </p:nvSpPr>
        <p:spPr>
          <a:xfrm>
            <a:off x="897255" y="1700530"/>
            <a:ext cx="6057265" cy="2585085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let users = [</a:t>
            </a:r>
          </a:p>
          <a:p>
            <a:r>
              <a:rPr lang="en-US" altLang="ko-KR" dirty="0"/>
              <a:t>  { name: "</a:t>
            </a:r>
            <a:r>
              <a:rPr lang="ko-KR" altLang="en-US" dirty="0"/>
              <a:t>재한</a:t>
            </a:r>
            <a:r>
              <a:rPr lang="en-US" altLang="ko-KR" dirty="0"/>
              <a:t>" },</a:t>
            </a:r>
          </a:p>
          <a:p>
            <a:r>
              <a:rPr lang="en-US" altLang="ko-KR" dirty="0"/>
              <a:t>  { name: "</a:t>
            </a:r>
            <a:r>
              <a:rPr lang="ko-KR" altLang="en-US" dirty="0"/>
              <a:t>수지</a:t>
            </a:r>
            <a:r>
              <a:rPr lang="en-US" altLang="ko-KR" dirty="0"/>
              <a:t>" },</a:t>
            </a:r>
          </a:p>
          <a:p>
            <a:r>
              <a:rPr lang="en-US" altLang="ko-KR" dirty="0"/>
              <a:t>  { name: "</a:t>
            </a:r>
            <a:r>
              <a:rPr lang="ko-KR" altLang="en-US" dirty="0"/>
              <a:t>민호</a:t>
            </a:r>
            <a:r>
              <a:rPr lang="en-US" altLang="ko-KR" dirty="0"/>
              <a:t>" }</a:t>
            </a:r>
          </a:p>
          <a:p>
            <a:r>
              <a:rPr lang="en-US" altLang="ko-KR" dirty="0"/>
              <a:t>];</a:t>
            </a:r>
          </a:p>
          <a:p>
            <a:endParaRPr lang="en-US" altLang="ko-KR" dirty="0"/>
          </a:p>
          <a:p>
            <a:r>
              <a:rPr lang="en-US" altLang="ko-KR" b="1" dirty="0">
                <a:solidFill>
                  <a:srgbClr val="00B050"/>
                </a:solidFill>
              </a:rPr>
              <a:t>// "</a:t>
            </a:r>
            <a:r>
              <a:rPr lang="ko-KR" altLang="en-US" b="1" dirty="0">
                <a:solidFill>
                  <a:srgbClr val="00B050"/>
                </a:solidFill>
              </a:rPr>
              <a:t>수지</a:t>
            </a:r>
            <a:r>
              <a:rPr lang="en-US" altLang="ko-KR" b="1" dirty="0">
                <a:solidFill>
                  <a:srgbClr val="00B050"/>
                </a:solidFill>
              </a:rPr>
              <a:t>"</a:t>
            </a:r>
            <a:r>
              <a:rPr lang="ko-KR" altLang="en-US" b="1" dirty="0">
                <a:solidFill>
                  <a:srgbClr val="00B050"/>
                </a:solidFill>
              </a:rPr>
              <a:t>가 있는지 확인 </a:t>
            </a:r>
            <a:r>
              <a:rPr lang="en-US" altLang="ko-KR" b="1" dirty="0">
                <a:solidFill>
                  <a:srgbClr val="00B050"/>
                </a:solidFill>
              </a:rPr>
              <a:t>(includes </a:t>
            </a:r>
            <a:r>
              <a:rPr lang="ko-KR" altLang="en-US" b="1" dirty="0">
                <a:solidFill>
                  <a:srgbClr val="00B050"/>
                </a:solidFill>
              </a:rPr>
              <a:t>대신 </a:t>
            </a:r>
            <a:r>
              <a:rPr lang="en-US" altLang="ko-KR" b="1" dirty="0">
                <a:solidFill>
                  <a:srgbClr val="00B050"/>
                </a:solidFill>
              </a:rPr>
              <a:t>some </a:t>
            </a:r>
            <a:r>
              <a:rPr lang="ko-KR" altLang="en-US" b="1" dirty="0">
                <a:solidFill>
                  <a:srgbClr val="00B050"/>
                </a:solidFill>
              </a:rPr>
              <a:t>사용</a:t>
            </a:r>
            <a:r>
              <a:rPr lang="en-US" altLang="ko-KR" b="1" dirty="0">
                <a:solidFill>
                  <a:srgbClr val="00B050"/>
                </a:solidFill>
              </a:rPr>
              <a:t>)</a:t>
            </a:r>
          </a:p>
          <a:p>
            <a:r>
              <a:rPr lang="en-US" altLang="ko-KR" dirty="0"/>
              <a:t>let exists = users.some(user =&gt; user.name === "</a:t>
            </a:r>
            <a:r>
              <a:rPr lang="ko-KR" altLang="en-US" dirty="0"/>
              <a:t>수지</a:t>
            </a:r>
            <a:r>
              <a:rPr lang="en-US" altLang="ko-KR" dirty="0"/>
              <a:t>");</a:t>
            </a:r>
          </a:p>
          <a:p>
            <a:r>
              <a:rPr lang="en-US" altLang="ko-KR" dirty="0"/>
              <a:t>document.write(exists+"&lt;br&gt;"); </a:t>
            </a:r>
            <a:r>
              <a:rPr lang="en-US" altLang="ko-KR" b="1" dirty="0">
                <a:solidFill>
                  <a:srgbClr val="00B050"/>
                </a:solidFill>
              </a:rPr>
              <a:t>// true</a:t>
            </a:r>
            <a:endParaRPr lang="ko-KR" altLang="en-US" b="1" dirty="0">
              <a:solidFill>
                <a:srgbClr val="00B050"/>
              </a:solidFill>
            </a:endParaRPr>
          </a:p>
        </p:txBody>
      </p:sp>
      <p:sp>
        <p:nvSpPr>
          <p:cNvPr id="7" name="텍스트 상자 7"/>
          <p:cNvSpPr txBox="1">
            <a:spLocks/>
          </p:cNvSpPr>
          <p:nvPr/>
        </p:nvSpPr>
        <p:spPr>
          <a:xfrm rot="0">
            <a:off x="2607310" y="4918710"/>
            <a:ext cx="3713480" cy="370205"/>
          </a:xfrm>
          <a:prstGeom prst="rect"/>
          <a:noFill/>
          <a:ln>
            <a:noFill/>
            <a:prstDash/>
          </a:ln>
        </p:spPr>
        <p:txBody>
          <a:bodyPr wrap="none" lIns="89535" tIns="46355" rIns="89535" bIns="46355" vert="horz" anchor="t">
            <a:spAutoFit/>
          </a:bodyPr>
          <a:lstStyle/>
          <a:p>
            <a:pPr marL="0" indent="0" algn="l" hangingPunct="1"/>
            <a:r>
              <a:rPr lang="ko-KR" sz="1800">
                <a:latin typeface="맑은 고딕" charset="0"/>
                <a:ea typeface="맑은 고딕" charset="0"/>
              </a:rPr>
              <a:t>i</a:t>
            </a:r>
            <a:r>
              <a:rPr lang="ko-KR" sz="1800">
                <a:latin typeface="맑은 고딕" charset="0"/>
                <a:ea typeface="맑은 고딕" charset="0"/>
              </a:rPr>
              <a:t>n</a:t>
            </a:r>
            <a:r>
              <a:rPr lang="ko-KR" sz="1800">
                <a:latin typeface="맑은 고딕" charset="0"/>
                <a:ea typeface="맑은 고딕" charset="0"/>
              </a:rPr>
              <a:t>c</a:t>
            </a:r>
            <a:r>
              <a:rPr lang="ko-KR" sz="1800">
                <a:latin typeface="맑은 고딕" charset="0"/>
                <a:ea typeface="맑은 고딕" charset="0"/>
              </a:rPr>
              <a:t>ludes대신 뭘 쓸 수 있나 이런식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18186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2531A-71D6-44BE-63F5-782BC8F2C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850D74-8D04-AF4A-7D56-A142B4675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자바스크립트에서 배열 사용하기</a:t>
            </a:r>
            <a:r>
              <a:rPr lang="en-US" altLang="ko-KR" dirty="0"/>
              <a:t>(9)</a:t>
            </a:r>
            <a:br>
              <a:rPr lang="en-US" altLang="ko-KR" dirty="0"/>
            </a:br>
            <a:r>
              <a:rPr lang="en-US" altLang="ko-KR" dirty="0"/>
              <a:t>						</a:t>
            </a:r>
            <a:r>
              <a:rPr lang="ko-KR" altLang="en-US" dirty="0"/>
              <a:t>예제</a:t>
            </a:r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23CF803-FE4A-1435-F6FA-56E87DDFC0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숫자 배열에서 짝수만 </a:t>
            </a:r>
            <a:r>
              <a:rPr lang="en-US" altLang="ko-KR" dirty="0"/>
              <a:t>2</a:t>
            </a:r>
            <a:r>
              <a:rPr lang="ko-KR" altLang="en-US" dirty="0"/>
              <a:t>배 후 출력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사용자 배열을 나이순 정렬 </a:t>
            </a:r>
            <a:r>
              <a:rPr lang="en-US" altLang="ko-KR" dirty="0"/>
              <a:t>(</a:t>
            </a:r>
            <a:r>
              <a:rPr lang="ko-KR" altLang="en-US" dirty="0"/>
              <a:t>내림차순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155654-35E3-66B8-D433-9F10410616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753E709-C6A3-4DBD-82F7-6E5ED028B16F}" type="slidenum">
              <a:rPr lang="en-US" altLang="ko-KR" smtClean="0"/>
              <a:pPr>
                <a:defRPr/>
              </a:pPr>
              <a:t>14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7F97D4E-1F62-BE11-9CA6-E1732749D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640419-E29D-02DB-AD33-FE4C32FF3107}"/>
              </a:ext>
            </a:extLst>
          </p:cNvPr>
          <p:cNvSpPr txBox="1"/>
          <p:nvPr/>
        </p:nvSpPr>
        <p:spPr>
          <a:xfrm>
            <a:off x="896938" y="1700808"/>
            <a:ext cx="7409914" cy="1477328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let nums = [1, 2, 3, 4, 5, 6];</a:t>
            </a:r>
          </a:p>
          <a:p>
            <a:endParaRPr lang="en-US" altLang="ko-KR" dirty="0"/>
          </a:p>
          <a:p>
            <a:r>
              <a:rPr lang="en-US" altLang="ko-KR" b="1" dirty="0">
                <a:solidFill>
                  <a:srgbClr val="00B050"/>
                </a:solidFill>
              </a:rPr>
              <a:t>// </a:t>
            </a:r>
            <a:r>
              <a:rPr lang="ko-KR" altLang="en-US" b="1" dirty="0">
                <a:solidFill>
                  <a:srgbClr val="00B050"/>
                </a:solidFill>
              </a:rPr>
              <a:t>필터 후 변환</a:t>
            </a:r>
          </a:p>
          <a:p>
            <a:r>
              <a:rPr lang="en-US" altLang="ko-KR" dirty="0"/>
              <a:t>let doubledEvens = nums.filter(n =&gt; n % 2 === 0).map(n =&gt; n * 2);</a:t>
            </a:r>
          </a:p>
          <a:p>
            <a:r>
              <a:rPr lang="en-US" altLang="ko-KR" dirty="0"/>
              <a:t>document.write(doubledEvens+"&lt;br&gt;"); </a:t>
            </a:r>
            <a:r>
              <a:rPr lang="en-US" altLang="ko-KR" b="1" dirty="0">
                <a:solidFill>
                  <a:srgbClr val="00B050"/>
                </a:solidFill>
              </a:rPr>
              <a:t>// [4, 8, 12]</a:t>
            </a:r>
            <a:endParaRPr lang="ko-KR" altLang="en-US" b="1" dirty="0">
              <a:solidFill>
                <a:srgbClr val="00B05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D2647F-6A2B-3C10-19AC-BFB19C0D290A}"/>
              </a:ext>
            </a:extLst>
          </p:cNvPr>
          <p:cNvSpPr txBox="1"/>
          <p:nvPr/>
        </p:nvSpPr>
        <p:spPr>
          <a:xfrm>
            <a:off x="896938" y="3970894"/>
            <a:ext cx="3850285" cy="2308324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let users = [</a:t>
            </a:r>
          </a:p>
          <a:p>
            <a:r>
              <a:rPr lang="en-US" altLang="ko-KR" dirty="0"/>
              <a:t>  { name: "</a:t>
            </a:r>
            <a:r>
              <a:rPr lang="ko-KR" altLang="en-US" dirty="0"/>
              <a:t>재한</a:t>
            </a:r>
            <a:r>
              <a:rPr lang="en-US" altLang="ko-KR" dirty="0"/>
              <a:t>", age: 30 },</a:t>
            </a:r>
          </a:p>
          <a:p>
            <a:r>
              <a:rPr lang="en-US" altLang="ko-KR" dirty="0"/>
              <a:t>  { name: "</a:t>
            </a:r>
            <a:r>
              <a:rPr lang="ko-KR" altLang="en-US" dirty="0"/>
              <a:t>수지</a:t>
            </a:r>
            <a:r>
              <a:rPr lang="en-US" altLang="ko-KR" dirty="0"/>
              <a:t>", age: 22 },</a:t>
            </a:r>
          </a:p>
          <a:p>
            <a:r>
              <a:rPr lang="en-US" altLang="ko-KR" dirty="0"/>
              <a:t>  { name: "</a:t>
            </a:r>
            <a:r>
              <a:rPr lang="ko-KR" altLang="en-US" dirty="0"/>
              <a:t>민호</a:t>
            </a:r>
            <a:r>
              <a:rPr lang="en-US" altLang="ko-KR" dirty="0"/>
              <a:t>", age: 35 }</a:t>
            </a:r>
          </a:p>
          <a:p>
            <a:r>
              <a:rPr lang="en-US" altLang="ko-KR" dirty="0"/>
              <a:t>];</a:t>
            </a:r>
          </a:p>
          <a:p>
            <a:endParaRPr lang="en-US" altLang="ko-KR" dirty="0"/>
          </a:p>
          <a:p>
            <a:r>
              <a:rPr lang="en-US" altLang="ko-KR" dirty="0"/>
              <a:t>users.sort((a, b) =&gt; b.age - a.age);</a:t>
            </a:r>
          </a:p>
          <a:p>
            <a:r>
              <a:rPr lang="en-US" altLang="ko-KR" dirty="0"/>
              <a:t>document.write(users+"&lt;br&gt;");</a:t>
            </a:r>
            <a:endParaRPr lang="ko-KR" altLang="en-US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67516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799C3-FEC9-12E4-4B2F-D00456F2F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EE4C99-A7B7-CF83-8456-0349B394B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자바스크립트에서 배열 사용하기</a:t>
            </a:r>
            <a:r>
              <a:rPr lang="en-US" altLang="ko-KR" dirty="0"/>
              <a:t>(10)</a:t>
            </a:r>
            <a:br>
              <a:rPr lang="en-US" altLang="ko-KR" dirty="0"/>
            </a:br>
            <a:r>
              <a:rPr lang="en-US" altLang="ko-KR" dirty="0"/>
              <a:t>						</a:t>
            </a:r>
            <a:r>
              <a:rPr lang="ko-KR" altLang="en-US" dirty="0"/>
              <a:t>예제</a:t>
            </a:r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F6A8E29-C7C5-853B-48A5-F17EF0F865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문자열 배열에서 글자 수가 </a:t>
            </a:r>
            <a:r>
              <a:rPr lang="en-US" altLang="ko-KR" dirty="0"/>
              <a:t>3</a:t>
            </a:r>
            <a:r>
              <a:rPr lang="ko-KR" altLang="en-US" dirty="0"/>
              <a:t>자 이하인 것만 추출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70CFC6-CF3F-6373-6D89-34885C4183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753E709-C6A3-4DBD-82F7-6E5ED028B16F}" type="slidenum">
              <a:rPr lang="en-US" altLang="ko-KR" smtClean="0"/>
              <a:pPr>
                <a:defRPr/>
              </a:pPr>
              <a:t>15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16E888-F240-9E2D-90B9-CA2E88987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9ED55D-85ED-2B8E-6693-3C514326AEF0}"/>
              </a:ext>
            </a:extLst>
          </p:cNvPr>
          <p:cNvSpPr txBox="1"/>
          <p:nvPr/>
        </p:nvSpPr>
        <p:spPr>
          <a:xfrm>
            <a:off x="896938" y="1700808"/>
            <a:ext cx="6735242" cy="1200329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let animals = ["</a:t>
            </a:r>
            <a:r>
              <a:rPr lang="ko-KR" altLang="en-US" dirty="0"/>
              <a:t>고양이</a:t>
            </a:r>
            <a:r>
              <a:rPr lang="en-US" altLang="ko-KR" dirty="0"/>
              <a:t>", "</a:t>
            </a:r>
            <a:r>
              <a:rPr lang="ko-KR" altLang="en-US" dirty="0"/>
              <a:t>개</a:t>
            </a:r>
            <a:r>
              <a:rPr lang="en-US" altLang="ko-KR" dirty="0"/>
              <a:t>", "</a:t>
            </a:r>
            <a:r>
              <a:rPr lang="ko-KR" altLang="en-US" dirty="0"/>
              <a:t>코끼리</a:t>
            </a:r>
            <a:r>
              <a:rPr lang="en-US" altLang="ko-KR" dirty="0"/>
              <a:t>", "</a:t>
            </a:r>
            <a:r>
              <a:rPr lang="ko-KR" altLang="en-US" dirty="0"/>
              <a:t>닭</a:t>
            </a:r>
            <a:r>
              <a:rPr lang="en-US" altLang="ko-KR" dirty="0"/>
              <a:t>", "</a:t>
            </a:r>
            <a:r>
              <a:rPr lang="ko-KR" altLang="en-US" dirty="0"/>
              <a:t>돼지</a:t>
            </a:r>
            <a:r>
              <a:rPr lang="en-US" altLang="ko-KR" dirty="0"/>
              <a:t>"];</a:t>
            </a:r>
          </a:p>
          <a:p>
            <a:endParaRPr lang="en-US" altLang="ko-KR" dirty="0"/>
          </a:p>
          <a:p>
            <a:r>
              <a:rPr lang="en-US" altLang="ko-KR" dirty="0"/>
              <a:t>let shortNames = animals.filter(animal =&gt; animal.length &lt;= 3);</a:t>
            </a:r>
          </a:p>
          <a:p>
            <a:r>
              <a:rPr lang="en-US" altLang="ko-KR" dirty="0"/>
              <a:t>document.write(shortNames); </a:t>
            </a:r>
            <a:r>
              <a:rPr lang="en-US" altLang="ko-KR" b="1" dirty="0">
                <a:solidFill>
                  <a:srgbClr val="00B050"/>
                </a:solidFill>
              </a:rPr>
              <a:t>// ["</a:t>
            </a:r>
            <a:r>
              <a:rPr lang="ko-KR" altLang="en-US" b="1" dirty="0">
                <a:solidFill>
                  <a:srgbClr val="00B050"/>
                </a:solidFill>
              </a:rPr>
              <a:t>개</a:t>
            </a:r>
            <a:r>
              <a:rPr lang="en-US" altLang="ko-KR" b="1" dirty="0">
                <a:solidFill>
                  <a:srgbClr val="00B050"/>
                </a:solidFill>
              </a:rPr>
              <a:t>", "</a:t>
            </a:r>
            <a:r>
              <a:rPr lang="ko-KR" altLang="en-US" b="1" dirty="0">
                <a:solidFill>
                  <a:srgbClr val="00B050"/>
                </a:solidFill>
              </a:rPr>
              <a:t>닭</a:t>
            </a:r>
            <a:r>
              <a:rPr lang="en-US" altLang="ko-KR" b="1" dirty="0">
                <a:solidFill>
                  <a:srgbClr val="00B050"/>
                </a:solidFill>
              </a:rPr>
              <a:t>", "</a:t>
            </a:r>
            <a:r>
              <a:rPr lang="ko-KR" altLang="en-US" b="1" dirty="0">
                <a:solidFill>
                  <a:srgbClr val="00B050"/>
                </a:solidFill>
              </a:rPr>
              <a:t>돼지</a:t>
            </a:r>
            <a:r>
              <a:rPr lang="en-US" altLang="ko-KR" b="1" dirty="0">
                <a:solidFill>
                  <a:srgbClr val="00B050"/>
                </a:solidFill>
              </a:rPr>
              <a:t>"]</a:t>
            </a:r>
            <a:endParaRPr lang="ko-KR" altLang="en-US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271484"/>
      </p:ext>
    </p:extLst>
  </p:cSld>
  <p:clrMapOvr>
    <a:masterClrMapping/>
  </p:clrMapOvr>
</p:sld>
</file>

<file path=ppt/theme/theme1.xml><?xml version="1.0" encoding="utf-8"?>
<a:theme xmlns:a="http://schemas.openxmlformats.org/drawingml/2006/main" name="가로-고려대마크-1">
  <a:themeElements>
    <a:clrScheme name="가로-고려대마크-1 7">
      <a:dk1>
        <a:srgbClr val="41280D"/>
      </a:dk1>
      <a:lt1>
        <a:srgbClr val="FFFFFF"/>
      </a:lt1>
      <a:dk2>
        <a:srgbClr val="336699"/>
      </a:dk2>
      <a:lt2>
        <a:srgbClr val="666633"/>
      </a:lt2>
      <a:accent1>
        <a:srgbClr val="FFCC66"/>
      </a:accent1>
      <a:accent2>
        <a:srgbClr val="993300"/>
      </a:accent2>
      <a:accent3>
        <a:srgbClr val="FFFFFF"/>
      </a:accent3>
      <a:accent4>
        <a:srgbClr val="362109"/>
      </a:accent4>
      <a:accent5>
        <a:srgbClr val="FFE2B8"/>
      </a:accent5>
      <a:accent6>
        <a:srgbClr val="8A2D00"/>
      </a:accent6>
      <a:hlink>
        <a:srgbClr val="008000"/>
      </a:hlink>
      <a:folHlink>
        <a:srgbClr val="969696"/>
      </a:folHlink>
    </a:clrScheme>
    <a:fontScheme name="가로-고려대마크-1">
      <a:majorFont>
        <a:latin typeface="Tahoma"/>
        <a:ea typeface="굴림"/>
        <a:cs typeface=""/>
      </a:majorFont>
      <a:minorFont>
        <a:latin typeface="Tahoma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1149350" rtl="0" eaLnBrk="1" fontAlgn="base" latinLnBrk="1" hangingPunct="1">
          <a:lnSpc>
            <a:spcPct val="5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>
            <a:tab pos="574675" algn="l"/>
          </a:tabLst>
          <a:defRPr kumimoji="1" 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1149350" rtl="0" eaLnBrk="1" fontAlgn="base" latinLnBrk="1" hangingPunct="1">
          <a:lnSpc>
            <a:spcPct val="5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>
            <a:tab pos="574675" algn="l"/>
          </a:tabLst>
          <a:defRPr kumimoji="1" 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굴림" pitchFamily="50" charset="-127"/>
          </a:defRPr>
        </a:defPPr>
      </a:lstStyle>
    </a:lnDef>
  </a:objectDefaults>
  <a:extraClrSchemeLst>
    <a:extraClrScheme>
      <a:clrScheme name="가로-고려대마크-1 1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가로-고려대마크-1 2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가로-고려대마크-1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가로-고려대마크-1 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가로-고려대마크-1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가로-고려대마크-1 6">
        <a:dk1>
          <a:srgbClr val="41280D"/>
        </a:dk1>
        <a:lt1>
          <a:srgbClr val="FFFFFF"/>
        </a:lt1>
        <a:dk2>
          <a:srgbClr val="B4783C"/>
        </a:dk2>
        <a:lt2>
          <a:srgbClr val="666633"/>
        </a:lt2>
        <a:accent1>
          <a:srgbClr val="4C7188"/>
        </a:accent1>
        <a:accent2>
          <a:srgbClr val="FF9900"/>
        </a:accent2>
        <a:accent3>
          <a:srgbClr val="FFFFFF"/>
        </a:accent3>
        <a:accent4>
          <a:srgbClr val="362109"/>
        </a:accent4>
        <a:accent5>
          <a:srgbClr val="B2BBC3"/>
        </a:accent5>
        <a:accent6>
          <a:srgbClr val="E78A00"/>
        </a:accent6>
        <a:hlink>
          <a:srgbClr val="0000CC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가로-고려대마크-1 7">
        <a:dk1>
          <a:srgbClr val="41280D"/>
        </a:dk1>
        <a:lt1>
          <a:srgbClr val="FFFFFF"/>
        </a:lt1>
        <a:dk2>
          <a:srgbClr val="336699"/>
        </a:dk2>
        <a:lt2>
          <a:srgbClr val="666633"/>
        </a:lt2>
        <a:accent1>
          <a:srgbClr val="FFCC66"/>
        </a:accent1>
        <a:accent2>
          <a:srgbClr val="993300"/>
        </a:accent2>
        <a:accent3>
          <a:srgbClr val="FFFFFF"/>
        </a:accent3>
        <a:accent4>
          <a:srgbClr val="362109"/>
        </a:accent4>
        <a:accent5>
          <a:srgbClr val="FFE2B8"/>
        </a:accent5>
        <a:accent6>
          <a:srgbClr val="8A2D00"/>
        </a:accent6>
        <a:hlink>
          <a:srgbClr val="008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Polaris Office Slide</Application>
  <AppVersion>12.000</AppVersion>
  <Characters>0</Characters>
  <CharactersWithSpaces>0</CharactersWithSpaces>
  <DocSecurity>0</DocSecurity>
  <HyperlinksChanged>false</HyperlinksChanged>
  <Lines>0</Lines>
  <LinksUpToDate>false</LinksUpToDate>
  <Pages>15</Pages>
  <Paragraphs>242</Paragraphs>
  <Words>1556</Words>
  <TotalTime>0</TotalTime>
  <MMClips>0</MMClips>
  <ScaleCrop>false</ScaleCrop>
  <HeadingPairs>
    <vt:vector size="2" baseType="variant">
      <vt:variant>
        <vt:lpstr>Title</vt:lpstr>
      </vt:variant>
      <vt:variant>
        <vt:i4>1</vt:i4>
      </vt:variant>
    </vt:vector>
  </HeadingPairs>
  <TitlesOfParts>
    <vt:vector size="1" baseType="lpstr">
      <vt:lpstr>Title text</vt:lpstr>
    </vt:vector>
  </TitlesOfParts>
  <SharedDoc>false</SharedDoc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</cp:revision>
  <dc:creator>조재한</dc:creator>
  <cp:lastModifiedBy>a93686351</cp:lastModifiedBy>
  <dc:title>정보기기 소프트웨어 설계(1학기)</dc:title>
  <cp:version>10.105.293.56114</cp:version>
  <dcterms:modified xsi:type="dcterms:W3CDTF">2026-03-04T03:26:25Z</dcterms:modified>
</cp:coreProperties>
</file>
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87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4660"/>
  </p:normalViewPr>
  <p:slideViewPr>
    <p:cSldViewPr>
      <p:cViewPr varScale="1">
        <p:scale>
          <a:sx n="106" d="100"/>
          <a:sy n="106" d="100"/>
        </p:scale>
        <p:origin x="174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67E21-F3AE-43E5-8344-710FD999BB11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8DAAC-260C-484A-B0EF-1E8BC18453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590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0" y="1497013"/>
            <a:ext cx="9144000" cy="50800"/>
            <a:chOff x="0" y="583"/>
            <a:chExt cx="5760" cy="50"/>
          </a:xfrm>
        </p:grpSpPr>
        <p:sp>
          <p:nvSpPr>
            <p:cNvPr id="6" name="Rectangle 9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7" name="Rectangle 10"/>
            <p:cNvSpPr>
              <a:spLocks noChangeArrowheads="1"/>
            </p:cNvSpPr>
            <p:nvPr userDrawn="1"/>
          </p:nvSpPr>
          <p:spPr bwMode="auto">
            <a:xfrm>
              <a:off x="1638" y="589"/>
              <a:ext cx="4122" cy="44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0" y="6288088"/>
            <a:ext cx="9144000" cy="50800"/>
            <a:chOff x="0" y="583"/>
            <a:chExt cx="5760" cy="50"/>
          </a:xfrm>
        </p:grpSpPr>
        <p:sp>
          <p:nvSpPr>
            <p:cNvPr id="9" name="Rectangle 12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0" name="Rectangle 13"/>
            <p:cNvSpPr>
              <a:spLocks noChangeArrowheads="1"/>
            </p:cNvSpPr>
            <p:nvPr userDrawn="1"/>
          </p:nvSpPr>
          <p:spPr bwMode="auto">
            <a:xfrm>
              <a:off x="1638" y="589"/>
              <a:ext cx="4122" cy="44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614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143000" y="1676400"/>
            <a:ext cx="7010400" cy="1752600"/>
          </a:xfrm>
        </p:spPr>
        <p:txBody>
          <a:bodyPr anchor="ctr"/>
          <a:lstStyle>
            <a:lvl1pPr algn="ctr">
              <a:defRPr sz="2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762000" y="4343400"/>
            <a:ext cx="7696200" cy="17526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 sz="2000" b="1"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53E709-C6A3-4DBD-82F7-6E5ED028B16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제목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913" y="146050"/>
            <a:ext cx="7772400" cy="762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차트 개체 틀 2"/>
          <p:cNvSpPr>
            <a:spLocks noGrp="1"/>
          </p:cNvSpPr>
          <p:nvPr>
            <p:ph type="chart" idx="1"/>
          </p:nvPr>
        </p:nvSpPr>
        <p:spPr>
          <a:xfrm>
            <a:off x="444500" y="1152525"/>
            <a:ext cx="7772400" cy="5019675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66BAE-B407-4D4C-92B0-3DCDF5F79E0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12000" y="641985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kumimoji="0" sz="1300">
                <a:solidFill>
                  <a:schemeClr val="tx2"/>
                </a:solidFill>
                <a:latin typeface="+mn-ea"/>
                <a:ea typeface="굴림" pitchFamily="50" charset="-127"/>
              </a:defRPr>
            </a:lvl1pPr>
          </a:lstStyle>
          <a:p>
            <a:pPr>
              <a:defRPr/>
            </a:pPr>
            <a:fld id="{7654FC3B-6869-4E9F-A7F1-8E695089650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44500" y="1152525"/>
            <a:ext cx="7772400" cy="501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96938" y="6392863"/>
            <a:ext cx="3109912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defRPr kumimoji="0">
                <a:solidFill>
                  <a:srgbClr val="40458C"/>
                </a:solidFill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0" y="954088"/>
            <a:ext cx="9144000" cy="50800"/>
            <a:chOff x="0" y="583"/>
            <a:chExt cx="5760" cy="50"/>
          </a:xfrm>
        </p:grpSpPr>
        <p:sp>
          <p:nvSpPr>
            <p:cNvPr id="1035" name="Rectangle 14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036" name="Rectangle 17"/>
            <p:cNvSpPr>
              <a:spLocks noChangeArrowheads="1"/>
            </p:cNvSpPr>
            <p:nvPr userDrawn="1"/>
          </p:nvSpPr>
          <p:spPr bwMode="auto">
            <a:xfrm>
              <a:off x="1638" y="589"/>
              <a:ext cx="4122" cy="44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0" y="6383338"/>
            <a:ext cx="9144000" cy="60325"/>
            <a:chOff x="0" y="583"/>
            <a:chExt cx="5760" cy="50"/>
          </a:xfrm>
        </p:grpSpPr>
        <p:sp>
          <p:nvSpPr>
            <p:cNvPr id="1033" name="Rectangle 22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034" name="Rectangle 23"/>
            <p:cNvSpPr>
              <a:spLocks noChangeArrowheads="1"/>
            </p:cNvSpPr>
            <p:nvPr userDrawn="1"/>
          </p:nvSpPr>
          <p:spPr bwMode="auto">
            <a:xfrm>
              <a:off x="1638" y="590"/>
              <a:ext cx="4122" cy="43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103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4605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40458C"/>
        </a:buClr>
        <a:buFont typeface="Wingdings" pitchFamily="2" charset="2"/>
        <a:buChar char="n"/>
        <a:defRPr kumimoji="1" sz="2200">
          <a:solidFill>
            <a:srgbClr val="40458C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Times New Roman" pitchFamily="18" charset="0"/>
        <a:buChar char="–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java.sun.com/jsp/jstl/core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66420-79E1-F495-47F6-CFF02C92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FFF52-91E3-332C-388F-833F6DA44CE1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ko-KR" altLang="en-US" dirty="0"/>
              <a:t>웹 프로그래밍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part 7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1C8CD7-E553-BD68-17BA-011E9601DAA6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ko-KR" altLang="en-US" dirty="0"/>
              <a:t>금오공과대학교</a:t>
            </a:r>
            <a:endParaRPr lang="en-US" altLang="ko-KR" dirty="0"/>
          </a:p>
          <a:p>
            <a:r>
              <a:rPr lang="ko-KR" altLang="en-US" dirty="0"/>
              <a:t>조재한</a:t>
            </a:r>
          </a:p>
        </p:txBody>
      </p:sp>
    </p:spTree>
    <p:extLst>
      <p:ext uri="{BB962C8B-B14F-4D97-AF65-F5344CB8AC3E}">
        <p14:creationId xmlns:p14="http://schemas.microsoft.com/office/powerpoint/2010/main" val="787213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5DC97B-37E6-124A-B0F6-EE5F879A1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</a:t>
            </a:r>
            <a:r>
              <a:rPr lang="ko-KR" altLang="en-US" dirty="0"/>
              <a:t>에 대해서 알아보자</a:t>
            </a:r>
            <a:r>
              <a:rPr lang="en-US" altLang="ko-KR" dirty="0"/>
              <a:t>!</a:t>
            </a:r>
            <a:br>
              <a:rPr lang="en-US" altLang="ko-KR" dirty="0"/>
            </a:br>
            <a:r>
              <a:rPr lang="en-US" altLang="ko-KR" dirty="0"/>
              <a:t>						JSP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54FD2F-24FB-12AC-D9AD-691632FC2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231956" cy="5019675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JSP(Java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Server Pages)</a:t>
            </a:r>
            <a:r>
              <a:rPr lang="ko-KR" altLang="en-US" sz="1800" dirty="0"/>
              <a:t>는 </a:t>
            </a:r>
            <a:r>
              <a:rPr lang="en-US" altLang="ko-KR" sz="1800" dirty="0"/>
              <a:t>Java</a:t>
            </a:r>
            <a:r>
              <a:rPr lang="ko-KR" altLang="en-US" sz="1800" dirty="0"/>
              <a:t> 언어를 기반으로 서버 측 웹프로그래밍 기술</a:t>
            </a:r>
            <a:endParaRPr lang="en-US" altLang="ko-KR" sz="1800" dirty="0"/>
          </a:p>
          <a:p>
            <a:pPr lvl="1"/>
            <a:r>
              <a:rPr lang="ko-KR" altLang="en-US" sz="1800" dirty="0"/>
              <a:t>기존의 </a:t>
            </a:r>
            <a:r>
              <a:rPr lang="en-US" altLang="ko-KR" sz="1800" dirty="0"/>
              <a:t>HTML</a:t>
            </a:r>
            <a:r>
              <a:rPr lang="ko-KR" altLang="en-US" sz="1800" dirty="0"/>
              <a:t>은 정적인 웹 페이지를 작성하는데 적합하지만 </a:t>
            </a:r>
            <a:r>
              <a:rPr lang="en-US" altLang="ko-KR" sz="1800" b="1" dirty="0"/>
              <a:t>JSP</a:t>
            </a:r>
            <a:r>
              <a:rPr lang="ko-KR" altLang="en-US" sz="1800" dirty="0"/>
              <a:t>는 동적인 웹 페이지를 작성하는데 사용됨</a:t>
            </a:r>
            <a:r>
              <a:rPr lang="en-US" altLang="ko-KR" sz="1800" dirty="0"/>
              <a:t>.</a:t>
            </a:r>
          </a:p>
          <a:p>
            <a:pPr lvl="1"/>
            <a:r>
              <a:rPr lang="en-US" altLang="ko-KR" sz="1800" b="1" dirty="0"/>
              <a:t>JSP</a:t>
            </a:r>
            <a:r>
              <a:rPr lang="ko-KR" altLang="en-US" sz="1800" dirty="0"/>
              <a:t>는 </a:t>
            </a:r>
            <a:r>
              <a:rPr lang="en-US" altLang="ko-KR" sz="1800" dirty="0"/>
              <a:t>HTML </a:t>
            </a:r>
            <a:r>
              <a:rPr lang="ko-KR" altLang="en-US" sz="1800" dirty="0"/>
              <a:t>문서 내부에서 </a:t>
            </a:r>
            <a:r>
              <a:rPr lang="en-US" altLang="ko-KR" sz="1800" dirty="0"/>
              <a:t>Java </a:t>
            </a:r>
            <a:r>
              <a:rPr lang="ko-KR" altLang="en-US" sz="1800" dirty="0"/>
              <a:t>코드를 작성할 수 있도록 되어 있다</a:t>
            </a:r>
            <a:r>
              <a:rPr lang="en-US" altLang="ko-KR" sz="1800" dirty="0"/>
              <a:t>.</a:t>
            </a:r>
          </a:p>
          <a:p>
            <a:pPr lvl="2"/>
            <a:r>
              <a:rPr lang="ko-KR" altLang="en-US" sz="1800" dirty="0"/>
              <a:t>웹에서 자바언어를 사용할 수 있음</a:t>
            </a:r>
            <a:r>
              <a:rPr lang="en-US" altLang="ko-KR" sz="1800" dirty="0"/>
              <a:t>.</a:t>
            </a:r>
          </a:p>
          <a:p>
            <a:r>
              <a:rPr lang="en-US" altLang="ko-KR" sz="1800" b="1" dirty="0"/>
              <a:t>JSP</a:t>
            </a:r>
            <a:r>
              <a:rPr lang="ko-KR" altLang="en-US" sz="1800" dirty="0"/>
              <a:t>는 웹 서버에서 실행되며</a:t>
            </a:r>
            <a:r>
              <a:rPr lang="en-US" altLang="ko-KR" sz="1800" dirty="0"/>
              <a:t> </a:t>
            </a:r>
            <a:r>
              <a:rPr lang="ko-KR" altLang="en-US" sz="1800" dirty="0"/>
              <a:t>사용자가</a:t>
            </a:r>
            <a:r>
              <a:rPr lang="en-US" altLang="ko-KR" sz="1800" b="1" dirty="0"/>
              <a:t> JSP</a:t>
            </a:r>
            <a:r>
              <a:rPr lang="ko-KR" altLang="en-US" sz="1800" dirty="0"/>
              <a:t>페이지를 요청하면 서버는 </a:t>
            </a:r>
            <a:r>
              <a:rPr lang="en-US" altLang="ko-KR" sz="1800" b="1" dirty="0"/>
              <a:t>JSP</a:t>
            </a:r>
            <a:r>
              <a:rPr lang="en-US" altLang="ko-KR" sz="1800" dirty="0"/>
              <a:t> </a:t>
            </a:r>
            <a:r>
              <a:rPr lang="ko-KR" altLang="en-US" sz="1800" dirty="0"/>
              <a:t>파일을 </a:t>
            </a:r>
            <a:r>
              <a:rPr lang="en-US" altLang="ko-KR" sz="1800" dirty="0"/>
              <a:t>Servlet</a:t>
            </a:r>
            <a:r>
              <a:rPr lang="ko-KR" altLang="en-US" sz="1800" dirty="0"/>
              <a:t>으로 변환한 후 실행하여 결과를 </a:t>
            </a:r>
            <a:r>
              <a:rPr lang="en-US" altLang="ko-KR" sz="1800" dirty="0"/>
              <a:t>HTML </a:t>
            </a:r>
            <a:r>
              <a:rPr lang="ko-KR" altLang="en-US" sz="1800" dirty="0"/>
              <a:t>형태로 생성됨</a:t>
            </a:r>
            <a:r>
              <a:rPr lang="en-US" altLang="ko-KR" sz="1800" dirty="0"/>
              <a:t>.</a:t>
            </a:r>
          </a:p>
          <a:p>
            <a:r>
              <a:rPr lang="en-US" altLang="ko-KR" sz="1800" b="1" dirty="0"/>
              <a:t>JSP</a:t>
            </a:r>
            <a:r>
              <a:rPr lang="ko-KR" altLang="en-US" sz="1800" dirty="0"/>
              <a:t>는 </a:t>
            </a:r>
            <a:r>
              <a:rPr lang="en-US" altLang="ko-KR" sz="1800" dirty="0"/>
              <a:t>Java </a:t>
            </a:r>
            <a:r>
              <a:rPr lang="ko-KR" altLang="en-US" sz="1800" dirty="0"/>
              <a:t>언어를 기반하므로 해당 라이브러리를 사용할 수 있으며</a:t>
            </a:r>
            <a:r>
              <a:rPr lang="en-US" altLang="ko-KR" sz="1800" dirty="0"/>
              <a:t>,</a:t>
            </a:r>
            <a:r>
              <a:rPr lang="ko-KR" altLang="en-US" sz="1800" dirty="0"/>
              <a:t> 객체지향 기능을 활용하여 대규모 웹 어플리케이션 개발에도 적합함</a:t>
            </a:r>
            <a:r>
              <a:rPr lang="en-US" altLang="ko-KR" sz="1800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0AADED-5F2B-BF39-F88F-F746C67A5D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6DCA32-677E-8A09-D337-5B78200CB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4570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6C710-433C-88B0-7C9E-FF9FE94FB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B11CE-68D4-7D6B-4D9D-571A03F5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</a:t>
            </a:r>
            <a:r>
              <a:rPr lang="ko-KR" altLang="en-US" dirty="0"/>
              <a:t>에 대해서 알아보자</a:t>
            </a:r>
            <a:r>
              <a:rPr lang="en-US" altLang="ko-KR" dirty="0"/>
              <a:t>!</a:t>
            </a:r>
            <a:br>
              <a:rPr lang="en-US" altLang="ko-KR" dirty="0"/>
            </a:br>
            <a:r>
              <a:rPr lang="en-US" altLang="ko-KR" dirty="0"/>
              <a:t>						HTML</a:t>
            </a:r>
            <a:r>
              <a:rPr lang="ko-KR" altLang="en-US" dirty="0"/>
              <a:t>과 </a:t>
            </a:r>
            <a:r>
              <a:rPr lang="en-US" altLang="ko-KR" dirty="0"/>
              <a:t>JSP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B28AA3-7907-8BD4-8C18-991C55DD6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231956" cy="5019675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HTML</a:t>
            </a:r>
            <a:r>
              <a:rPr lang="ko-KR" altLang="en-US" sz="1800" b="1" dirty="0"/>
              <a:t>은 웹 페이지의 구조와 내용을 작성하기 위한 마크업 언어로써</a:t>
            </a:r>
            <a:r>
              <a:rPr lang="en-US" altLang="ko-KR" sz="1800" b="1" dirty="0"/>
              <a:t>, HTML</a:t>
            </a:r>
            <a:r>
              <a:rPr lang="ko-KR" altLang="en-US" sz="1800" b="1" dirty="0"/>
              <a:t>은 작성된 내용이 그대로 브라우저에 표시되는 정적인 웹 페이지</a:t>
            </a:r>
            <a:endParaRPr lang="en-US" altLang="ko-KR" sz="1800" b="1" dirty="0"/>
          </a:p>
          <a:p>
            <a:pPr lvl="1"/>
            <a:r>
              <a:rPr lang="ko-KR" altLang="en-US" sz="1600" b="1" dirty="0"/>
              <a:t>사용자 요청 혹은 상황에 따라 내용이 변경되지 않음</a:t>
            </a:r>
            <a:endParaRPr lang="en-US" altLang="ko-KR" sz="1600" b="1" dirty="0"/>
          </a:p>
          <a:p>
            <a:r>
              <a:rPr lang="en-US" altLang="ko-KR" sz="1800" b="1" dirty="0"/>
              <a:t>JSP</a:t>
            </a:r>
            <a:r>
              <a:rPr lang="ko-KR" altLang="en-US" sz="1800" b="1" dirty="0"/>
              <a:t>는 </a:t>
            </a:r>
            <a:r>
              <a:rPr lang="en-US" altLang="ko-KR" sz="1800" b="1" dirty="0"/>
              <a:t>HTML</a:t>
            </a:r>
            <a:r>
              <a:rPr lang="ko-KR" altLang="en-US" sz="1800" b="1" dirty="0"/>
              <a:t>에 </a:t>
            </a:r>
            <a:r>
              <a:rPr lang="en-US" altLang="ko-KR" sz="1800" b="1" dirty="0"/>
              <a:t>Java</a:t>
            </a:r>
            <a:r>
              <a:rPr lang="ko-KR" altLang="en-US" sz="1800" b="1" dirty="0"/>
              <a:t> 코드를 포함하여 동적인 웹 페이지를 만들 수 있는 서버 측 기술</a:t>
            </a:r>
            <a:endParaRPr lang="en-US" altLang="ko-KR" sz="1800" b="1" dirty="0"/>
          </a:p>
          <a:p>
            <a:pPr lvl="1"/>
            <a:r>
              <a:rPr lang="ko-KR" altLang="en-US" sz="1600" b="1" dirty="0"/>
              <a:t>사용자는 </a:t>
            </a:r>
            <a:r>
              <a:rPr lang="en-US" altLang="ko-KR" sz="1600" b="1" dirty="0"/>
              <a:t>JSP </a:t>
            </a:r>
            <a:r>
              <a:rPr lang="ko-KR" altLang="en-US" sz="1600" b="1" dirty="0"/>
              <a:t>페이지의 실행 결과만 확인 할 수 있으며 </a:t>
            </a:r>
            <a:r>
              <a:rPr lang="en-US" altLang="ko-KR" sz="1600" b="1" dirty="0"/>
              <a:t>Java </a:t>
            </a:r>
            <a:r>
              <a:rPr lang="ko-KR" altLang="en-US" sz="1600" b="1" dirty="0"/>
              <a:t>코드를 볼 수는 없음</a:t>
            </a:r>
            <a:endParaRPr lang="en-US" altLang="ko-KR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838DA1-B019-D6AC-5B6E-ACD7211F1D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2E42C2-3691-0353-24F6-BBA05D15B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28E1162-C372-3395-6CF5-D19DA893C2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890024"/>
              </p:ext>
            </p:extLst>
          </p:nvPr>
        </p:nvGraphicFramePr>
        <p:xfrm>
          <a:off x="1619672" y="3429000"/>
          <a:ext cx="6096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9816914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931728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61206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/>
                        <a:t>구분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HTML</a:t>
                      </a:r>
                      <a:endParaRPr lang="ko-KR" altLang="en-US" sz="16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JSP</a:t>
                      </a:r>
                      <a:endParaRPr lang="ko-KR" altLang="en-US" sz="16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610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실행 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웹 브라우저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웹 서버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29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페이지 형태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정적 페이지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동적 페이지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704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프로그래밍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불가능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가능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974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DB</a:t>
                      </a:r>
                      <a:r>
                        <a:rPr lang="ko-KR" altLang="en-US" sz="1600" dirty="0"/>
                        <a:t> 연동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불가능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가능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291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8019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E019B4-A80D-69E5-CF65-A1493ECFD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</a:t>
            </a:r>
            <a:r>
              <a:rPr lang="ko-KR" altLang="en-US" dirty="0"/>
              <a:t>에 대해서 알아보자</a:t>
            </a:r>
            <a:r>
              <a:rPr lang="en-US" altLang="ko-KR" dirty="0"/>
              <a:t>!</a:t>
            </a:r>
            <a:br>
              <a:rPr lang="en-US" altLang="ko-KR" dirty="0"/>
            </a:br>
            <a:r>
              <a:rPr lang="en-US" altLang="ko-KR" dirty="0"/>
              <a:t>					JSP </a:t>
            </a:r>
            <a:r>
              <a:rPr lang="ko-KR" altLang="en-US" dirty="0"/>
              <a:t>페이지 처리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43ED4E-0C27-FFBE-9DBA-BA6F8CAD5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303964" cy="2574960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sz="1600" b="1" dirty="0"/>
              <a:t>JSP </a:t>
            </a:r>
            <a:r>
              <a:rPr lang="ko-KR" altLang="en-US" sz="1600" b="1" dirty="0"/>
              <a:t>페이지는 사용자가 요청할 때 서버에서 실행된 후 결과가 브라우저로 전달된다</a:t>
            </a:r>
            <a:r>
              <a:rPr lang="en-US" altLang="ko-KR" sz="1600" b="1" dirty="0"/>
              <a:t>.</a:t>
            </a:r>
          </a:p>
          <a:p>
            <a:pPr lvl="1"/>
            <a:r>
              <a:rPr lang="ko-KR" altLang="en-US" sz="1400" dirty="0"/>
              <a:t>사용자가 웹 브라우저를 통해 </a:t>
            </a:r>
            <a:r>
              <a:rPr lang="en-US" altLang="ko-KR" sz="1400" b="1" dirty="0"/>
              <a:t>JSP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페이지를 요청</a:t>
            </a:r>
            <a:endParaRPr lang="en-US" altLang="ko-KR" sz="1400" dirty="0"/>
          </a:p>
          <a:p>
            <a:pPr lvl="1"/>
            <a:r>
              <a:rPr lang="ko-KR" altLang="en-US" sz="1400" dirty="0"/>
              <a:t>웹 서버</a:t>
            </a:r>
            <a:r>
              <a:rPr lang="en-US" altLang="ko-KR" sz="1400" dirty="0"/>
              <a:t>(Tomcat </a:t>
            </a:r>
            <a:r>
              <a:rPr lang="ko-KR" altLang="en-US" sz="1400" dirty="0"/>
              <a:t>등</a:t>
            </a:r>
            <a:r>
              <a:rPr lang="en-US" altLang="ko-KR" sz="1400" dirty="0"/>
              <a:t>)</a:t>
            </a:r>
            <a:r>
              <a:rPr lang="ko-KR" altLang="en-US" sz="1400" dirty="0"/>
              <a:t>는 요청 받은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JSP </a:t>
            </a:r>
            <a:r>
              <a:rPr lang="ko-KR" altLang="en-US" sz="1400" dirty="0"/>
              <a:t>파일을 </a:t>
            </a:r>
            <a:r>
              <a:rPr lang="en-US" altLang="ko-KR" sz="1400" dirty="0"/>
              <a:t>Servlet(Java </a:t>
            </a:r>
            <a:r>
              <a:rPr lang="ko-KR" altLang="en-US" sz="1400" dirty="0"/>
              <a:t>클래스</a:t>
            </a:r>
            <a:r>
              <a:rPr lang="en-US" altLang="ko-KR" sz="1400" dirty="0"/>
              <a:t>)</a:t>
            </a:r>
            <a:r>
              <a:rPr lang="ko-KR" altLang="en-US" sz="1400" dirty="0"/>
              <a:t>으로 변환</a:t>
            </a:r>
            <a:endParaRPr lang="en-US" altLang="ko-KR" sz="1400" dirty="0"/>
          </a:p>
          <a:p>
            <a:pPr lvl="1"/>
            <a:r>
              <a:rPr lang="ko-KR" altLang="en-US" sz="1400" dirty="0"/>
              <a:t>변환된 </a:t>
            </a:r>
            <a:r>
              <a:rPr lang="en-US" altLang="ko-KR" sz="1400" dirty="0"/>
              <a:t>Servlet</a:t>
            </a:r>
            <a:r>
              <a:rPr lang="ko-KR" altLang="en-US" sz="1400" dirty="0"/>
              <a:t>은 컴파일 과정을 거쳐 실행 가능한 클래스 파일로 생성</a:t>
            </a:r>
            <a:endParaRPr lang="en-US" altLang="ko-KR" sz="1400" dirty="0"/>
          </a:p>
          <a:p>
            <a:pPr lvl="1"/>
            <a:r>
              <a:rPr lang="en-US" altLang="ko-KR" sz="1400" dirty="0"/>
              <a:t>Servlet</a:t>
            </a:r>
            <a:r>
              <a:rPr lang="ko-KR" altLang="en-US" sz="1400" dirty="0"/>
              <a:t>이 실행되면서 </a:t>
            </a:r>
            <a:r>
              <a:rPr lang="en-US" altLang="ko-KR" sz="1400" dirty="0"/>
              <a:t>Java </a:t>
            </a:r>
            <a:r>
              <a:rPr lang="ko-KR" altLang="en-US" sz="1400" dirty="0"/>
              <a:t>코드가 처리되고 필요한 </a:t>
            </a:r>
            <a:r>
              <a:rPr lang="en-US" altLang="ko-KR" sz="1400" dirty="0"/>
              <a:t>HTML </a:t>
            </a:r>
            <a:r>
              <a:rPr lang="ko-KR" altLang="en-US" sz="1400" dirty="0"/>
              <a:t>문서가 생성</a:t>
            </a:r>
            <a:endParaRPr lang="en-US" altLang="ko-KR" sz="1400" dirty="0"/>
          </a:p>
          <a:p>
            <a:pPr lvl="1"/>
            <a:r>
              <a:rPr lang="ko-KR" altLang="en-US" sz="1400" dirty="0"/>
              <a:t>생성된 </a:t>
            </a:r>
            <a:r>
              <a:rPr lang="en-US" altLang="ko-KR" sz="1400" dirty="0"/>
              <a:t>HTML </a:t>
            </a:r>
            <a:r>
              <a:rPr lang="ko-KR" altLang="en-US" sz="1400" dirty="0"/>
              <a:t>결과가 웹 서버를 통해 클라이언트</a:t>
            </a:r>
            <a:r>
              <a:rPr lang="en-US" altLang="ko-KR" sz="1400" dirty="0"/>
              <a:t>(</a:t>
            </a:r>
            <a:r>
              <a:rPr lang="ko-KR" altLang="en-US" sz="1400" dirty="0"/>
              <a:t>브라우저</a:t>
            </a:r>
            <a:r>
              <a:rPr lang="en-US" altLang="ko-KR" sz="1400" dirty="0"/>
              <a:t>)</a:t>
            </a:r>
            <a:r>
              <a:rPr lang="ko-KR" altLang="en-US" sz="1400" dirty="0"/>
              <a:t>에게 전송</a:t>
            </a:r>
            <a:endParaRPr lang="en-US" altLang="ko-KR" sz="1400" dirty="0"/>
          </a:p>
          <a:p>
            <a:pPr lvl="1"/>
            <a:r>
              <a:rPr lang="ko-KR" altLang="en-US" sz="1400" dirty="0"/>
              <a:t>웹 브라우저는 전달받은 </a:t>
            </a:r>
            <a:r>
              <a:rPr lang="en-US" altLang="ko-KR" sz="1400" dirty="0"/>
              <a:t>HTML </a:t>
            </a:r>
            <a:r>
              <a:rPr lang="ko-KR" altLang="en-US" sz="1400" dirty="0"/>
              <a:t>문서를 화면에 출력</a:t>
            </a:r>
            <a:endParaRPr lang="en-US" altLang="ko-KR" sz="1400" dirty="0"/>
          </a:p>
          <a:p>
            <a:r>
              <a:rPr lang="en-US" altLang="ko-KR" sz="1600" b="1" dirty="0"/>
              <a:t>JSP</a:t>
            </a:r>
            <a:r>
              <a:rPr lang="ko-KR" altLang="en-US" sz="1600" dirty="0"/>
              <a:t>는 최초 요청 시 </a:t>
            </a:r>
            <a:r>
              <a:rPr lang="en-US" altLang="ko-KR" sz="1600" dirty="0"/>
              <a:t>Servlet </a:t>
            </a:r>
            <a:r>
              <a:rPr lang="ko-KR" altLang="en-US" sz="1600" dirty="0"/>
              <a:t>변환 및 컴파일 과정을 수행하지만 이후 요청부터는 이미 생성된 </a:t>
            </a:r>
            <a:r>
              <a:rPr lang="en-US" altLang="ko-KR" sz="1600" dirty="0"/>
              <a:t>Servlet</a:t>
            </a:r>
            <a:r>
              <a:rPr lang="ko-KR" altLang="en-US" sz="1600" dirty="0"/>
              <a:t>을 재사용하므로 더욱 빠르게 처리됨</a:t>
            </a:r>
            <a:endParaRPr lang="en-US" altLang="ko-KR" sz="1600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57DEF4-0FC3-CE6F-2E25-0E6C8BFCCF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E8164-6F4C-701A-522A-964835AE2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ECE67D0-A31B-F82A-F937-AE29D512C30F}"/>
              </a:ext>
            </a:extLst>
          </p:cNvPr>
          <p:cNvGrpSpPr/>
          <p:nvPr/>
        </p:nvGrpSpPr>
        <p:grpSpPr>
          <a:xfrm>
            <a:off x="790323" y="3959811"/>
            <a:ext cx="7612318" cy="1865676"/>
            <a:chOff x="838660" y="3647143"/>
            <a:chExt cx="7612318" cy="1865676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3566BD1-40C8-9D70-A2E8-E93F2F5B9836}"/>
                </a:ext>
              </a:extLst>
            </p:cNvPr>
            <p:cNvSpPr/>
            <p:nvPr/>
          </p:nvSpPr>
          <p:spPr bwMode="auto">
            <a:xfrm>
              <a:off x="838660" y="3842477"/>
              <a:ext cx="864096" cy="1174445"/>
            </a:xfrm>
            <a:prstGeom prst="rect">
              <a:avLst/>
            </a:prstGeom>
            <a:noFill/>
            <a:ln w="222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1149350" rtl="0" eaLnBrk="1" fontAlgn="base" latinLnBrk="1" hangingPunct="1">
                <a:lnSpc>
                  <a:spcPct val="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574675" algn="l"/>
                </a:tabLst>
              </a:pP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B76F0611-453D-1F12-8EC9-CA60F82FD764}"/>
                </a:ext>
              </a:extLst>
            </p:cNvPr>
            <p:cNvCxnSpPr/>
            <p:nvPr/>
          </p:nvCxnSpPr>
          <p:spPr bwMode="auto">
            <a:xfrm>
              <a:off x="1835696" y="3946421"/>
              <a:ext cx="864096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B7D809-1503-1791-82DE-E8120B7DA742}"/>
                </a:ext>
              </a:extLst>
            </p:cNvPr>
            <p:cNvSpPr txBox="1"/>
            <p:nvPr/>
          </p:nvSpPr>
          <p:spPr>
            <a:xfrm>
              <a:off x="2023642" y="3660532"/>
              <a:ext cx="4379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/>
                <a:t>요청</a:t>
              </a:r>
            </a:p>
          </p:txBody>
        </p:sp>
        <p:sp>
          <p:nvSpPr>
            <p:cNvPr id="10" name="두루마리 모양: 세로로 말림 9">
              <a:extLst>
                <a:ext uri="{FF2B5EF4-FFF2-40B4-BE49-F238E27FC236}">
                  <a16:creationId xmlns:a16="http://schemas.microsoft.com/office/drawing/2014/main" id="{E3679677-9585-0D9B-8EFC-5456AF66AAE7}"/>
                </a:ext>
              </a:extLst>
            </p:cNvPr>
            <p:cNvSpPr/>
            <p:nvPr/>
          </p:nvSpPr>
          <p:spPr bwMode="auto">
            <a:xfrm>
              <a:off x="2699792" y="3791616"/>
              <a:ext cx="875077" cy="994756"/>
            </a:xfrm>
            <a:prstGeom prst="verticalScroll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1149350" rtl="0" eaLnBrk="1" fontAlgn="base" latinLnBrk="1" hangingPunct="1">
                <a:lnSpc>
                  <a:spcPct val="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574675" algn="l"/>
                </a:tabLst>
              </a:pP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829C8D86-2EFC-3940-5CD0-A691A4B08AF1}"/>
                </a:ext>
              </a:extLst>
            </p:cNvPr>
            <p:cNvCxnSpPr/>
            <p:nvPr/>
          </p:nvCxnSpPr>
          <p:spPr bwMode="auto">
            <a:xfrm>
              <a:off x="3563888" y="4090437"/>
              <a:ext cx="864096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" name="정육면체 11">
              <a:extLst>
                <a:ext uri="{FF2B5EF4-FFF2-40B4-BE49-F238E27FC236}">
                  <a16:creationId xmlns:a16="http://schemas.microsoft.com/office/drawing/2014/main" id="{DEDD0AE6-D9B2-663C-00AF-62BE083FAF4B}"/>
                </a:ext>
              </a:extLst>
            </p:cNvPr>
            <p:cNvSpPr/>
            <p:nvPr/>
          </p:nvSpPr>
          <p:spPr bwMode="auto">
            <a:xfrm>
              <a:off x="6327825" y="3647143"/>
              <a:ext cx="864096" cy="797749"/>
            </a:xfrm>
            <a:prstGeom prst="cube">
              <a:avLst>
                <a:gd name="adj" fmla="val 34627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1149350" rtl="0" eaLnBrk="1" fontAlgn="base" latinLnBrk="1" hangingPunct="1">
                <a:lnSpc>
                  <a:spcPct val="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574675" algn="l"/>
                </a:tabLst>
              </a:pPr>
              <a:endParaRPr kumimoji="1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A3AFEE8-0432-20D4-EB0A-9E2593D4C524}"/>
                </a:ext>
              </a:extLst>
            </p:cNvPr>
            <p:cNvSpPr txBox="1"/>
            <p:nvPr/>
          </p:nvSpPr>
          <p:spPr>
            <a:xfrm>
              <a:off x="3724164" y="3817915"/>
              <a:ext cx="4379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/>
                <a:t>변환</a:t>
              </a:r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1604A92C-A4D4-AFA5-E35C-DCC175F05666}"/>
                </a:ext>
              </a:extLst>
            </p:cNvPr>
            <p:cNvCxnSpPr/>
            <p:nvPr/>
          </p:nvCxnSpPr>
          <p:spPr bwMode="auto">
            <a:xfrm>
              <a:off x="5292080" y="4090437"/>
              <a:ext cx="864096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335DFE2-8332-BC5D-2740-19FBB3C92B71}"/>
                </a:ext>
              </a:extLst>
            </p:cNvPr>
            <p:cNvSpPr txBox="1"/>
            <p:nvPr/>
          </p:nvSpPr>
          <p:spPr>
            <a:xfrm>
              <a:off x="5449916" y="3823310"/>
              <a:ext cx="56457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/>
                <a:t>컴파일</a:t>
              </a:r>
            </a:p>
          </p:txBody>
        </p:sp>
        <p:sp>
          <p:nvSpPr>
            <p:cNvPr id="21" name="두루마리 모양: 세로로 말림 20">
              <a:extLst>
                <a:ext uri="{FF2B5EF4-FFF2-40B4-BE49-F238E27FC236}">
                  <a16:creationId xmlns:a16="http://schemas.microsoft.com/office/drawing/2014/main" id="{9AF83EE9-B29A-E43D-E0D8-8F4AFD9C74B5}"/>
                </a:ext>
              </a:extLst>
            </p:cNvPr>
            <p:cNvSpPr/>
            <p:nvPr/>
          </p:nvSpPr>
          <p:spPr bwMode="auto">
            <a:xfrm>
              <a:off x="4445144" y="3817915"/>
              <a:ext cx="875077" cy="994756"/>
            </a:xfrm>
            <a:prstGeom prst="verticalScroll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1149350" rtl="0" eaLnBrk="1" fontAlgn="base" latinLnBrk="1" hangingPunct="1">
                <a:lnSpc>
                  <a:spcPct val="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574675" algn="l"/>
                </a:tabLst>
              </a:pPr>
              <a:endParaRPr kumimoji="1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2" name="원호 21">
              <a:extLst>
                <a:ext uri="{FF2B5EF4-FFF2-40B4-BE49-F238E27FC236}">
                  <a16:creationId xmlns:a16="http://schemas.microsoft.com/office/drawing/2014/main" id="{B292602F-BA1C-0FB8-1FCB-505A2F0B09FF}"/>
                </a:ext>
              </a:extLst>
            </p:cNvPr>
            <p:cNvSpPr/>
            <p:nvPr/>
          </p:nvSpPr>
          <p:spPr bwMode="auto">
            <a:xfrm>
              <a:off x="6593705" y="3954165"/>
              <a:ext cx="1276424" cy="871646"/>
            </a:xfrm>
            <a:prstGeom prst="arc">
              <a:avLst>
                <a:gd name="adj1" fmla="val 16200000"/>
                <a:gd name="adj2" fmla="val 106063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1149350" rtl="0" eaLnBrk="1" fontAlgn="base" latinLnBrk="1" hangingPunct="1">
                <a:lnSpc>
                  <a:spcPct val="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574675" algn="l"/>
                </a:tabLst>
              </a:pPr>
              <a:endParaRPr kumimoji="1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96A081D-82E9-16C0-4087-00C7674CB5B2}"/>
                </a:ext>
              </a:extLst>
            </p:cNvPr>
            <p:cNvSpPr txBox="1"/>
            <p:nvPr/>
          </p:nvSpPr>
          <p:spPr>
            <a:xfrm>
              <a:off x="7516963" y="3814417"/>
              <a:ext cx="4379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/>
                <a:t>실행</a:t>
              </a:r>
            </a:p>
          </p:txBody>
        </p:sp>
        <p:sp>
          <p:nvSpPr>
            <p:cNvPr id="24" name="두루마리 모양: 세로로 말림 23">
              <a:extLst>
                <a:ext uri="{FF2B5EF4-FFF2-40B4-BE49-F238E27FC236}">
                  <a16:creationId xmlns:a16="http://schemas.microsoft.com/office/drawing/2014/main" id="{5C460C0E-9010-82BF-D87B-68E6E661E6D0}"/>
                </a:ext>
              </a:extLst>
            </p:cNvPr>
            <p:cNvSpPr/>
            <p:nvPr/>
          </p:nvSpPr>
          <p:spPr bwMode="auto">
            <a:xfrm>
              <a:off x="7575901" y="4518063"/>
              <a:ext cx="875077" cy="994756"/>
            </a:xfrm>
            <a:prstGeom prst="verticalScroll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1149350" rtl="0" eaLnBrk="1" fontAlgn="base" latinLnBrk="1" hangingPunct="1">
                <a:lnSpc>
                  <a:spcPct val="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574675" algn="l"/>
                </a:tabLst>
              </a:pPr>
              <a:endParaRPr kumimoji="1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  <p:cxnSp>
          <p:nvCxnSpPr>
            <p:cNvPr id="26" name="연결선: 구부러짐 25">
              <a:extLst>
                <a:ext uri="{FF2B5EF4-FFF2-40B4-BE49-F238E27FC236}">
                  <a16:creationId xmlns:a16="http://schemas.microsoft.com/office/drawing/2014/main" id="{65D74A47-3B23-9BF7-0411-746F078908CD}"/>
                </a:ext>
              </a:extLst>
            </p:cNvPr>
            <p:cNvCxnSpPr>
              <a:cxnSpLocks/>
            </p:cNvCxnSpPr>
            <p:nvPr/>
          </p:nvCxnSpPr>
          <p:spPr bwMode="auto">
            <a:xfrm rot="10800000">
              <a:off x="1835699" y="4879517"/>
              <a:ext cx="5681265" cy="469367"/>
            </a:xfrm>
            <a:prstGeom prst="curvedConnector3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BD6B964-CC50-BDA1-A196-9A1EC92CAA19}"/>
                </a:ext>
              </a:extLst>
            </p:cNvPr>
            <p:cNvSpPr txBox="1"/>
            <p:nvPr/>
          </p:nvSpPr>
          <p:spPr>
            <a:xfrm>
              <a:off x="4007204" y="5041860"/>
              <a:ext cx="4379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/>
                <a:t>응답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D23497D-93BC-E1D2-9C09-F9FE4ECA7917}"/>
                </a:ext>
              </a:extLst>
            </p:cNvPr>
            <p:cNvSpPr txBox="1"/>
            <p:nvPr/>
          </p:nvSpPr>
          <p:spPr>
            <a:xfrm>
              <a:off x="2843430" y="4130929"/>
              <a:ext cx="5645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jsp</a:t>
              </a:r>
              <a:r>
                <a:rPr lang="ko-KR" altLang="en-US" sz="1000" b="1" dirty="0"/>
                <a:t> </a:t>
              </a:r>
              <a:endParaRPr lang="en-US" altLang="ko-KR" sz="1000" b="1" dirty="0"/>
            </a:p>
            <a:p>
              <a:pPr algn="ctr"/>
              <a:r>
                <a:rPr lang="ko-KR" altLang="en-US" sz="1000" b="1" dirty="0"/>
                <a:t>페이지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B3EE172-1221-A650-EBFE-E356C2363A95}"/>
                </a:ext>
              </a:extLst>
            </p:cNvPr>
            <p:cNvSpPr txBox="1"/>
            <p:nvPr/>
          </p:nvSpPr>
          <p:spPr>
            <a:xfrm>
              <a:off x="4561921" y="4238756"/>
              <a:ext cx="64152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Servlet</a:t>
              </a:r>
              <a:endParaRPr lang="ko-KR" altLang="en-US" sz="1000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9A4C967-3CD9-4CBB-E283-552FF0A94C95}"/>
                </a:ext>
              </a:extLst>
            </p:cNvPr>
            <p:cNvSpPr txBox="1"/>
            <p:nvPr/>
          </p:nvSpPr>
          <p:spPr>
            <a:xfrm>
              <a:off x="6245156" y="4444892"/>
              <a:ext cx="78899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class </a:t>
              </a:r>
              <a:r>
                <a:rPr lang="ko-KR" altLang="en-US" sz="1000" b="1" dirty="0"/>
                <a:t>파일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DA1B62E-FF1D-E91F-D39A-0444F49D21E0}"/>
                </a:ext>
              </a:extLst>
            </p:cNvPr>
            <p:cNvSpPr txBox="1"/>
            <p:nvPr/>
          </p:nvSpPr>
          <p:spPr>
            <a:xfrm>
              <a:off x="7719923" y="4866994"/>
              <a:ext cx="5854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HTML</a:t>
              </a:r>
              <a:r>
                <a:rPr lang="ko-KR" altLang="en-US" sz="1000" b="1" dirty="0"/>
                <a:t> </a:t>
              </a:r>
              <a:endParaRPr lang="en-US" altLang="ko-KR" sz="1000" b="1" dirty="0"/>
            </a:p>
            <a:p>
              <a:pPr algn="ctr"/>
              <a:r>
                <a:rPr lang="ko-KR" altLang="en-US" sz="1000" b="1" dirty="0"/>
                <a:t>생성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3684DF6-708C-AF74-C2E2-80C6D56499F5}"/>
                </a:ext>
              </a:extLst>
            </p:cNvPr>
            <p:cNvSpPr txBox="1"/>
            <p:nvPr/>
          </p:nvSpPr>
          <p:spPr>
            <a:xfrm>
              <a:off x="991625" y="4288994"/>
              <a:ext cx="55816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/>
                <a:t>Client</a:t>
              </a:r>
              <a:endParaRPr lang="ko-KR" altLang="en-US" sz="1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12452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1E265-6E55-D821-5617-01ACFCDA7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</a:t>
            </a:r>
            <a:r>
              <a:rPr lang="ko-KR" altLang="en-US" dirty="0"/>
              <a:t>의 스크립트 요소</a:t>
            </a:r>
            <a:br>
              <a:rPr lang="en-US" altLang="ko-KR" dirty="0"/>
            </a:br>
            <a:r>
              <a:rPr lang="en-US" altLang="ko-KR" dirty="0"/>
              <a:t>			</a:t>
            </a:r>
            <a:r>
              <a:rPr lang="ko-KR" altLang="en-US" dirty="0"/>
              <a:t>선언문</a:t>
            </a:r>
            <a:r>
              <a:rPr lang="en-US" altLang="ko-KR" dirty="0"/>
              <a:t>, </a:t>
            </a:r>
            <a:r>
              <a:rPr lang="ko-KR" altLang="en-US" dirty="0"/>
              <a:t>스크립트릿</a:t>
            </a:r>
            <a:r>
              <a:rPr lang="en-US" altLang="ko-KR" dirty="0"/>
              <a:t>, </a:t>
            </a:r>
            <a:r>
              <a:rPr lang="ko-KR" altLang="en-US" dirty="0"/>
              <a:t>표현식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F3A6A9-84CA-F0C0-A7B7-49C21367B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375972" cy="5019675"/>
          </a:xfrm>
        </p:spPr>
        <p:txBody>
          <a:bodyPr>
            <a:normAutofit/>
          </a:bodyPr>
          <a:lstStyle/>
          <a:p>
            <a:r>
              <a:rPr lang="en-US" altLang="ko-KR" sz="1600" b="1" dirty="0"/>
              <a:t>JSP</a:t>
            </a:r>
            <a:r>
              <a:rPr lang="ko-KR" altLang="en-US" sz="1600" dirty="0"/>
              <a:t>는 </a:t>
            </a:r>
            <a:r>
              <a:rPr lang="en-US" altLang="ko-KR" sz="1600" dirty="0"/>
              <a:t>HTML </a:t>
            </a:r>
            <a:r>
              <a:rPr lang="ko-KR" altLang="en-US" sz="1600" dirty="0"/>
              <a:t>문서 내부에서 </a:t>
            </a:r>
            <a:r>
              <a:rPr lang="en-US" altLang="ko-KR" sz="1600" dirty="0"/>
              <a:t>Java </a:t>
            </a:r>
            <a:r>
              <a:rPr lang="ko-KR" altLang="en-US" sz="1600" dirty="0"/>
              <a:t>코드를 사용할 수 있도록 다양한 스크립트 요소를 제공하고 있음</a:t>
            </a:r>
            <a:endParaRPr lang="en-US" altLang="ko-KR" sz="1600" dirty="0"/>
          </a:p>
          <a:p>
            <a:pPr lvl="1"/>
            <a:r>
              <a:rPr lang="ko-KR" altLang="en-US" sz="1600" dirty="0"/>
              <a:t>스크립트 요소를 사용하면 </a:t>
            </a:r>
            <a:r>
              <a:rPr lang="en-US" altLang="ko-KR" sz="1600" dirty="0"/>
              <a:t>Java </a:t>
            </a:r>
            <a:r>
              <a:rPr lang="ko-KR" altLang="en-US" sz="1600" dirty="0"/>
              <a:t>언어에서 처럼 </a:t>
            </a:r>
            <a:r>
              <a:rPr lang="ko-KR" altLang="en-US" sz="1600" b="1" u="sng" dirty="0"/>
              <a:t>변수 선언</a:t>
            </a:r>
            <a:r>
              <a:rPr lang="en-US" altLang="ko-KR" sz="1600" b="1" u="sng" dirty="0"/>
              <a:t>, </a:t>
            </a:r>
            <a:r>
              <a:rPr lang="ko-KR" altLang="en-US" sz="1600" b="1" u="sng" dirty="0"/>
              <a:t>조건문</a:t>
            </a:r>
            <a:r>
              <a:rPr lang="en-US" altLang="ko-KR" sz="1600" b="1" u="sng" dirty="0"/>
              <a:t>, </a:t>
            </a:r>
            <a:r>
              <a:rPr lang="ko-KR" altLang="en-US" sz="1600" b="1" u="sng" dirty="0"/>
              <a:t>반복문</a:t>
            </a:r>
            <a:r>
              <a:rPr lang="en-US" altLang="ko-KR" sz="1600" b="1" u="sng" dirty="0"/>
              <a:t>, </a:t>
            </a:r>
            <a:r>
              <a:rPr lang="ko-KR" altLang="en-US" sz="1600" b="1" u="sng" dirty="0"/>
              <a:t>메서드 정의</a:t>
            </a:r>
            <a:r>
              <a:rPr lang="ko-KR" altLang="en-US" sz="1600" dirty="0"/>
              <a:t> 등 </a:t>
            </a:r>
            <a:r>
              <a:rPr lang="en-US" altLang="ko-KR" sz="1600" dirty="0"/>
              <a:t>JSP </a:t>
            </a:r>
            <a:r>
              <a:rPr lang="ko-KR" altLang="en-US" sz="1600" dirty="0"/>
              <a:t>페이지 내에서 직접 사용함</a:t>
            </a:r>
            <a:endParaRPr lang="en-US" altLang="ko-KR" sz="1600" dirty="0"/>
          </a:p>
          <a:p>
            <a:r>
              <a:rPr lang="en-US" altLang="ko-KR" sz="1600" b="1" dirty="0"/>
              <a:t>JSP</a:t>
            </a:r>
            <a:r>
              <a:rPr lang="ko-KR" altLang="en-US" sz="1600" dirty="0"/>
              <a:t>의 스크립트 요소는 </a:t>
            </a:r>
            <a:r>
              <a:rPr lang="ko-KR" altLang="en-US" sz="1600" b="1" dirty="0"/>
              <a:t>선언문과 스크립트릿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표현식</a:t>
            </a:r>
            <a:r>
              <a:rPr lang="ko-KR" altLang="en-US" sz="1600" dirty="0"/>
              <a:t> 등으로 분류됨</a:t>
            </a:r>
            <a:endParaRPr lang="en-US" altLang="ko-KR" sz="1600" dirty="0"/>
          </a:p>
          <a:p>
            <a:r>
              <a:rPr lang="ko-KR" altLang="en-US" sz="1600" b="1" dirty="0"/>
              <a:t>선언문</a:t>
            </a:r>
            <a:endParaRPr lang="en-US" altLang="ko-KR" sz="1600" b="1" dirty="0"/>
          </a:p>
          <a:p>
            <a:pPr lvl="1"/>
            <a:r>
              <a:rPr lang="ko-KR" altLang="en-US" sz="1400" dirty="0"/>
              <a:t>선언문은 </a:t>
            </a:r>
            <a:r>
              <a:rPr lang="en-US" altLang="ko-KR" sz="1400" dirty="0"/>
              <a:t>JSP </a:t>
            </a:r>
            <a:r>
              <a:rPr lang="ko-KR" altLang="en-US" sz="1400" dirty="0"/>
              <a:t>페이지에서 사용할 변수나 메서드를 선언할 때 사용됨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r>
              <a:rPr lang="ko-KR" altLang="en-US" sz="1400" dirty="0"/>
              <a:t>변수 및 메서드 선언 가능</a:t>
            </a:r>
            <a:endParaRPr lang="en-US" altLang="ko-KR" sz="1400" dirty="0"/>
          </a:p>
          <a:p>
            <a:pPr lvl="1"/>
            <a:r>
              <a:rPr lang="en-US" altLang="ko-KR" sz="1400" dirty="0"/>
              <a:t>JSP </a:t>
            </a:r>
            <a:r>
              <a:rPr lang="ko-KR" altLang="en-US" sz="1400" dirty="0"/>
              <a:t>페이지 전체에서 사용 가능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5BF1D5-4B79-3837-D078-BE10F0C5CB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86B767-6780-69AD-A942-2A270D006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12A523-51A6-E559-A6C7-AC0396226EDB}"/>
              </a:ext>
            </a:extLst>
          </p:cNvPr>
          <p:cNvSpPr txBox="1"/>
          <p:nvPr/>
        </p:nvSpPr>
        <p:spPr>
          <a:xfrm>
            <a:off x="1240396" y="3433390"/>
            <a:ext cx="2683532" cy="120032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&lt;%!</a:t>
            </a:r>
          </a:p>
          <a:p>
            <a:r>
              <a:rPr lang="en-US" altLang="ko-KR" sz="1200" dirty="0"/>
              <a:t>      int count = 0;</a:t>
            </a:r>
          </a:p>
          <a:p>
            <a:r>
              <a:rPr lang="en-US" altLang="ko-KR" sz="1200" dirty="0"/>
              <a:t>      public int add(int a, int b) {</a:t>
            </a:r>
          </a:p>
          <a:p>
            <a:r>
              <a:rPr lang="en-US" altLang="ko-KR" sz="1200" dirty="0"/>
              <a:t>                   return a + b;</a:t>
            </a:r>
          </a:p>
          <a:p>
            <a:r>
              <a:rPr lang="en-US" altLang="ko-KR" sz="1200" dirty="0"/>
              <a:t>      }</a:t>
            </a:r>
          </a:p>
          <a:p>
            <a:r>
              <a:rPr lang="en-US" altLang="ko-KR" sz="1200" dirty="0"/>
              <a:t>%&gt;</a:t>
            </a:r>
          </a:p>
        </p:txBody>
      </p:sp>
    </p:spTree>
    <p:extLst>
      <p:ext uri="{BB962C8B-B14F-4D97-AF65-F5344CB8AC3E}">
        <p14:creationId xmlns:p14="http://schemas.microsoft.com/office/powerpoint/2010/main" val="3480620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87AF3-9DCD-7CAF-BEF6-E33DC9BA7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8D94F-8AEA-844B-C672-9C203D2AE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</a:t>
            </a:r>
            <a:r>
              <a:rPr lang="ko-KR" altLang="en-US" dirty="0"/>
              <a:t>의 스크립트 요소</a:t>
            </a:r>
            <a:br>
              <a:rPr lang="en-US" altLang="ko-KR" dirty="0"/>
            </a:br>
            <a:r>
              <a:rPr lang="en-US" altLang="ko-KR" dirty="0"/>
              <a:t>			</a:t>
            </a:r>
            <a:r>
              <a:rPr lang="ko-KR" altLang="en-US" dirty="0"/>
              <a:t>선언문</a:t>
            </a:r>
            <a:r>
              <a:rPr lang="en-US" altLang="ko-KR" dirty="0"/>
              <a:t>, </a:t>
            </a:r>
            <a:r>
              <a:rPr lang="ko-KR" altLang="en-US" dirty="0"/>
              <a:t>스크립트릿</a:t>
            </a:r>
            <a:r>
              <a:rPr lang="en-US" altLang="ko-KR" dirty="0"/>
              <a:t>, </a:t>
            </a:r>
            <a:r>
              <a:rPr lang="ko-KR" altLang="en-US" dirty="0"/>
              <a:t>표현식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54D8BF-B527-EC5F-7DAE-92DE971D2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375972" cy="5019675"/>
          </a:xfrm>
        </p:spPr>
        <p:txBody>
          <a:bodyPr>
            <a:normAutofit/>
          </a:bodyPr>
          <a:lstStyle/>
          <a:p>
            <a:r>
              <a:rPr lang="ko-KR" altLang="en-US" sz="1200" b="1" dirty="0"/>
              <a:t>스크립트릿</a:t>
            </a:r>
            <a:endParaRPr lang="en-US" altLang="ko-KR" sz="1200" b="1" dirty="0"/>
          </a:p>
          <a:p>
            <a:pPr lvl="1"/>
            <a:r>
              <a:rPr lang="ko-KR" altLang="en-US" sz="1200" dirty="0"/>
              <a:t>스크립트릿은 </a:t>
            </a:r>
            <a:r>
              <a:rPr lang="en-US" altLang="ko-KR" sz="1200" b="1" dirty="0"/>
              <a:t>JSP</a:t>
            </a:r>
            <a:r>
              <a:rPr lang="en-US" altLang="ko-KR" sz="1200" dirty="0"/>
              <a:t> </a:t>
            </a:r>
            <a:r>
              <a:rPr lang="ko-KR" altLang="en-US" sz="1200" dirty="0"/>
              <a:t>내부에서 </a:t>
            </a:r>
            <a:r>
              <a:rPr lang="en-US" altLang="ko-KR" sz="1200" u="sng" dirty="0"/>
              <a:t>Java </a:t>
            </a:r>
            <a:r>
              <a:rPr lang="ko-KR" altLang="en-US" sz="1200" u="sng" dirty="0"/>
              <a:t>코드를 직접 작성할 때 사용됨</a:t>
            </a:r>
            <a:endParaRPr lang="en-US" altLang="ko-KR" sz="1200" u="sng" dirty="0"/>
          </a:p>
          <a:p>
            <a:pPr lvl="1"/>
            <a:endParaRPr lang="en-US" altLang="ko-KR" sz="1200" u="sng" dirty="0"/>
          </a:p>
          <a:p>
            <a:pPr lvl="1"/>
            <a:endParaRPr lang="en-US" altLang="ko-KR" sz="1200" u="sng" dirty="0"/>
          </a:p>
          <a:p>
            <a:pPr lvl="1"/>
            <a:endParaRPr lang="en-US" altLang="ko-KR" sz="1200" u="sng" dirty="0"/>
          </a:p>
          <a:p>
            <a:pPr lvl="1"/>
            <a:endParaRPr lang="en-US" altLang="ko-KR" sz="1200" u="sng" dirty="0"/>
          </a:p>
          <a:p>
            <a:pPr lvl="1"/>
            <a:r>
              <a:rPr lang="ko-KR" altLang="en-US" sz="1200" dirty="0"/>
              <a:t>변수 선언이 가능</a:t>
            </a:r>
            <a:endParaRPr lang="en-US" altLang="ko-KR" sz="1200" dirty="0"/>
          </a:p>
          <a:p>
            <a:pPr lvl="1"/>
            <a:r>
              <a:rPr lang="ko-KR" altLang="en-US" sz="1200" dirty="0"/>
              <a:t>반복문 등 사용 가능</a:t>
            </a:r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pPr marL="457200" lvl="1" indent="0">
              <a:buNone/>
            </a:pPr>
            <a:endParaRPr lang="en-US" altLang="ko-KR" sz="1200" dirty="0"/>
          </a:p>
          <a:p>
            <a:pPr lvl="1"/>
            <a:r>
              <a:rPr lang="ko-KR" altLang="en-US" sz="1200" dirty="0"/>
              <a:t>조건문 사용 가능</a:t>
            </a: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33AAF6-4657-9F95-1C7D-57B85205D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20799E-6AD5-22FC-0D86-E2B42FE52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9EB327-FA73-EA28-5B00-5898944059C9}"/>
              </a:ext>
            </a:extLst>
          </p:cNvPr>
          <p:cNvSpPr txBox="1"/>
          <p:nvPr/>
        </p:nvSpPr>
        <p:spPr>
          <a:xfrm>
            <a:off x="1305831" y="1660355"/>
            <a:ext cx="3312368" cy="10156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&lt;%</a:t>
            </a:r>
          </a:p>
          <a:p>
            <a:r>
              <a:rPr lang="en-US" altLang="ko-KR" sz="1200" dirty="0"/>
              <a:t>	int</a:t>
            </a:r>
            <a:r>
              <a:rPr lang="ko-KR" altLang="en-US" sz="1200" dirty="0"/>
              <a:t> </a:t>
            </a:r>
            <a:r>
              <a:rPr lang="en-US" altLang="ko-KR" sz="1200" dirty="0"/>
              <a:t>num = 100</a:t>
            </a:r>
          </a:p>
          <a:p>
            <a:r>
              <a:rPr lang="en-US" altLang="ko-KR" sz="1200" dirty="0"/>
              <a:t>	out.println("</a:t>
            </a:r>
            <a:r>
              <a:rPr lang="ko-KR" altLang="en-US" sz="1200" dirty="0"/>
              <a:t>현재 값 </a:t>
            </a:r>
            <a:r>
              <a:rPr lang="en-US" altLang="ko-KR" sz="1200" dirty="0"/>
              <a:t>: "+num);</a:t>
            </a:r>
          </a:p>
          <a:p>
            <a:endParaRPr lang="en-US" altLang="ko-KR" sz="1200" dirty="0"/>
          </a:p>
          <a:p>
            <a:r>
              <a:rPr lang="en-US" altLang="ko-KR" sz="1200" dirty="0"/>
              <a:t>%&gt;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2E4C1-3419-1FF8-2697-E8E75F66BCD2}"/>
              </a:ext>
            </a:extLst>
          </p:cNvPr>
          <p:cNvSpPr txBox="1"/>
          <p:nvPr/>
        </p:nvSpPr>
        <p:spPr>
          <a:xfrm>
            <a:off x="1256596" y="3284984"/>
            <a:ext cx="3312368" cy="10156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&lt;%</a:t>
            </a:r>
          </a:p>
          <a:p>
            <a:r>
              <a:rPr lang="en-US" altLang="ko-KR" sz="1200" dirty="0"/>
              <a:t>	for(int i = 1; i&lt;=5; i++) {</a:t>
            </a:r>
          </a:p>
          <a:p>
            <a:r>
              <a:rPr lang="en-US" altLang="ko-KR" sz="1200" dirty="0"/>
              <a:t>                              out.println(i+"&lt;br&gt;");</a:t>
            </a:r>
          </a:p>
          <a:p>
            <a:r>
              <a:rPr lang="en-US" altLang="ko-KR" sz="1200" dirty="0"/>
              <a:t>	}</a:t>
            </a:r>
          </a:p>
          <a:p>
            <a:r>
              <a:rPr lang="en-US" altLang="ko-KR" sz="1200" dirty="0"/>
              <a:t>%&gt;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2269F0-71E4-4655-70CB-5D2B312E7E9C}"/>
              </a:ext>
            </a:extLst>
          </p:cNvPr>
          <p:cNvSpPr txBox="1"/>
          <p:nvPr/>
        </p:nvSpPr>
        <p:spPr>
          <a:xfrm>
            <a:off x="1256596" y="4786388"/>
            <a:ext cx="3312368" cy="156966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&lt;%</a:t>
            </a:r>
          </a:p>
          <a:p>
            <a:r>
              <a:rPr lang="en-US" altLang="ko-KR" sz="1200" dirty="0"/>
              <a:t>	int score = 85;</a:t>
            </a:r>
          </a:p>
          <a:p>
            <a:r>
              <a:rPr lang="en-US" altLang="ko-KR" sz="1200" dirty="0"/>
              <a:t>	if(score &gt;= 80) {</a:t>
            </a:r>
          </a:p>
          <a:p>
            <a:r>
              <a:rPr lang="en-US" altLang="ko-KR" sz="1200" dirty="0"/>
              <a:t>	    out.println("</a:t>
            </a:r>
            <a:r>
              <a:rPr lang="ko-KR" altLang="en-US" sz="1200" dirty="0"/>
              <a:t>합격</a:t>
            </a:r>
            <a:r>
              <a:rPr lang="en-US" altLang="ko-KR" sz="1200" dirty="0"/>
              <a:t>");</a:t>
            </a:r>
          </a:p>
          <a:p>
            <a:r>
              <a:rPr lang="en-US" altLang="ko-KR" sz="1200" dirty="0"/>
              <a:t>	}else{</a:t>
            </a:r>
          </a:p>
          <a:p>
            <a:r>
              <a:rPr lang="en-US" altLang="ko-KR" sz="1200" dirty="0"/>
              <a:t>	    out.println("</a:t>
            </a:r>
            <a:r>
              <a:rPr lang="ko-KR" altLang="en-US" sz="1200" dirty="0"/>
              <a:t>불합격</a:t>
            </a:r>
            <a:r>
              <a:rPr lang="en-US" altLang="ko-KR" sz="1200" dirty="0"/>
              <a:t>");</a:t>
            </a:r>
          </a:p>
          <a:p>
            <a:r>
              <a:rPr lang="en-US" altLang="ko-KR" sz="1200" dirty="0"/>
              <a:t>	}	                              </a:t>
            </a:r>
          </a:p>
          <a:p>
            <a:r>
              <a:rPr lang="en-US" altLang="ko-KR" sz="1200" dirty="0"/>
              <a:t>%&gt;</a:t>
            </a:r>
          </a:p>
        </p:txBody>
      </p:sp>
    </p:spTree>
    <p:extLst>
      <p:ext uri="{BB962C8B-B14F-4D97-AF65-F5344CB8AC3E}">
        <p14:creationId xmlns:p14="http://schemas.microsoft.com/office/powerpoint/2010/main" val="1149576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B15E7-FB8C-72FF-6050-CF01D00ED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B8C275-8F2D-6460-55EB-8466F43B8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</a:t>
            </a:r>
            <a:r>
              <a:rPr lang="ko-KR" altLang="en-US" dirty="0"/>
              <a:t>의 스크립트 요소</a:t>
            </a:r>
            <a:br>
              <a:rPr lang="en-US" altLang="ko-KR" dirty="0"/>
            </a:br>
            <a:r>
              <a:rPr lang="en-US" altLang="ko-KR" dirty="0"/>
              <a:t>			</a:t>
            </a:r>
            <a:r>
              <a:rPr lang="ko-KR" altLang="en-US" dirty="0"/>
              <a:t>선언문</a:t>
            </a:r>
            <a:r>
              <a:rPr lang="en-US" altLang="ko-KR" dirty="0"/>
              <a:t>, </a:t>
            </a:r>
            <a:r>
              <a:rPr lang="ko-KR" altLang="en-US" dirty="0"/>
              <a:t>스크립트릿</a:t>
            </a:r>
            <a:r>
              <a:rPr lang="en-US" altLang="ko-KR" dirty="0"/>
              <a:t>, </a:t>
            </a:r>
            <a:r>
              <a:rPr lang="ko-KR" altLang="en-US" dirty="0"/>
              <a:t>표현식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530031-4BBE-4286-606A-2CC7F39BA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375972" cy="5019675"/>
          </a:xfrm>
        </p:spPr>
        <p:txBody>
          <a:bodyPr>
            <a:normAutofit/>
          </a:bodyPr>
          <a:lstStyle/>
          <a:p>
            <a:r>
              <a:rPr lang="ko-KR" altLang="en-US" sz="1200" b="1" dirty="0"/>
              <a:t>표현식</a:t>
            </a:r>
            <a:endParaRPr lang="en-US" altLang="ko-KR" sz="1200" b="1" dirty="0"/>
          </a:p>
          <a:p>
            <a:pPr lvl="1"/>
            <a:r>
              <a:rPr lang="ko-KR" altLang="en-US" sz="1200" dirty="0"/>
              <a:t>표현식은 변수나 계산 결과를 웹 브라우저에 출력할 때 사용함</a:t>
            </a:r>
            <a:endParaRPr lang="en-US" altLang="ko-KR" sz="1200" dirty="0"/>
          </a:p>
          <a:p>
            <a:pPr lvl="1"/>
            <a:endParaRPr lang="en-US" altLang="ko-KR" sz="1200" u="sng" dirty="0"/>
          </a:p>
          <a:p>
            <a:pPr lvl="1"/>
            <a:endParaRPr lang="en-US" altLang="ko-KR" sz="1200" u="sng" dirty="0"/>
          </a:p>
          <a:p>
            <a:pPr lvl="1"/>
            <a:endParaRPr lang="en-US" altLang="ko-KR" sz="1200" u="sng" dirty="0"/>
          </a:p>
          <a:p>
            <a:pPr lvl="1"/>
            <a:endParaRPr lang="en-US" altLang="ko-KR" sz="1200" u="sng" dirty="0"/>
          </a:p>
          <a:p>
            <a:r>
              <a:rPr lang="ko-KR" altLang="en-US" sz="1400" b="1" dirty="0"/>
              <a:t>종합 실습 예제</a:t>
            </a:r>
            <a:endParaRPr lang="en-US" altLang="ko-KR" sz="1400" b="1" dirty="0"/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pPr marL="457200" lvl="1" indent="0"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4C32CC-4848-CA30-7E28-5C0480CBC8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522C80-BC67-B18D-1A5C-E3AD1781F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74226F-3D49-26DD-FF63-129B497258D0}"/>
              </a:ext>
            </a:extLst>
          </p:cNvPr>
          <p:cNvSpPr txBox="1"/>
          <p:nvPr/>
        </p:nvSpPr>
        <p:spPr>
          <a:xfrm>
            <a:off x="1305831" y="1660355"/>
            <a:ext cx="3312368" cy="8309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&lt;%</a:t>
            </a:r>
          </a:p>
          <a:p>
            <a:r>
              <a:rPr lang="en-US" altLang="ko-KR" sz="1200" dirty="0"/>
              <a:t>	int age = 25;</a:t>
            </a:r>
          </a:p>
          <a:p>
            <a:r>
              <a:rPr lang="en-US" altLang="ko-KR" sz="1200" dirty="0"/>
              <a:t>%&gt;</a:t>
            </a:r>
          </a:p>
          <a:p>
            <a:r>
              <a:rPr lang="ko-KR" altLang="en-US" sz="1200" b="1" dirty="0"/>
              <a:t>나이 </a:t>
            </a:r>
            <a:r>
              <a:rPr lang="en-US" altLang="ko-KR" sz="1200" b="1" dirty="0"/>
              <a:t>: &lt;%= age %&gt;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AF449F-E71F-B9BF-2D9D-A3DA5424340D}"/>
              </a:ext>
            </a:extLst>
          </p:cNvPr>
          <p:cNvSpPr txBox="1"/>
          <p:nvPr/>
        </p:nvSpPr>
        <p:spPr>
          <a:xfrm>
            <a:off x="1305831" y="3140968"/>
            <a:ext cx="4248472" cy="267765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&lt;%@ page contentType="text/html; charset=UTF-8" %&gt;</a:t>
            </a:r>
          </a:p>
          <a:p>
            <a:endParaRPr lang="en-US" altLang="ko-KR" sz="1200" dirty="0"/>
          </a:p>
          <a:p>
            <a:r>
              <a:rPr lang="en-US" altLang="ko-KR" sz="1200" dirty="0"/>
              <a:t>&lt;%!</a:t>
            </a:r>
          </a:p>
          <a:p>
            <a:r>
              <a:rPr lang="en-US" altLang="ko-KR" sz="1200" dirty="0"/>
              <a:t>    String university = "</a:t>
            </a:r>
            <a:r>
              <a:rPr lang="ko-KR" altLang="en-US" sz="1200" dirty="0"/>
              <a:t>금오공과대학교</a:t>
            </a:r>
            <a:r>
              <a:rPr lang="en-US" altLang="ko-KR" sz="1200" dirty="0"/>
              <a:t>";</a:t>
            </a:r>
          </a:p>
          <a:p>
            <a:r>
              <a:rPr lang="en-US" altLang="ko-KR" sz="1200" dirty="0"/>
              <a:t>%&gt;</a:t>
            </a:r>
          </a:p>
          <a:p>
            <a:endParaRPr lang="en-US" altLang="ko-KR" sz="1200" dirty="0"/>
          </a:p>
          <a:p>
            <a:r>
              <a:rPr lang="en-US" altLang="ko-KR" sz="1200" dirty="0"/>
              <a:t>&lt;%</a:t>
            </a:r>
          </a:p>
          <a:p>
            <a:r>
              <a:rPr lang="en-US" altLang="ko-KR" sz="1200" dirty="0"/>
              <a:t>    int year = 2026;</a:t>
            </a:r>
          </a:p>
          <a:p>
            <a:r>
              <a:rPr lang="en-US" altLang="ko-KR" sz="1200" dirty="0"/>
              <a:t>%&gt;</a:t>
            </a:r>
          </a:p>
          <a:p>
            <a:endParaRPr lang="en-US" altLang="ko-KR" sz="1200" dirty="0"/>
          </a:p>
          <a:p>
            <a:r>
              <a:rPr lang="en-US" altLang="ko-KR" sz="1200" dirty="0"/>
              <a:t>&lt;h2&gt;JSP </a:t>
            </a:r>
            <a:r>
              <a:rPr lang="ko-KR" altLang="en-US" sz="1200" dirty="0"/>
              <a:t>스크립트 요소 예제</a:t>
            </a:r>
            <a:r>
              <a:rPr lang="en-US" altLang="ko-KR" sz="1200" dirty="0"/>
              <a:t>&lt;/h2&gt;</a:t>
            </a:r>
          </a:p>
          <a:p>
            <a:endParaRPr lang="en-US" altLang="ko-KR" sz="1200" dirty="0"/>
          </a:p>
          <a:p>
            <a:r>
              <a:rPr lang="ko-KR" altLang="en-US" sz="1200" dirty="0"/>
              <a:t>학교명 </a:t>
            </a:r>
            <a:r>
              <a:rPr lang="en-US" altLang="ko-KR" sz="1200" dirty="0"/>
              <a:t>: &lt;%= university %&gt;&lt;br&gt;</a:t>
            </a:r>
          </a:p>
          <a:p>
            <a:r>
              <a:rPr lang="ko-KR" altLang="en-US" sz="1200" dirty="0"/>
              <a:t>년도 </a:t>
            </a:r>
            <a:r>
              <a:rPr lang="en-US" altLang="ko-KR" sz="1200" dirty="0"/>
              <a:t>: &lt;%= year %&gt;&lt;br&gt;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2056375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ACA844-5B79-8E40-E126-60B55D652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내장객체 </a:t>
            </a:r>
            <a:r>
              <a:rPr lang="en-US" altLang="ko-KR" dirty="0"/>
              <a:t>1</a:t>
            </a:r>
            <a:br>
              <a:rPr lang="en-US" altLang="ko-KR" dirty="0"/>
            </a:br>
            <a:r>
              <a:rPr lang="en-US" altLang="ko-KR" dirty="0"/>
              <a:t>						</a:t>
            </a:r>
            <a:r>
              <a:rPr lang="ko-KR" altLang="en-US" dirty="0"/>
              <a:t>내장 객체란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33CFB8-614D-96D6-D645-513B4B604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447980" cy="2564507"/>
          </a:xfrm>
        </p:spPr>
        <p:txBody>
          <a:bodyPr>
            <a:normAutofit/>
          </a:bodyPr>
          <a:lstStyle/>
          <a:p>
            <a:r>
              <a:rPr lang="en-US" altLang="ko-KR" sz="1100" b="1" dirty="0"/>
              <a:t>JSP</a:t>
            </a:r>
            <a:r>
              <a:rPr lang="ko-KR" altLang="en-US" sz="1100" dirty="0"/>
              <a:t>는 자주 사용하는 객체를 별도의 생성 과정 없이 사용할 수 있도록 내장 객체를 제공하고 있음</a:t>
            </a:r>
            <a:endParaRPr lang="en-US" altLang="ko-KR" sz="1100" dirty="0"/>
          </a:p>
          <a:p>
            <a:r>
              <a:rPr lang="ko-KR" altLang="en-US" sz="1100" dirty="0"/>
              <a:t>내장 객체는 </a:t>
            </a:r>
            <a:r>
              <a:rPr lang="en-US" altLang="ko-KR" sz="1100" b="1" dirty="0"/>
              <a:t>JSP</a:t>
            </a:r>
            <a:r>
              <a:rPr lang="en-US" altLang="ko-KR" sz="1100" dirty="0"/>
              <a:t> </a:t>
            </a:r>
            <a:r>
              <a:rPr lang="ko-KR" altLang="en-US" sz="1100" dirty="0"/>
              <a:t>페이지가 실행될 때 웹 컨테이너에 의해 자동으로 생성됨</a:t>
            </a:r>
            <a:endParaRPr lang="en-US" altLang="ko-KR" sz="1100" dirty="0"/>
          </a:p>
          <a:p>
            <a:r>
              <a:rPr lang="en-US" altLang="ko-KR" sz="1100" b="1" dirty="0"/>
              <a:t>Java</a:t>
            </a:r>
            <a:r>
              <a:rPr lang="en-US" altLang="ko-KR" sz="1100" dirty="0"/>
              <a:t> </a:t>
            </a:r>
            <a:r>
              <a:rPr lang="ko-KR" altLang="en-US" sz="1100" dirty="0"/>
              <a:t>객체와 </a:t>
            </a:r>
            <a:r>
              <a:rPr lang="en-US" altLang="ko-KR" sz="1100" b="1" dirty="0"/>
              <a:t>JSP</a:t>
            </a:r>
            <a:r>
              <a:rPr lang="en-US" altLang="ko-KR" sz="1100" dirty="0"/>
              <a:t>  </a:t>
            </a:r>
            <a:r>
              <a:rPr lang="ko-KR" altLang="en-US" sz="1100" dirty="0"/>
              <a:t>내장 객체 비교</a:t>
            </a:r>
            <a:endParaRPr lang="en-US" altLang="ko-KR" sz="1100" dirty="0"/>
          </a:p>
          <a:p>
            <a:pPr lvl="1"/>
            <a:r>
              <a:rPr lang="ko-KR" altLang="en-US" sz="1100" dirty="0"/>
              <a:t>일반적인 </a:t>
            </a:r>
            <a:r>
              <a:rPr lang="en-US" altLang="ko-KR" sz="1100" dirty="0"/>
              <a:t>Java </a:t>
            </a:r>
            <a:r>
              <a:rPr lang="ko-KR" altLang="en-US" sz="1100" dirty="0"/>
              <a:t>객체는 생성 후 사용됨</a:t>
            </a:r>
            <a:endParaRPr lang="en-US" altLang="ko-KR" sz="1100" dirty="0"/>
          </a:p>
          <a:p>
            <a:pPr marL="457200" lvl="1" indent="0">
              <a:buNone/>
            </a:pPr>
            <a:endParaRPr lang="en-US" altLang="ko-KR" sz="1100" dirty="0"/>
          </a:p>
          <a:p>
            <a:pPr lvl="1"/>
            <a:endParaRPr lang="en-US" altLang="ko-KR" sz="1100" dirty="0"/>
          </a:p>
          <a:p>
            <a:pPr lvl="1"/>
            <a:r>
              <a:rPr lang="en-US" altLang="ko-KR" sz="1100" dirty="0"/>
              <a:t>JSP </a:t>
            </a:r>
            <a:r>
              <a:rPr lang="ko-KR" altLang="en-US" sz="1100" dirty="0"/>
              <a:t>내장 객체는 생성 없이 바로 사용 가능함</a:t>
            </a:r>
            <a:endParaRPr lang="en-US" altLang="ko-KR" sz="1100" dirty="0"/>
          </a:p>
          <a:p>
            <a:pPr lvl="1"/>
            <a:endParaRPr lang="en-US" altLang="ko-KR" sz="1100" dirty="0"/>
          </a:p>
          <a:p>
            <a:pPr lvl="1"/>
            <a:endParaRPr lang="en-US" altLang="ko-KR" sz="1100" dirty="0"/>
          </a:p>
          <a:p>
            <a:pPr lvl="1"/>
            <a:r>
              <a:rPr lang="ko-KR" altLang="en-US" sz="1100" b="1" dirty="0"/>
              <a:t>주요 내장 객체</a:t>
            </a:r>
            <a:endParaRPr lang="en-US" altLang="ko-KR" sz="1100" b="1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D53DDA-AFFC-FF65-6592-FDF754CC7B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EA2303-D1E6-C018-DC8C-B94CFC23E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727F6D-EADD-F82C-A60D-1D28B7F8166E}"/>
              </a:ext>
            </a:extLst>
          </p:cNvPr>
          <p:cNvSpPr txBox="1"/>
          <p:nvPr/>
        </p:nvSpPr>
        <p:spPr>
          <a:xfrm>
            <a:off x="1259632" y="2107466"/>
            <a:ext cx="3312368" cy="2769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Scanner scan = new Scanner(System.in)</a:t>
            </a:r>
            <a:endParaRPr lang="en-US" altLang="ko-KR" sz="1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7B9D4F-41DD-4611-54F9-4B04CBAD5B46}"/>
              </a:ext>
            </a:extLst>
          </p:cNvPr>
          <p:cNvSpPr txBox="1"/>
          <p:nvPr/>
        </p:nvSpPr>
        <p:spPr>
          <a:xfrm>
            <a:off x="1259632" y="2852936"/>
            <a:ext cx="3312368" cy="2769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&lt;%= request.getParameter("name")%&gt;</a:t>
            </a:r>
            <a:endParaRPr lang="en-US" altLang="ko-KR" sz="12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FB28827-967B-FDB2-484D-F21859AD6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621284"/>
              </p:ext>
            </p:extLst>
          </p:nvPr>
        </p:nvGraphicFramePr>
        <p:xfrm>
          <a:off x="1259632" y="3583881"/>
          <a:ext cx="3600400" cy="2514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313545834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1878334409"/>
                    </a:ext>
                  </a:extLst>
                </a:gridCol>
              </a:tblGrid>
              <a:tr h="1476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/>
                        <a:t>객체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/>
                        <a:t>설명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99878"/>
                  </a:ext>
                </a:extLst>
              </a:tr>
              <a:tr h="1476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request</a:t>
                      </a:r>
                      <a:endParaRPr lang="ko-KR" altLang="en-US" sz="105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클라이언트 요청 정보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388251"/>
                  </a:ext>
                </a:extLst>
              </a:tr>
              <a:tr h="1476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response</a:t>
                      </a:r>
                      <a:endParaRPr lang="ko-KR" altLang="en-US" sz="105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서버 응답 정보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269028"/>
                  </a:ext>
                </a:extLst>
              </a:tr>
              <a:tr h="1476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out</a:t>
                      </a:r>
                      <a:endParaRPr lang="ko-KR" altLang="en-US" sz="105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브라우저 출력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114711"/>
                  </a:ext>
                </a:extLst>
              </a:tr>
              <a:tr h="1476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session</a:t>
                      </a:r>
                      <a:endParaRPr lang="ko-KR" altLang="en-US" sz="105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err="1"/>
                        <a:t>시용자</a:t>
                      </a:r>
                      <a:r>
                        <a:rPr lang="ko-KR" altLang="en-US" sz="1050" dirty="0"/>
                        <a:t> 세션 관리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53775"/>
                  </a:ext>
                </a:extLst>
              </a:tr>
              <a:tr h="1476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application</a:t>
                      </a:r>
                      <a:endParaRPr lang="ko-KR" altLang="en-US" sz="105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웹 어플리케이션 전체 정보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196253"/>
                  </a:ext>
                </a:extLst>
              </a:tr>
              <a:tr h="1476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pageContext</a:t>
                      </a:r>
                      <a:endParaRPr lang="ko-KR" altLang="en-US" sz="105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JSP </a:t>
                      </a:r>
                      <a:r>
                        <a:rPr lang="ko-KR" altLang="en-US" sz="1050" dirty="0"/>
                        <a:t>페이지 관련 정보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720773"/>
                  </a:ext>
                </a:extLst>
              </a:tr>
              <a:tr h="1476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config</a:t>
                      </a:r>
                      <a:endParaRPr lang="ko-KR" altLang="en-US" sz="105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JSP </a:t>
                      </a:r>
                      <a:r>
                        <a:rPr lang="ko-KR" altLang="en-US" sz="1050" dirty="0"/>
                        <a:t>설정 정보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154837"/>
                  </a:ext>
                </a:extLst>
              </a:tr>
              <a:tr h="1476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page</a:t>
                      </a:r>
                      <a:endParaRPr lang="ko-KR" altLang="en-US" sz="105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현재 </a:t>
                      </a:r>
                      <a:r>
                        <a:rPr lang="en-US" altLang="ko-KR" sz="1050" dirty="0"/>
                        <a:t>JSP </a:t>
                      </a:r>
                      <a:r>
                        <a:rPr lang="ko-KR" altLang="en-US" sz="1050" dirty="0"/>
                        <a:t>객체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530496"/>
                  </a:ext>
                </a:extLst>
              </a:tr>
              <a:tr h="1476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exception</a:t>
                      </a:r>
                      <a:endParaRPr lang="ko-KR" altLang="en-US" sz="105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예외 처리 객체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170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1636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B17555-0FE2-5492-8D50-EB23FC571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내장객체 </a:t>
            </a:r>
            <a:r>
              <a:rPr lang="en-US" altLang="ko-KR" dirty="0"/>
              <a:t>2</a:t>
            </a:r>
            <a:br>
              <a:rPr lang="en-US" altLang="ko-KR" dirty="0"/>
            </a:br>
            <a:r>
              <a:rPr lang="en-US" altLang="ko-KR" dirty="0"/>
              <a:t>						request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AA095-C893-E778-9AEC-A9A7DFD63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b="1" dirty="0"/>
              <a:t>request</a:t>
            </a:r>
            <a:r>
              <a:rPr lang="en-US" altLang="ko-KR" sz="1800" dirty="0"/>
              <a:t> </a:t>
            </a:r>
            <a:r>
              <a:rPr lang="ko-KR" altLang="en-US" sz="1800" dirty="0"/>
              <a:t>객체는 사용자가 서버에 전달한 데이터를 처리함</a:t>
            </a:r>
            <a:endParaRPr lang="en-US" altLang="ko-KR" sz="1800" dirty="0"/>
          </a:p>
          <a:p>
            <a:r>
              <a:rPr lang="en-US" altLang="ko-KR" sz="1800" dirty="0"/>
              <a:t>HTML</a:t>
            </a:r>
            <a:r>
              <a:rPr lang="ko-KR" altLang="en-US" sz="1800" dirty="0"/>
              <a:t>에서 </a:t>
            </a:r>
            <a:r>
              <a:rPr lang="en-US" altLang="ko-KR" sz="1800" dirty="0"/>
              <a:t>form tag</a:t>
            </a:r>
            <a:r>
              <a:rPr lang="ko-KR" altLang="en-US" sz="1800" dirty="0"/>
              <a:t>를 사용하여 </a:t>
            </a:r>
            <a:r>
              <a:rPr lang="en-US" altLang="ko-KR" sz="1800" b="1" dirty="0"/>
              <a:t>JSP</a:t>
            </a:r>
            <a:r>
              <a:rPr lang="en-US" altLang="ko-KR" sz="1800" dirty="0"/>
              <a:t> </a:t>
            </a:r>
            <a:r>
              <a:rPr lang="ko-KR" altLang="en-US" sz="1800" dirty="0"/>
              <a:t>페이지에 전달함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A3322C-47EF-4D2B-69B9-596916C256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01A4FA-50FE-890B-816D-7D6BFDF25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7FCFF8-1F92-55ED-9A32-909EAB187BCA}"/>
              </a:ext>
            </a:extLst>
          </p:cNvPr>
          <p:cNvSpPr txBox="1"/>
          <p:nvPr/>
        </p:nvSpPr>
        <p:spPr>
          <a:xfrm>
            <a:off x="888945" y="2132856"/>
            <a:ext cx="3899071" cy="10156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HTML</a:t>
            </a:r>
            <a:r>
              <a:rPr lang="ko-KR" altLang="en-US" sz="1200" b="1" dirty="0"/>
              <a:t> 페이지</a:t>
            </a:r>
            <a:endParaRPr lang="en-US" altLang="ko-KR" sz="1200" b="1" dirty="0"/>
          </a:p>
          <a:p>
            <a:r>
              <a:rPr lang="en-US" altLang="ko-KR" sz="1200" dirty="0"/>
              <a:t>&lt;form name="</a:t>
            </a:r>
            <a:r>
              <a:rPr lang="en-US" altLang="ko-KR" sz="1200" b="1" dirty="0"/>
              <a:t>frm1</a:t>
            </a:r>
            <a:r>
              <a:rPr lang="en-US" altLang="ko-KR" sz="1200" dirty="0"/>
              <a:t>" action="result.jsp"&gt;</a:t>
            </a:r>
            <a:br>
              <a:rPr lang="en-US" altLang="ko-KR" sz="1200" dirty="0"/>
            </a:br>
            <a:r>
              <a:rPr lang="en-US" altLang="ko-KR" sz="1200" dirty="0"/>
              <a:t>   name</a:t>
            </a:r>
            <a:r>
              <a:rPr lang="ko-KR" altLang="en-US" sz="1200" dirty="0"/>
              <a:t> </a:t>
            </a:r>
            <a:r>
              <a:rPr lang="en-US" altLang="ko-KR" sz="1200" dirty="0"/>
              <a:t>: &lt;input type="text" name="</a:t>
            </a:r>
            <a:r>
              <a:rPr lang="en-US" altLang="ko-KR" sz="1200" b="1" dirty="0"/>
              <a:t>u_name</a:t>
            </a:r>
            <a:r>
              <a:rPr lang="en-US" altLang="ko-KR" sz="1200" dirty="0"/>
              <a:t>"&gt;</a:t>
            </a:r>
            <a:br>
              <a:rPr lang="en-US" altLang="ko-KR" sz="1200" dirty="0"/>
            </a:br>
            <a:r>
              <a:rPr lang="en-US" altLang="ko-KR" sz="1200" dirty="0"/>
              <a:t>   &lt;input type="submit"&gt;</a:t>
            </a:r>
            <a:br>
              <a:rPr lang="en-US" altLang="ko-KR" sz="1200" dirty="0"/>
            </a:br>
            <a:r>
              <a:rPr lang="en-US" altLang="ko-KR" sz="1200" dirty="0"/>
              <a:t>&lt;/form&gt;</a:t>
            </a:r>
            <a:endParaRPr lang="en-US" altLang="ko-KR" sz="1200" b="1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DC44453-531A-8807-3845-F9391A877AEE}"/>
              </a:ext>
            </a:extLst>
          </p:cNvPr>
          <p:cNvCxnSpPr/>
          <p:nvPr/>
        </p:nvCxnSpPr>
        <p:spPr bwMode="auto">
          <a:xfrm>
            <a:off x="2771800" y="3296032"/>
            <a:ext cx="0" cy="432048"/>
          </a:xfrm>
          <a:prstGeom prst="straightConnector1">
            <a:avLst/>
          </a:prstGeom>
          <a:noFill/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70163F8-6FD2-1F8D-2686-154F0C516D53}"/>
              </a:ext>
            </a:extLst>
          </p:cNvPr>
          <p:cNvSpPr txBox="1"/>
          <p:nvPr/>
        </p:nvSpPr>
        <p:spPr>
          <a:xfrm>
            <a:off x="888945" y="3864206"/>
            <a:ext cx="3899075" cy="120032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JSP</a:t>
            </a:r>
            <a:r>
              <a:rPr lang="ko-KR" altLang="en-US" sz="1200" b="1" dirty="0"/>
              <a:t> 페이지</a:t>
            </a:r>
            <a:endParaRPr lang="en-US" altLang="ko-KR" sz="1200" b="1" dirty="0"/>
          </a:p>
          <a:p>
            <a:r>
              <a:rPr lang="en-US" altLang="ko-KR" sz="1200" dirty="0"/>
              <a:t>&lt;%</a:t>
            </a:r>
            <a:br>
              <a:rPr lang="en-US" altLang="ko-KR" sz="1200" dirty="0"/>
            </a:br>
            <a:r>
              <a:rPr lang="en-US" altLang="ko-KR" sz="1200" dirty="0"/>
              <a:t>    String name = request.getParameter("</a:t>
            </a:r>
            <a:r>
              <a:rPr lang="en-US" altLang="ko-KR" sz="1200" b="1" dirty="0"/>
              <a:t>name</a:t>
            </a:r>
            <a:r>
              <a:rPr lang="en-US" altLang="ko-KR" sz="1200" dirty="0"/>
              <a:t>");</a:t>
            </a:r>
            <a:br>
              <a:rPr lang="en-US" altLang="ko-KR" sz="1200" dirty="0"/>
            </a:br>
            <a:r>
              <a:rPr lang="en-US" altLang="ko-KR" sz="1200" dirty="0"/>
              <a:t>%&gt;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ko-KR" altLang="en-US" sz="1200" dirty="0"/>
              <a:t>입력된 이름 </a:t>
            </a:r>
            <a:r>
              <a:rPr lang="en-US" altLang="ko-KR" sz="1200" dirty="0"/>
              <a:t>: &lt;%= name %&gt;</a:t>
            </a:r>
          </a:p>
        </p:txBody>
      </p:sp>
    </p:spTree>
    <p:extLst>
      <p:ext uri="{BB962C8B-B14F-4D97-AF65-F5344CB8AC3E}">
        <p14:creationId xmlns:p14="http://schemas.microsoft.com/office/powerpoint/2010/main" val="2294423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C793E-B664-9DBA-E7D2-ED708B6E2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</a:t>
            </a:r>
            <a:r>
              <a:rPr lang="ko-KR" altLang="en-US" dirty="0"/>
              <a:t> 내장객체 </a:t>
            </a:r>
            <a:r>
              <a:rPr lang="en-US" altLang="ko-KR" dirty="0"/>
              <a:t>3</a:t>
            </a:r>
            <a:br>
              <a:rPr lang="en-US" altLang="ko-KR" dirty="0"/>
            </a:br>
            <a:r>
              <a:rPr lang="en-US" altLang="ko-KR" dirty="0"/>
              <a:t>						response, out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A5511E-1155-B02D-27C9-24F174303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2400" cy="3362363"/>
          </a:xfrm>
        </p:spPr>
        <p:txBody>
          <a:bodyPr>
            <a:normAutofit/>
          </a:bodyPr>
          <a:lstStyle/>
          <a:p>
            <a:r>
              <a:rPr lang="en-US" altLang="ko-KR" sz="1600" b="1" dirty="0"/>
              <a:t>response</a:t>
            </a:r>
            <a:r>
              <a:rPr lang="en-US" altLang="ko-KR" sz="1600" dirty="0"/>
              <a:t> </a:t>
            </a:r>
            <a:r>
              <a:rPr lang="ko-KR" altLang="en-US" sz="1600" dirty="0"/>
              <a:t>객체는 클라이언트의 응답을 전송함</a:t>
            </a:r>
            <a:endParaRPr lang="en-US" altLang="ko-KR" sz="1600" dirty="0"/>
          </a:p>
          <a:p>
            <a:r>
              <a:rPr lang="ko-KR" altLang="en-US" sz="1600" dirty="0"/>
              <a:t>결과는 </a:t>
            </a:r>
            <a:r>
              <a:rPr lang="en-US" altLang="ko-KR" sz="1600" dirty="0"/>
              <a:t>main.jsp</a:t>
            </a:r>
            <a:r>
              <a:rPr lang="ko-KR" altLang="en-US" sz="1600" dirty="0"/>
              <a:t>로 이동하게 됨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b="1" dirty="0"/>
              <a:t>out </a:t>
            </a:r>
            <a:r>
              <a:rPr lang="ko-KR" altLang="en-US" sz="1600" dirty="0"/>
              <a:t>객체는 브라우저에 결과를 출력해주는 객체임</a:t>
            </a:r>
            <a:endParaRPr lang="en-US" altLang="ko-KR" sz="1600" dirty="0"/>
          </a:p>
          <a:p>
            <a:r>
              <a:rPr lang="ko-KR" altLang="en-US" sz="1600" dirty="0"/>
              <a:t>브라우저에 </a:t>
            </a:r>
            <a:r>
              <a:rPr lang="en-US" altLang="ko-KR" sz="1600" dirty="0"/>
              <a:t>"</a:t>
            </a:r>
            <a:r>
              <a:rPr lang="ko-KR" altLang="en-US" sz="1600" dirty="0"/>
              <a:t>안녕하세요</a:t>
            </a:r>
            <a:r>
              <a:rPr lang="en-US" altLang="ko-KR" sz="1600" dirty="0"/>
              <a:t>" </a:t>
            </a:r>
            <a:r>
              <a:rPr lang="ko-KR" altLang="en-US" sz="1600" dirty="0"/>
              <a:t>가 출력됨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EA1F33-FD61-F17B-1432-207C33965A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64F68D-E267-C34E-FBF3-FFE0D0E66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C3F47E-5C52-9B5A-D71A-C6E371C80309}"/>
              </a:ext>
            </a:extLst>
          </p:cNvPr>
          <p:cNvSpPr txBox="1"/>
          <p:nvPr/>
        </p:nvSpPr>
        <p:spPr>
          <a:xfrm>
            <a:off x="869122" y="1955028"/>
            <a:ext cx="4194338" cy="8309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JSP</a:t>
            </a:r>
            <a:r>
              <a:rPr lang="ko-KR" altLang="en-US" sz="1200" b="1" dirty="0"/>
              <a:t> 페이지</a:t>
            </a:r>
            <a:endParaRPr lang="en-US" altLang="ko-KR" sz="1200" b="1" dirty="0"/>
          </a:p>
          <a:p>
            <a:r>
              <a:rPr lang="en-US" altLang="ko-KR" sz="1200" dirty="0"/>
              <a:t>&lt;%</a:t>
            </a:r>
            <a:br>
              <a:rPr lang="en-US" altLang="ko-KR" sz="1200" dirty="0"/>
            </a:br>
            <a:r>
              <a:rPr lang="en-US" altLang="ko-KR" sz="1200" dirty="0"/>
              <a:t>    response.sendRedirect("</a:t>
            </a:r>
            <a:r>
              <a:rPr lang="en-US" altLang="ko-KR" sz="1200" b="1" dirty="0"/>
              <a:t>main.jsp</a:t>
            </a:r>
            <a:r>
              <a:rPr lang="en-US" altLang="ko-KR" sz="1200" dirty="0"/>
              <a:t>");</a:t>
            </a:r>
            <a:br>
              <a:rPr lang="en-US" altLang="ko-KR" sz="1200" dirty="0"/>
            </a:br>
            <a:r>
              <a:rPr lang="en-US" altLang="ko-KR" sz="1200" dirty="0"/>
              <a:t>%&gt;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9E2935-3069-8502-21B7-6B1C897A41EC}"/>
              </a:ext>
            </a:extLst>
          </p:cNvPr>
          <p:cNvSpPr txBox="1"/>
          <p:nvPr/>
        </p:nvSpPr>
        <p:spPr>
          <a:xfrm>
            <a:off x="896938" y="3588528"/>
            <a:ext cx="4194338" cy="8309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JSP</a:t>
            </a:r>
            <a:r>
              <a:rPr lang="ko-KR" altLang="en-US" sz="1200" b="1" dirty="0"/>
              <a:t> 페이지</a:t>
            </a:r>
            <a:endParaRPr lang="en-US" altLang="ko-KR" sz="1200" b="1" dirty="0"/>
          </a:p>
          <a:p>
            <a:r>
              <a:rPr lang="en-US" altLang="ko-KR" sz="1200" dirty="0"/>
              <a:t>&lt;%</a:t>
            </a:r>
            <a:br>
              <a:rPr lang="en-US" altLang="ko-KR" sz="1200" dirty="0"/>
            </a:br>
            <a:r>
              <a:rPr lang="en-US" altLang="ko-KR" sz="1200" dirty="0"/>
              <a:t>      out.println("</a:t>
            </a:r>
            <a:r>
              <a:rPr lang="ko-KR" altLang="en-US" sz="1200" dirty="0"/>
              <a:t>안녕하세요</a:t>
            </a:r>
            <a:r>
              <a:rPr lang="en-US" altLang="ko-KR" sz="1200" dirty="0"/>
              <a:t>.");</a:t>
            </a:r>
            <a:br>
              <a:rPr lang="en-US" altLang="ko-KR" sz="1200" dirty="0"/>
            </a:br>
            <a:r>
              <a:rPr lang="en-US" altLang="ko-KR" sz="1200" dirty="0"/>
              <a:t>%&gt;</a:t>
            </a:r>
          </a:p>
        </p:txBody>
      </p:sp>
    </p:spTree>
    <p:extLst>
      <p:ext uri="{BB962C8B-B14F-4D97-AF65-F5344CB8AC3E}">
        <p14:creationId xmlns:p14="http://schemas.microsoft.com/office/powerpoint/2010/main" val="1113811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2983BB-30CD-609B-2533-C4D2A1A18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내장객체 </a:t>
            </a:r>
            <a:r>
              <a:rPr lang="en-US" altLang="ko-KR" dirty="0"/>
              <a:t>4</a:t>
            </a:r>
            <a:br>
              <a:rPr lang="en-US" altLang="ko-KR" dirty="0"/>
            </a:br>
            <a:r>
              <a:rPr lang="en-US" altLang="ko-KR" dirty="0"/>
              <a:t>						session </a:t>
            </a:r>
            <a:br>
              <a:rPr lang="en-US" altLang="ko-KR" dirty="0"/>
            </a:br>
            <a:r>
              <a:rPr lang="en-US" altLang="ko-KR" dirty="0"/>
              <a:t>					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225A80-F95B-C099-22C1-2B87BF268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303964" cy="5019675"/>
          </a:xfrm>
        </p:spPr>
        <p:txBody>
          <a:bodyPr/>
          <a:lstStyle/>
          <a:p>
            <a:r>
              <a:rPr lang="en-US" altLang="ko-KR" sz="1200" b="1" dirty="0"/>
              <a:t>session</a:t>
            </a:r>
            <a:r>
              <a:rPr lang="ko-KR" altLang="en-US" sz="1200" dirty="0"/>
              <a:t> 객체는 사용자 정보를 저장</a:t>
            </a:r>
            <a:endParaRPr lang="en-US" altLang="ko-KR" sz="1200" dirty="0"/>
          </a:p>
          <a:p>
            <a:r>
              <a:rPr lang="ko-KR" altLang="en-US" sz="1200" dirty="0"/>
              <a:t>아래 예제는 </a:t>
            </a:r>
            <a:r>
              <a:rPr lang="en-US" altLang="ko-KR" sz="1200" dirty="0"/>
              <a:t> "</a:t>
            </a:r>
            <a:r>
              <a:rPr lang="en-US" altLang="ko-KR" sz="1200" b="1" dirty="0"/>
              <a:t>admin</a:t>
            </a:r>
            <a:r>
              <a:rPr lang="en-US" altLang="ko-KR" sz="1200" dirty="0"/>
              <a:t>" </a:t>
            </a:r>
            <a:r>
              <a:rPr lang="ko-KR" altLang="en-US" sz="1200" dirty="0"/>
              <a:t>이라는 것은 </a:t>
            </a:r>
            <a:r>
              <a:rPr lang="en-US" altLang="ko-KR" sz="1200" b="1" dirty="0"/>
              <a:t>id</a:t>
            </a:r>
            <a:r>
              <a:rPr lang="ko-KR" altLang="en-US" sz="1200" dirty="0"/>
              <a:t>에 저장하고 가져오는 형태로 중요한 것은 </a:t>
            </a:r>
            <a:r>
              <a:rPr lang="en-US" altLang="ko-KR" sz="1200" b="1" dirty="0"/>
              <a:t>id</a:t>
            </a:r>
            <a:r>
              <a:rPr lang="ko-KR" altLang="en-US" sz="1200" dirty="0"/>
              <a:t>를 통해서 가져올 수 있다는 것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6348EE-7A9E-B70D-672E-5F501FBE5D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20A596-2808-7682-218F-DC943BF23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AB1EE2-676F-0758-56F1-4F5F28A4D2B4}"/>
              </a:ext>
            </a:extLst>
          </p:cNvPr>
          <p:cNvSpPr txBox="1"/>
          <p:nvPr/>
        </p:nvSpPr>
        <p:spPr>
          <a:xfrm>
            <a:off x="827584" y="1772816"/>
            <a:ext cx="4409985" cy="8309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JSP</a:t>
            </a:r>
            <a:r>
              <a:rPr lang="ko-KR" altLang="en-US" sz="1200" b="1" dirty="0"/>
              <a:t> 페이지</a:t>
            </a:r>
            <a:endParaRPr lang="en-US" altLang="ko-KR" sz="1200" b="1" dirty="0"/>
          </a:p>
          <a:p>
            <a:r>
              <a:rPr lang="en-US" altLang="ko-KR" sz="1200" dirty="0"/>
              <a:t>&lt;%</a:t>
            </a:r>
            <a:br>
              <a:rPr lang="en-US" altLang="ko-KR" sz="1200" dirty="0"/>
            </a:br>
            <a:r>
              <a:rPr lang="en-US" altLang="ko-KR" sz="1200" dirty="0"/>
              <a:t>    session.setAttribute("</a:t>
            </a:r>
            <a:r>
              <a:rPr lang="en-US" altLang="ko-KR" sz="1200" b="1" dirty="0"/>
              <a:t>id</a:t>
            </a:r>
            <a:r>
              <a:rPr lang="en-US" altLang="ko-KR" sz="1200" dirty="0"/>
              <a:t>", "admin")</a:t>
            </a:r>
            <a:br>
              <a:rPr lang="en-US" altLang="ko-KR" sz="1200" dirty="0"/>
            </a:br>
            <a:r>
              <a:rPr lang="en-US" altLang="ko-KR" sz="1200" dirty="0"/>
              <a:t>%&gt;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776CC6B-33F0-D9B5-8AB1-1E9153F242BD}"/>
              </a:ext>
            </a:extLst>
          </p:cNvPr>
          <p:cNvCxnSpPr/>
          <p:nvPr/>
        </p:nvCxnSpPr>
        <p:spPr bwMode="auto">
          <a:xfrm>
            <a:off x="2933319" y="2708920"/>
            <a:ext cx="0" cy="432048"/>
          </a:xfrm>
          <a:prstGeom prst="straightConnector1">
            <a:avLst/>
          </a:prstGeom>
          <a:noFill/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2549F8F-E700-14A5-84B2-3593124B949E}"/>
              </a:ext>
            </a:extLst>
          </p:cNvPr>
          <p:cNvSpPr txBox="1"/>
          <p:nvPr/>
        </p:nvSpPr>
        <p:spPr>
          <a:xfrm>
            <a:off x="827585" y="3324654"/>
            <a:ext cx="4409990" cy="120032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JSP</a:t>
            </a:r>
            <a:r>
              <a:rPr lang="ko-KR" altLang="en-US" sz="1200" b="1" dirty="0"/>
              <a:t> 페이지</a:t>
            </a:r>
            <a:endParaRPr lang="en-US" altLang="ko-KR" sz="1200" b="1" dirty="0"/>
          </a:p>
          <a:p>
            <a:r>
              <a:rPr lang="en-US" altLang="ko-KR" sz="1200" dirty="0"/>
              <a:t>&lt;%</a:t>
            </a:r>
            <a:br>
              <a:rPr lang="en-US" altLang="ko-KR" sz="1200" dirty="0"/>
            </a:br>
            <a:r>
              <a:rPr lang="en-US" altLang="ko-KR" sz="1200" dirty="0"/>
              <a:t>    String </a:t>
            </a:r>
            <a:r>
              <a:rPr lang="en-US" altLang="ko-KR" sz="1200" b="1" dirty="0"/>
              <a:t>id</a:t>
            </a:r>
            <a:r>
              <a:rPr lang="en-US" altLang="ko-KR" sz="1200" dirty="0"/>
              <a:t> = (String)session.getAttribute("</a:t>
            </a:r>
            <a:r>
              <a:rPr lang="en-US" altLang="ko-KR" sz="1200" b="1" dirty="0"/>
              <a:t>id</a:t>
            </a:r>
            <a:r>
              <a:rPr lang="en-US" altLang="ko-KR" sz="1200" dirty="0"/>
              <a:t>");</a:t>
            </a:r>
            <a:br>
              <a:rPr lang="en-US" altLang="ko-KR" sz="1200" dirty="0"/>
            </a:br>
            <a:r>
              <a:rPr lang="en-US" altLang="ko-KR" sz="1200" dirty="0"/>
              <a:t>%&gt;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/>
              <a:t>&lt;%= </a:t>
            </a:r>
            <a:r>
              <a:rPr lang="en-US" altLang="ko-KR" sz="1200" b="1" dirty="0"/>
              <a:t>id</a:t>
            </a:r>
            <a:r>
              <a:rPr lang="en-US" altLang="ko-KR" sz="1200" dirty="0"/>
              <a:t> %&gt;</a:t>
            </a:r>
          </a:p>
        </p:txBody>
      </p:sp>
    </p:spTree>
    <p:extLst>
      <p:ext uri="{BB962C8B-B14F-4D97-AF65-F5344CB8AC3E}">
        <p14:creationId xmlns:p14="http://schemas.microsoft.com/office/powerpoint/2010/main" val="2548946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33B6F6-1C45-1EFC-7705-96688DCE4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내장객체 </a:t>
            </a:r>
            <a:r>
              <a:rPr lang="en-US" altLang="ko-KR" dirty="0"/>
              <a:t>5</a:t>
            </a:r>
            <a:br>
              <a:rPr lang="en-US" altLang="ko-KR" dirty="0"/>
            </a:br>
            <a:r>
              <a:rPr lang="en-US" altLang="ko-KR" dirty="0"/>
              <a:t>					application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74A37D-0736-E597-ACF5-CBE8923E3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6"/>
            <a:ext cx="8159948" cy="692298"/>
          </a:xfrm>
        </p:spPr>
        <p:txBody>
          <a:bodyPr>
            <a:normAutofit lnSpcReduction="10000"/>
          </a:bodyPr>
          <a:lstStyle/>
          <a:p>
            <a:r>
              <a:rPr lang="ko-KR" altLang="en-US" sz="1600" dirty="0"/>
              <a:t>웹 애플리케이션 전체에서 공유되는 데이터를 저장함</a:t>
            </a:r>
            <a:endParaRPr lang="en-US" altLang="ko-KR" sz="1600" dirty="0"/>
          </a:p>
          <a:p>
            <a:r>
              <a:rPr lang="en-US" altLang="ko-KR" sz="1600" dirty="0"/>
              <a:t>100</a:t>
            </a:r>
            <a:r>
              <a:rPr lang="ko-KR" altLang="en-US" sz="1600" dirty="0"/>
              <a:t>이라는 값을 </a:t>
            </a:r>
            <a:r>
              <a:rPr lang="en-US" altLang="ko-KR" sz="1600" dirty="0"/>
              <a:t>"count"  </a:t>
            </a:r>
            <a:r>
              <a:rPr lang="ko-KR" altLang="en-US" sz="1600" dirty="0"/>
              <a:t>에 저장하고</a:t>
            </a:r>
            <a:r>
              <a:rPr lang="en-US" altLang="ko-KR" sz="1600" dirty="0"/>
              <a:t>, </a:t>
            </a:r>
            <a:r>
              <a:rPr lang="ko-KR" altLang="en-US" sz="1600" dirty="0"/>
              <a:t>가지고 오는 형태임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73567A-8399-1716-CF13-A3BA14779F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1309EB-48E0-394C-9B4A-236E2101E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909FDF-F30F-26F9-2947-858FB946D122}"/>
              </a:ext>
            </a:extLst>
          </p:cNvPr>
          <p:cNvSpPr txBox="1"/>
          <p:nvPr/>
        </p:nvSpPr>
        <p:spPr>
          <a:xfrm>
            <a:off x="827584" y="1988840"/>
            <a:ext cx="4409985" cy="8309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JSP</a:t>
            </a:r>
            <a:r>
              <a:rPr lang="ko-KR" altLang="en-US" sz="1200" b="1" dirty="0"/>
              <a:t> 페이지</a:t>
            </a:r>
            <a:endParaRPr lang="en-US" altLang="ko-KR" sz="1200" b="1" dirty="0"/>
          </a:p>
          <a:p>
            <a:r>
              <a:rPr lang="en-US" altLang="ko-KR" sz="1200" dirty="0"/>
              <a:t>&lt;%</a:t>
            </a:r>
            <a:br>
              <a:rPr lang="en-US" altLang="ko-KR" sz="1200" dirty="0"/>
            </a:br>
            <a:r>
              <a:rPr lang="en-US" altLang="ko-KR" sz="1200" dirty="0"/>
              <a:t>    application.setAttribute("</a:t>
            </a:r>
            <a:r>
              <a:rPr lang="en-US" altLang="ko-KR" sz="1200" b="1" dirty="0"/>
              <a:t>count</a:t>
            </a:r>
            <a:r>
              <a:rPr lang="en-US" altLang="ko-KR" sz="1200" dirty="0"/>
              <a:t>", 100);</a:t>
            </a:r>
            <a:br>
              <a:rPr lang="en-US" altLang="ko-KR" sz="1200" dirty="0"/>
            </a:br>
            <a:r>
              <a:rPr lang="en-US" altLang="ko-KR" sz="1200" dirty="0"/>
              <a:t>%&gt;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D3F3BA0C-FF07-1572-654B-60BDEE87B3E5}"/>
              </a:ext>
            </a:extLst>
          </p:cNvPr>
          <p:cNvCxnSpPr>
            <a:cxnSpLocks/>
          </p:cNvCxnSpPr>
          <p:nvPr/>
        </p:nvCxnSpPr>
        <p:spPr bwMode="auto">
          <a:xfrm>
            <a:off x="2915816" y="2924944"/>
            <a:ext cx="0" cy="504056"/>
          </a:xfrm>
          <a:prstGeom prst="straightConnector1">
            <a:avLst/>
          </a:prstGeom>
          <a:noFill/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BA0197D-AEA8-4130-38A7-96702CA01E00}"/>
              </a:ext>
            </a:extLst>
          </p:cNvPr>
          <p:cNvSpPr txBox="1"/>
          <p:nvPr/>
        </p:nvSpPr>
        <p:spPr>
          <a:xfrm>
            <a:off x="827584" y="3554631"/>
            <a:ext cx="4409985" cy="8309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JSP</a:t>
            </a:r>
            <a:r>
              <a:rPr lang="ko-KR" altLang="en-US" sz="1200" b="1" dirty="0"/>
              <a:t> 페이지</a:t>
            </a:r>
            <a:endParaRPr lang="en-US" altLang="ko-KR" sz="1200" b="1" dirty="0"/>
          </a:p>
          <a:p>
            <a:r>
              <a:rPr lang="en-US" altLang="ko-KR" sz="1200" dirty="0"/>
              <a:t>&lt;%</a:t>
            </a:r>
            <a:br>
              <a:rPr lang="en-US" altLang="ko-KR" sz="1200" dirty="0"/>
            </a:br>
            <a:r>
              <a:rPr lang="en-US" altLang="ko-KR" sz="1200" dirty="0"/>
              <a:t>    application.getAttribute("</a:t>
            </a:r>
            <a:r>
              <a:rPr lang="en-US" altLang="ko-KR" sz="1200" b="1" dirty="0"/>
              <a:t>count</a:t>
            </a:r>
            <a:r>
              <a:rPr lang="en-US" altLang="ko-KR" sz="1200" dirty="0"/>
              <a:t>");</a:t>
            </a:r>
            <a:br>
              <a:rPr lang="en-US" altLang="ko-KR" sz="1200" dirty="0"/>
            </a:br>
            <a:r>
              <a:rPr lang="en-US" altLang="ko-KR" sz="1200" dirty="0"/>
              <a:t>%&gt;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D97204-3EEE-9ED0-769E-45D3519A1C3A}"/>
              </a:ext>
            </a:extLst>
          </p:cNvPr>
          <p:cNvSpPr txBox="1"/>
          <p:nvPr/>
        </p:nvSpPr>
        <p:spPr>
          <a:xfrm>
            <a:off x="3032575" y="3023006"/>
            <a:ext cx="1138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데이터 조회</a:t>
            </a:r>
          </a:p>
        </p:txBody>
      </p:sp>
    </p:spTree>
    <p:extLst>
      <p:ext uri="{BB962C8B-B14F-4D97-AF65-F5344CB8AC3E}">
        <p14:creationId xmlns:p14="http://schemas.microsoft.com/office/powerpoint/2010/main" val="3416699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0BD2C3-C1B8-F317-824D-1D3937082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Directive 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A65EA6-628D-7C2E-BA0C-0BB66912E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303964" cy="2060451"/>
          </a:xfrm>
        </p:spPr>
        <p:txBody>
          <a:bodyPr>
            <a:normAutofit/>
          </a:bodyPr>
          <a:lstStyle/>
          <a:p>
            <a:r>
              <a:rPr lang="en-US" altLang="ko-KR" sz="1600" b="1" dirty="0"/>
              <a:t>JSP</a:t>
            </a:r>
            <a:r>
              <a:rPr lang="ko-KR" altLang="en-US" sz="1600" dirty="0"/>
              <a:t> 페이지는 </a:t>
            </a:r>
            <a:r>
              <a:rPr lang="en-US" altLang="ko-KR" sz="1600" dirty="0"/>
              <a:t>HTML</a:t>
            </a:r>
            <a:r>
              <a:rPr lang="ko-KR" altLang="en-US" sz="1600" dirty="0"/>
              <a:t>뿐만 아니라 </a:t>
            </a:r>
            <a:r>
              <a:rPr lang="en-US" altLang="ko-KR" sz="1600" u="sng" dirty="0"/>
              <a:t>Java </a:t>
            </a:r>
            <a:r>
              <a:rPr lang="ko-KR" altLang="en-US" sz="1600" u="sng" dirty="0"/>
              <a:t>코드</a:t>
            </a:r>
            <a:r>
              <a:rPr lang="en-US" altLang="ko-KR" sz="1600" u="sng" dirty="0"/>
              <a:t>, </a:t>
            </a:r>
            <a:r>
              <a:rPr lang="ko-KR" altLang="en-US" sz="1600" u="sng" dirty="0"/>
              <a:t>내장 객체</a:t>
            </a:r>
            <a:r>
              <a:rPr lang="en-US" altLang="ko-KR" sz="1600" u="sng" dirty="0"/>
              <a:t>, </a:t>
            </a:r>
            <a:r>
              <a:rPr lang="ko-KR" altLang="en-US" sz="1600" u="sng" dirty="0"/>
              <a:t>태그 라이브러리 등을 함께 사용</a:t>
            </a:r>
            <a:r>
              <a:rPr lang="ko-KR" altLang="en-US" sz="1600" dirty="0"/>
              <a:t>할 수 있음</a:t>
            </a:r>
            <a:endParaRPr lang="en-US" altLang="ko-KR" sz="1600" dirty="0"/>
          </a:p>
          <a:p>
            <a:r>
              <a:rPr lang="en-US" altLang="ko-KR" sz="1600" b="1" dirty="0"/>
              <a:t>JSP</a:t>
            </a:r>
            <a:r>
              <a:rPr lang="en-US" altLang="ko-KR" sz="1600" dirty="0"/>
              <a:t> </a:t>
            </a:r>
            <a:r>
              <a:rPr lang="ko-KR" altLang="en-US" sz="1600" dirty="0"/>
              <a:t>페이지에 대한 다양한 설정 정보를 지정하기 위해 사용하는 것이 </a:t>
            </a:r>
            <a:r>
              <a:rPr lang="en-US" altLang="ko-KR" sz="1600" b="1" dirty="0"/>
              <a:t>Directive</a:t>
            </a:r>
            <a:r>
              <a:rPr lang="en-US" altLang="ko-KR" sz="1600" dirty="0"/>
              <a:t> </a:t>
            </a:r>
            <a:r>
              <a:rPr lang="ko-KR" altLang="en-US" sz="1600" dirty="0"/>
              <a:t>라 볼 수 있음</a:t>
            </a:r>
            <a:endParaRPr lang="en-US" altLang="ko-KR" sz="1600" dirty="0"/>
          </a:p>
          <a:p>
            <a:pPr lvl="1"/>
            <a:r>
              <a:rPr lang="en-US" altLang="ko-KR" sz="1600" dirty="0"/>
              <a:t>Directive</a:t>
            </a:r>
            <a:r>
              <a:rPr lang="ko-KR" altLang="en-US" sz="1600" dirty="0"/>
              <a:t>는 </a:t>
            </a:r>
            <a:r>
              <a:rPr lang="en-US" altLang="ko-KR" sz="1600" dirty="0"/>
              <a:t>JSP </a:t>
            </a:r>
            <a:r>
              <a:rPr lang="ko-KR" altLang="en-US" sz="1600" dirty="0"/>
              <a:t>컨테이너가 </a:t>
            </a:r>
            <a:r>
              <a:rPr lang="en-US" altLang="ko-KR" sz="1600" dirty="0"/>
              <a:t>JSP </a:t>
            </a:r>
            <a:r>
              <a:rPr lang="ko-KR" altLang="en-US" sz="1600" dirty="0"/>
              <a:t>페이지를 </a:t>
            </a:r>
            <a:r>
              <a:rPr lang="en-US" altLang="ko-KR" sz="1600" dirty="0"/>
              <a:t>Servlet</a:t>
            </a:r>
            <a:r>
              <a:rPr lang="ko-KR" altLang="en-US" sz="1600" dirty="0"/>
              <a:t>으로 변환하기 전에 먼저 처리됨</a:t>
            </a:r>
            <a:endParaRPr lang="en-US" altLang="ko-KR" sz="1600" dirty="0"/>
          </a:p>
          <a:p>
            <a:pPr lvl="1"/>
            <a:r>
              <a:rPr lang="ko-KR" altLang="en-US" sz="1600" dirty="0"/>
              <a:t>화면에 직접 출력되지 않고 </a:t>
            </a:r>
            <a:r>
              <a:rPr lang="en-US" altLang="ko-KR" sz="1600" dirty="0"/>
              <a:t>JSP </a:t>
            </a:r>
            <a:r>
              <a:rPr lang="ko-KR" altLang="en-US" sz="1600" dirty="0"/>
              <a:t>페이지의 동작 방식을 설정하는 역할을 수행함</a:t>
            </a:r>
            <a:endParaRPr lang="en-US" altLang="ko-KR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E33F34-596D-0A01-2548-4432B0B101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F532A8-E503-1C3F-8389-5D79F7F62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E6880CC-B14F-CFB4-8690-F4A7037478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678557"/>
              </p:ext>
            </p:extLst>
          </p:nvPr>
        </p:nvGraphicFramePr>
        <p:xfrm>
          <a:off x="1281113" y="3202672"/>
          <a:ext cx="60960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03929254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82880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/>
                        <a:t>Directive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기능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540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page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JSP</a:t>
                      </a:r>
                      <a:r>
                        <a:rPr lang="ko-KR" altLang="en-US" sz="1400" dirty="0"/>
                        <a:t> 페이지 설정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978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include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다른 페이지 파일을 포함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371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taglib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사용자 정의 태그 라이브러리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961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0465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1DE6F-89E0-E4C3-3A26-4F4E1DBB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Directive 2</a:t>
            </a:r>
            <a:br>
              <a:rPr lang="en-US" altLang="ko-KR" dirty="0"/>
            </a:br>
            <a:r>
              <a:rPr lang="en-US" altLang="ko-KR" dirty="0"/>
              <a:t>					page directive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898E61-8B68-1B80-A6DB-5D20120CE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2400" cy="5084787"/>
          </a:xfrm>
        </p:spPr>
        <p:txBody>
          <a:bodyPr>
            <a:normAutofit/>
          </a:bodyPr>
          <a:lstStyle/>
          <a:p>
            <a:r>
              <a:rPr lang="en-US" altLang="ko-KR" sz="1400" b="1" dirty="0"/>
              <a:t>page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directive</a:t>
            </a:r>
            <a:r>
              <a:rPr lang="ko-KR" altLang="en-US" sz="1400" dirty="0"/>
              <a:t>는 </a:t>
            </a:r>
            <a:r>
              <a:rPr lang="en-US" altLang="ko-KR" sz="1400" b="1" dirty="0"/>
              <a:t>JSP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페이지의 전반적인 설정을 담당함</a:t>
            </a:r>
            <a:endParaRPr lang="en-US" altLang="ko-KR" sz="1400" dirty="0"/>
          </a:p>
          <a:p>
            <a:r>
              <a:rPr lang="ko-KR" altLang="en-US" sz="1400" dirty="0"/>
              <a:t>다음과 같은 주요 설정을 저장함</a:t>
            </a:r>
            <a:endParaRPr lang="en-US" altLang="ko-KR" sz="1400" dirty="0"/>
          </a:p>
          <a:p>
            <a:pPr lvl="1"/>
            <a:r>
              <a:rPr lang="ko-KR" altLang="en-US" sz="1400" dirty="0"/>
              <a:t>문자 인코딩</a:t>
            </a:r>
            <a:endParaRPr lang="en-US" altLang="ko-KR" sz="1400" dirty="0"/>
          </a:p>
          <a:p>
            <a:pPr lvl="1"/>
            <a:r>
              <a:rPr lang="en-US" altLang="ko-KR" sz="1400" dirty="0"/>
              <a:t>MIME </a:t>
            </a:r>
            <a:r>
              <a:rPr lang="ko-KR" altLang="en-US" sz="1400" dirty="0"/>
              <a:t>타입</a:t>
            </a:r>
            <a:endParaRPr lang="en-US" altLang="ko-KR" sz="1400" dirty="0"/>
          </a:p>
          <a:p>
            <a:pPr lvl="1"/>
            <a:r>
              <a:rPr lang="en-US" altLang="ko-KR" sz="1400" dirty="0"/>
              <a:t>Java import</a:t>
            </a:r>
          </a:p>
          <a:p>
            <a:pPr lvl="1"/>
            <a:r>
              <a:rPr lang="ko-KR" altLang="en-US" sz="1400" dirty="0"/>
              <a:t>에러 페이지</a:t>
            </a:r>
            <a:endParaRPr lang="en-US" altLang="ko-KR" sz="1400" dirty="0"/>
          </a:p>
          <a:p>
            <a:pPr lvl="1"/>
            <a:r>
              <a:rPr lang="ko-KR" altLang="en-US" sz="1400" dirty="0"/>
              <a:t>세션</a:t>
            </a:r>
            <a:r>
              <a:rPr lang="en-US" altLang="ko-KR" sz="1400" dirty="0"/>
              <a:t> </a:t>
            </a:r>
            <a:r>
              <a:rPr lang="ko-KR" altLang="en-US" sz="1400" dirty="0"/>
              <a:t>사용 여부</a:t>
            </a:r>
            <a:endParaRPr lang="en-US" altLang="ko-KR" sz="1400" dirty="0"/>
          </a:p>
          <a:p>
            <a:r>
              <a:rPr lang="ko-KR" altLang="en-US" sz="1600" dirty="0"/>
              <a:t>기본 문법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contentType </a:t>
            </a:r>
            <a:r>
              <a:rPr lang="ko-KR" altLang="en-US" sz="1600" dirty="0"/>
              <a:t>속성</a:t>
            </a:r>
            <a:endParaRPr lang="en-US" altLang="ko-KR" sz="1600" dirty="0"/>
          </a:p>
          <a:p>
            <a:endParaRPr lang="en-US" altLang="ko-KR" sz="1600" dirty="0"/>
          </a:p>
          <a:p>
            <a:pPr lvl="1"/>
            <a:r>
              <a:rPr lang="en-US" altLang="ko-KR" sz="1400" dirty="0"/>
              <a:t>text/html; </a:t>
            </a:r>
            <a:r>
              <a:rPr lang="ko-KR" altLang="en-US" sz="1400" dirty="0"/>
              <a:t>과 </a:t>
            </a:r>
            <a:r>
              <a:rPr lang="en-US" altLang="ko-KR" sz="1400" dirty="0"/>
              <a:t>charset=UTF-8 </a:t>
            </a:r>
          </a:p>
          <a:p>
            <a:pPr lvl="2"/>
            <a:r>
              <a:rPr lang="en-US" altLang="ko-KR" sz="1400" dirty="0"/>
              <a:t>HTML</a:t>
            </a:r>
            <a:r>
              <a:rPr lang="ko-KR" altLang="en-US" sz="1400" dirty="0"/>
              <a:t> 문서 전송 및 한글 인코딩 처리</a:t>
            </a:r>
            <a:endParaRPr lang="en-US" altLang="ko-KR" sz="1400" dirty="0"/>
          </a:p>
          <a:p>
            <a:r>
              <a:rPr lang="en-US" altLang="ko-KR" sz="1600" dirty="0"/>
              <a:t>import </a:t>
            </a:r>
            <a:r>
              <a:rPr lang="ko-KR" altLang="en-US" sz="1600" dirty="0"/>
              <a:t>속성</a:t>
            </a:r>
            <a:endParaRPr lang="en-US" altLang="ko-KR" sz="1600" dirty="0"/>
          </a:p>
          <a:p>
            <a:pPr lvl="1"/>
            <a:r>
              <a:rPr lang="en-US" altLang="ko-KR" sz="1400" dirty="0"/>
              <a:t>Java </a:t>
            </a:r>
            <a:r>
              <a:rPr lang="ko-KR" altLang="en-US" sz="1400" dirty="0"/>
              <a:t>패키지를 가져올 때 사용함</a:t>
            </a:r>
            <a:endParaRPr lang="en-US" altLang="ko-KR" sz="1400" dirty="0"/>
          </a:p>
          <a:p>
            <a:pPr lvl="1"/>
            <a:endParaRPr lang="en-US" altLang="ko-KR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462E86-D80F-7975-CA45-4BAE2ED614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9590E0-3340-C215-4D5D-D936EE232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9980AC-AEE3-69F3-4318-6B5F28E4D1E3}"/>
              </a:ext>
            </a:extLst>
          </p:cNvPr>
          <p:cNvSpPr txBox="1"/>
          <p:nvPr/>
        </p:nvSpPr>
        <p:spPr>
          <a:xfrm>
            <a:off x="896939" y="3646750"/>
            <a:ext cx="2234902" cy="2769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&lt;%@ page </a:t>
            </a:r>
            <a:r>
              <a:rPr lang="ko-KR" altLang="en-US" sz="1200" b="1" dirty="0"/>
              <a:t>속성</a:t>
            </a:r>
            <a:r>
              <a:rPr lang="en-US" altLang="ko-KR" sz="1200" b="1" dirty="0"/>
              <a:t>=</a:t>
            </a:r>
            <a:r>
              <a:rPr lang="en-US" altLang="ko-KR" sz="1200" dirty="0"/>
              <a:t>"</a:t>
            </a:r>
            <a:r>
              <a:rPr lang="ko-KR" altLang="en-US" sz="1200" dirty="0"/>
              <a:t>값</a:t>
            </a:r>
            <a:r>
              <a:rPr lang="en-US" altLang="ko-KR" sz="1200" dirty="0"/>
              <a:t>“ %&gt;</a:t>
            </a:r>
            <a:endParaRPr lang="en-US" altLang="ko-KR" sz="1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0496A7-F1AD-50E7-4C9B-38C2C3A54C48}"/>
              </a:ext>
            </a:extLst>
          </p:cNvPr>
          <p:cNvSpPr txBox="1"/>
          <p:nvPr/>
        </p:nvSpPr>
        <p:spPr>
          <a:xfrm>
            <a:off x="890102" y="4365104"/>
            <a:ext cx="4257962" cy="2769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altLang="ko-KR" sz="1200" dirty="0"/>
              <a:t>&lt;%@ </a:t>
            </a:r>
            <a:r>
              <a:rPr lang="fr-FR" altLang="ko-KR" sz="1200" b="1" dirty="0"/>
              <a:t>page</a:t>
            </a:r>
            <a:r>
              <a:rPr lang="fr-FR" altLang="ko-KR" sz="1200" dirty="0"/>
              <a:t> contentType="text/html; charset=UTF-8" %&gt;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D89DFF-D93C-C6ED-95AF-782CAA9A7F01}"/>
              </a:ext>
            </a:extLst>
          </p:cNvPr>
          <p:cNvSpPr txBox="1"/>
          <p:nvPr/>
        </p:nvSpPr>
        <p:spPr>
          <a:xfrm>
            <a:off x="896938" y="5913083"/>
            <a:ext cx="4251126" cy="2769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altLang="ko-KR" sz="1200" dirty="0"/>
              <a:t>&lt;%@ </a:t>
            </a:r>
            <a:r>
              <a:rPr lang="fr-FR" altLang="ko-KR" sz="1200" b="1" dirty="0"/>
              <a:t>page</a:t>
            </a:r>
            <a:r>
              <a:rPr lang="fr-FR" altLang="ko-KR" sz="1200" dirty="0"/>
              <a:t> import="java.util.Date" %&gt;</a:t>
            </a:r>
          </a:p>
        </p:txBody>
      </p:sp>
    </p:spTree>
    <p:extLst>
      <p:ext uri="{BB962C8B-B14F-4D97-AF65-F5344CB8AC3E}">
        <p14:creationId xmlns:p14="http://schemas.microsoft.com/office/powerpoint/2010/main" val="1266859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B5BC1-4C1A-0F80-2948-B3EBE46E7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46BE28-4F2D-539A-AA04-FB5A7BC44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Directive 3</a:t>
            </a:r>
            <a:br>
              <a:rPr lang="en-US" altLang="ko-KR" dirty="0"/>
            </a:br>
            <a:r>
              <a:rPr lang="en-US" altLang="ko-KR" dirty="0"/>
              <a:t>					page directive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E80752-5229-ECD3-2726-9FCA04E86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2400" cy="5240338"/>
          </a:xfrm>
        </p:spPr>
        <p:txBody>
          <a:bodyPr>
            <a:normAutofit/>
          </a:bodyPr>
          <a:lstStyle/>
          <a:p>
            <a:r>
              <a:rPr lang="en-US" altLang="ko-KR" sz="1400" b="1" dirty="0"/>
              <a:t>import</a:t>
            </a:r>
            <a:r>
              <a:rPr lang="ko-KR" altLang="en-US" sz="1400" b="1" dirty="0"/>
              <a:t> 속성 주요 사용 예시</a:t>
            </a:r>
            <a:endParaRPr lang="en-US" altLang="ko-KR" sz="1400" b="1" dirty="0"/>
          </a:p>
          <a:p>
            <a:endParaRPr lang="en-US" altLang="ko-KR" sz="1400" b="1" dirty="0"/>
          </a:p>
          <a:p>
            <a:endParaRPr lang="en-US" altLang="ko-KR" sz="1400" b="1" dirty="0"/>
          </a:p>
          <a:p>
            <a:endParaRPr lang="en-US" altLang="ko-KR" sz="1400" b="1" dirty="0"/>
          </a:p>
          <a:p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r>
              <a:rPr lang="en-US" altLang="ko-KR" sz="1400" b="1" dirty="0"/>
              <a:t>errorPage </a:t>
            </a:r>
            <a:r>
              <a:rPr lang="ko-KR" altLang="en-US" sz="1400" b="1" dirty="0"/>
              <a:t>속성</a:t>
            </a:r>
            <a:endParaRPr lang="en-US" altLang="ko-KR" sz="1400" b="1" dirty="0"/>
          </a:p>
          <a:p>
            <a:pPr lvl="1"/>
            <a:r>
              <a:rPr lang="ko-KR" altLang="en-US" sz="1200" dirty="0"/>
              <a:t>오류 발생시 이동할 페이지 지정</a:t>
            </a: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B60506-B577-7183-70A9-08708BD4E2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1ACDD9-11B5-4AB4-D18C-C90D94F41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7E95AE-3C0A-AAE9-6963-D6803D1BAB17}"/>
              </a:ext>
            </a:extLst>
          </p:cNvPr>
          <p:cNvSpPr txBox="1"/>
          <p:nvPr/>
        </p:nvSpPr>
        <p:spPr>
          <a:xfrm>
            <a:off x="890866" y="1467941"/>
            <a:ext cx="3393102" cy="138499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&lt;%@ page import="java.util.Date" %&gt;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/>
              <a:t>&lt;%</a:t>
            </a:r>
            <a:br>
              <a:rPr lang="en-US" altLang="ko-KR" sz="1200" dirty="0"/>
            </a:br>
            <a:r>
              <a:rPr lang="en-US" altLang="ko-KR" sz="1200" dirty="0"/>
              <a:t>    Date today = new Date();</a:t>
            </a:r>
          </a:p>
          <a:p>
            <a:r>
              <a:rPr lang="en-US" altLang="ko-KR" sz="1200" dirty="0"/>
              <a:t>%&gt;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ko-KR" altLang="en-US" sz="1200" dirty="0"/>
              <a:t>현재시간 </a:t>
            </a:r>
            <a:r>
              <a:rPr lang="en-US" altLang="ko-KR" sz="1200" dirty="0"/>
              <a:t>: &lt;%= today %&gt;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0EE34E-F4C2-33BD-B6F1-A26597D7AC69}"/>
              </a:ext>
            </a:extLst>
          </p:cNvPr>
          <p:cNvSpPr txBox="1"/>
          <p:nvPr/>
        </p:nvSpPr>
        <p:spPr>
          <a:xfrm>
            <a:off x="900223" y="3573886"/>
            <a:ext cx="3393102" cy="120032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JSP </a:t>
            </a:r>
            <a:r>
              <a:rPr lang="ko-KR" altLang="en-US" sz="1200" b="1" dirty="0"/>
              <a:t>페이지 </a:t>
            </a:r>
            <a:r>
              <a:rPr lang="en-US" altLang="ko-KR" sz="1200" b="1" dirty="0"/>
              <a:t>: main.jsp</a:t>
            </a:r>
          </a:p>
          <a:p>
            <a:r>
              <a:rPr lang="en-US" altLang="ko-KR" sz="1200" dirty="0"/>
              <a:t>&lt;%@ page errorPage="error.jsp" %&gt;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/>
              <a:t>&lt;%</a:t>
            </a:r>
            <a:br>
              <a:rPr lang="en-US" altLang="ko-KR" sz="1200" dirty="0"/>
            </a:br>
            <a:r>
              <a:rPr lang="en-US" altLang="ko-KR" sz="1200" dirty="0"/>
              <a:t>    int result = 10 / 0;</a:t>
            </a:r>
            <a:br>
              <a:rPr lang="en-US" altLang="ko-KR" sz="1200" dirty="0"/>
            </a:br>
            <a:r>
              <a:rPr lang="en-US" altLang="ko-KR" sz="1200" dirty="0"/>
              <a:t>%&gt;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1499D7F-5EEC-6E6D-FB8B-AE6E6475F53A}"/>
              </a:ext>
            </a:extLst>
          </p:cNvPr>
          <p:cNvCxnSpPr/>
          <p:nvPr/>
        </p:nvCxnSpPr>
        <p:spPr bwMode="auto">
          <a:xfrm>
            <a:off x="2553157" y="4869160"/>
            <a:ext cx="0" cy="432048"/>
          </a:xfrm>
          <a:prstGeom prst="straightConnector1">
            <a:avLst/>
          </a:prstGeom>
          <a:noFill/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051FE4F-8762-6AD0-8926-FF0044C72A82}"/>
              </a:ext>
            </a:extLst>
          </p:cNvPr>
          <p:cNvSpPr txBox="1"/>
          <p:nvPr/>
        </p:nvSpPr>
        <p:spPr>
          <a:xfrm>
            <a:off x="890866" y="5423300"/>
            <a:ext cx="3393102" cy="8309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JSP</a:t>
            </a:r>
            <a:r>
              <a:rPr lang="ko-KR" altLang="en-US" sz="1200" b="1" dirty="0"/>
              <a:t> 페이지 </a:t>
            </a:r>
            <a:r>
              <a:rPr lang="en-US" altLang="ko-KR" sz="1200" b="1" dirty="0"/>
              <a:t>: error.jsp</a:t>
            </a:r>
          </a:p>
          <a:p>
            <a:r>
              <a:rPr lang="en-US" altLang="ko-KR" sz="1200" dirty="0"/>
              <a:t>&lt;%@ page isErrorPage="true" %&gt;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ko-KR" altLang="en-US" sz="1200" dirty="0"/>
              <a:t>오류가 발생했습니다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9281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8A86D3-3FCE-5E39-B9C1-4A527B67E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Directive 4</a:t>
            </a:r>
            <a:br>
              <a:rPr lang="en-US" altLang="ko-KR" dirty="0"/>
            </a:br>
            <a:r>
              <a:rPr lang="en-US" altLang="ko-KR" dirty="0"/>
              <a:t>					page directive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AA2AF8-2172-B8C3-EB92-3DFB67B63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2400" cy="2492499"/>
          </a:xfrm>
        </p:spPr>
        <p:txBody>
          <a:bodyPr>
            <a:normAutofit/>
          </a:bodyPr>
          <a:lstStyle/>
          <a:p>
            <a:r>
              <a:rPr lang="en-US" altLang="ko-KR" sz="1400" b="1" dirty="0"/>
              <a:t>session </a:t>
            </a:r>
            <a:r>
              <a:rPr lang="ko-KR" altLang="en-US" sz="1400" b="1" dirty="0"/>
              <a:t>속성</a:t>
            </a:r>
            <a:endParaRPr lang="en-US" altLang="ko-KR" sz="1400" b="1" dirty="0"/>
          </a:p>
          <a:p>
            <a:pPr lvl="1"/>
            <a:r>
              <a:rPr lang="ko-KR" altLang="en-US" sz="1400" dirty="0"/>
              <a:t>세션 사용 여부를 지정함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pPr lvl="2"/>
            <a:r>
              <a:rPr lang="en-US" altLang="ko-KR" sz="1400" b="1" dirty="0"/>
              <a:t>true</a:t>
            </a:r>
            <a:r>
              <a:rPr lang="ko-KR" altLang="en-US" sz="1400" dirty="0"/>
              <a:t>가 기본값으로 설정되어 있음</a:t>
            </a:r>
            <a:endParaRPr lang="en-US" altLang="ko-KR" sz="1400" dirty="0"/>
          </a:p>
          <a:p>
            <a:pPr lvl="2"/>
            <a:r>
              <a:rPr lang="en-US" altLang="ko-KR" sz="1400" b="1" dirty="0"/>
              <a:t>false</a:t>
            </a:r>
            <a:r>
              <a:rPr lang="ko-KR" altLang="en-US" sz="1400" dirty="0"/>
              <a:t>로 설정되면 </a:t>
            </a:r>
            <a:r>
              <a:rPr lang="en-US" altLang="ko-KR" sz="1400" dirty="0"/>
              <a:t>session </a:t>
            </a:r>
            <a:r>
              <a:rPr lang="ko-KR" altLang="en-US" sz="1400" dirty="0"/>
              <a:t>사용이 불가</a:t>
            </a:r>
            <a:endParaRPr lang="en-US" altLang="ko-KR" sz="1400" dirty="0"/>
          </a:p>
          <a:p>
            <a:r>
              <a:rPr lang="ko-KR" altLang="en-US" sz="1600" dirty="0"/>
              <a:t>아래의 예제처럼 </a:t>
            </a:r>
            <a:r>
              <a:rPr lang="en-US" altLang="ko-KR" sz="1600" b="1" dirty="0"/>
              <a:t>page directive</a:t>
            </a:r>
            <a:r>
              <a:rPr lang="ko-KR" altLang="en-US" sz="1600" dirty="0"/>
              <a:t>를 활용하여 사용할 수 있음</a:t>
            </a:r>
            <a:endParaRPr lang="en-US" altLang="ko-KR" sz="1600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0477B0-DE7C-C503-FC31-C591816C70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B88B3E-A761-1DF0-D3E2-B7137BC4F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5F8836-E8F6-6D78-5499-D6EF8B277A78}"/>
              </a:ext>
            </a:extLst>
          </p:cNvPr>
          <p:cNvSpPr txBox="1"/>
          <p:nvPr/>
        </p:nvSpPr>
        <p:spPr>
          <a:xfrm>
            <a:off x="1240984" y="1759659"/>
            <a:ext cx="2747218" cy="2769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&lt;%@ </a:t>
            </a:r>
            <a:r>
              <a:rPr lang="en-US" altLang="ko-KR" sz="1200" b="1" dirty="0"/>
              <a:t>page</a:t>
            </a:r>
            <a:r>
              <a:rPr lang="en-US" altLang="ko-KR" sz="1200" dirty="0"/>
              <a:t> </a:t>
            </a:r>
            <a:r>
              <a:rPr lang="en-US" altLang="ko-KR" sz="1200" b="1" dirty="0"/>
              <a:t>session</a:t>
            </a:r>
            <a:r>
              <a:rPr lang="en-US" altLang="ko-KR" sz="1200" dirty="0"/>
              <a:t>="false" %&gt;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DD1E05-628F-642E-F651-3A2CC359518C}"/>
              </a:ext>
            </a:extLst>
          </p:cNvPr>
          <p:cNvSpPr txBox="1"/>
          <p:nvPr/>
        </p:nvSpPr>
        <p:spPr>
          <a:xfrm>
            <a:off x="1240984" y="3133578"/>
            <a:ext cx="7579488" cy="2769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&lt;%@ </a:t>
            </a:r>
            <a:r>
              <a:rPr lang="en-US" altLang="ko-KR" sz="1200" b="1" dirty="0"/>
              <a:t>page</a:t>
            </a:r>
            <a:r>
              <a:rPr lang="en-US" altLang="ko-KR" sz="1200" dirty="0"/>
              <a:t> contentType="text/html; </a:t>
            </a:r>
            <a:r>
              <a:rPr lang="en-US" altLang="ko-KR" sz="1200" b="1" dirty="0"/>
              <a:t>charset</a:t>
            </a:r>
            <a:r>
              <a:rPr lang="en-US" altLang="ko-KR" sz="1200" dirty="0"/>
              <a:t>=UTF-8“ </a:t>
            </a:r>
            <a:r>
              <a:rPr lang="en-US" altLang="ko-KR" sz="1200" b="1" dirty="0"/>
              <a:t>import</a:t>
            </a:r>
            <a:r>
              <a:rPr lang="en-US" altLang="ko-KR" sz="1200" dirty="0"/>
              <a:t>="java.util.Date“ </a:t>
            </a:r>
            <a:r>
              <a:rPr lang="en-US" altLang="ko-KR" sz="1200" b="1" dirty="0"/>
              <a:t>session</a:t>
            </a:r>
            <a:r>
              <a:rPr lang="en-US" altLang="ko-KR" sz="1200" dirty="0"/>
              <a:t>="true“ %&gt;</a:t>
            </a:r>
          </a:p>
        </p:txBody>
      </p:sp>
    </p:spTree>
    <p:extLst>
      <p:ext uri="{BB962C8B-B14F-4D97-AF65-F5344CB8AC3E}">
        <p14:creationId xmlns:p14="http://schemas.microsoft.com/office/powerpoint/2010/main" val="2829473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CF523C-A27E-025F-C9FC-243EF1068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Directive 5</a:t>
            </a:r>
            <a:br>
              <a:rPr lang="en-US" altLang="ko-KR" dirty="0"/>
            </a:br>
            <a:r>
              <a:rPr lang="en-US" altLang="ko-KR" dirty="0"/>
              <a:t>					include directive</a:t>
            </a:r>
            <a:r>
              <a:rPr lang="ko-KR" altLang="en-US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CA22B0-BA98-0C4A-7606-054431375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447980" cy="4796755"/>
          </a:xfrm>
        </p:spPr>
        <p:txBody>
          <a:bodyPr>
            <a:normAutofit lnSpcReduction="10000"/>
          </a:bodyPr>
          <a:lstStyle/>
          <a:p>
            <a:r>
              <a:rPr lang="ko-KR" altLang="en-US" sz="1600" dirty="0"/>
              <a:t>웹 사이트를 개발할 때 여러 페이지에서 공통적으로 사용되는 부분이 있음</a:t>
            </a:r>
            <a:endParaRPr lang="en-US" altLang="ko-KR" sz="1600" dirty="0"/>
          </a:p>
          <a:p>
            <a:r>
              <a:rPr lang="en-US" altLang="ko-KR" sz="1600" dirty="0"/>
              <a:t>menu, header, footer, logo</a:t>
            </a:r>
            <a:r>
              <a:rPr lang="ko-KR" altLang="en-US" sz="1600" dirty="0"/>
              <a:t> 등이 있으면 </a:t>
            </a:r>
            <a:r>
              <a:rPr lang="en-US" altLang="ko-KR" sz="1600" dirty="0"/>
              <a:t>include directive</a:t>
            </a:r>
            <a:r>
              <a:rPr lang="ko-KR" altLang="en-US" sz="1600" dirty="0"/>
              <a:t>를 사용하여 효율적으로 작성이 가능함</a:t>
            </a:r>
            <a:endParaRPr lang="en-US" altLang="ko-KR" sz="1600" dirty="0"/>
          </a:p>
          <a:p>
            <a:r>
              <a:rPr lang="ko-KR" altLang="en-US" sz="1600" dirty="0"/>
              <a:t>기본 문법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예시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pPr lvl="1"/>
            <a:endParaRPr lang="en-US" altLang="ko-KR" sz="1400" dirty="0"/>
          </a:p>
          <a:p>
            <a:pPr lvl="1"/>
            <a:r>
              <a:rPr lang="ko-KR" altLang="en-US" sz="1400" dirty="0"/>
              <a:t>소스코드 자체를 삽입하는 방식인 것을 알 수 있음</a:t>
            </a:r>
            <a:endParaRPr lang="en-US" altLang="ko-KR" sz="1400" dirty="0"/>
          </a:p>
          <a:p>
            <a:pPr lvl="1"/>
            <a:r>
              <a:rPr lang="ko-KR" altLang="en-US" sz="1400" dirty="0"/>
              <a:t>변경 사항이 있으면 </a:t>
            </a:r>
            <a:r>
              <a:rPr lang="en-US" altLang="ko-KR" sz="1400" dirty="0"/>
              <a:t>JSP </a:t>
            </a:r>
            <a:r>
              <a:rPr lang="ko-KR" altLang="en-US" sz="1400" dirty="0"/>
              <a:t>다시 컴파일해야 됨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endParaRPr lang="ko-KR" altLang="en-US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F68DAF-547D-57A1-974F-F26AF5C79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703E55-34B0-F07D-01BC-96B731468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103CA8-15F2-4F52-5571-63E1B22FC0D4}"/>
              </a:ext>
            </a:extLst>
          </p:cNvPr>
          <p:cNvSpPr txBox="1"/>
          <p:nvPr/>
        </p:nvSpPr>
        <p:spPr>
          <a:xfrm>
            <a:off x="861190" y="2420094"/>
            <a:ext cx="2697782" cy="2769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&lt;%@</a:t>
            </a:r>
            <a:r>
              <a:rPr lang="en-US" altLang="ko-KR" sz="1200" b="1" dirty="0"/>
              <a:t> include file=</a:t>
            </a:r>
            <a:r>
              <a:rPr lang="en-US" altLang="ko-KR" sz="1200" dirty="0"/>
              <a:t>＂</a:t>
            </a:r>
            <a:r>
              <a:rPr lang="ko-KR" altLang="en-US" sz="1200" dirty="0"/>
              <a:t>파일명</a:t>
            </a:r>
            <a:r>
              <a:rPr lang="en-US" altLang="ko-KR" sz="1200" dirty="0"/>
              <a:t>“ %&gt;</a:t>
            </a:r>
            <a:endParaRPr lang="en-US" altLang="ko-KR" sz="1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8184EA-77CB-F89F-04B4-EAEB99D31787}"/>
              </a:ext>
            </a:extLst>
          </p:cNvPr>
          <p:cNvSpPr txBox="1"/>
          <p:nvPr/>
        </p:nvSpPr>
        <p:spPr>
          <a:xfrm>
            <a:off x="861190" y="3140968"/>
            <a:ext cx="2697782" cy="64633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JSP</a:t>
            </a:r>
            <a:r>
              <a:rPr lang="ko-KR" altLang="en-US" sz="1200" b="1" dirty="0"/>
              <a:t> 페이지 </a:t>
            </a:r>
            <a:r>
              <a:rPr lang="en-US" altLang="ko-KR" sz="1200" b="1" dirty="0"/>
              <a:t>: header.jsp</a:t>
            </a:r>
          </a:p>
          <a:p>
            <a:r>
              <a:rPr lang="en-US" altLang="ko-KR" sz="1200" dirty="0"/>
              <a:t>&lt;h2&gt;</a:t>
            </a:r>
            <a:r>
              <a:rPr lang="ko-KR" altLang="en-US" sz="1200" dirty="0"/>
              <a:t>금오공과대학교</a:t>
            </a:r>
            <a:r>
              <a:rPr lang="en-US" altLang="ko-KR" sz="1200" dirty="0"/>
              <a:t>&lt;/h2&gt;</a:t>
            </a:r>
          </a:p>
          <a:p>
            <a:r>
              <a:rPr lang="en-US" altLang="ko-KR" sz="1200" dirty="0"/>
              <a:t>&lt;br&gt;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0E63420-C50E-CD84-3539-9C0B1B53C66D}"/>
              </a:ext>
            </a:extLst>
          </p:cNvPr>
          <p:cNvCxnSpPr/>
          <p:nvPr/>
        </p:nvCxnSpPr>
        <p:spPr bwMode="auto">
          <a:xfrm>
            <a:off x="2123728" y="3861048"/>
            <a:ext cx="0" cy="432048"/>
          </a:xfrm>
          <a:prstGeom prst="straightConnector1">
            <a:avLst/>
          </a:prstGeom>
          <a:noFill/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B173393-C178-5F3F-39EB-A6E25E0C13B6}"/>
              </a:ext>
            </a:extLst>
          </p:cNvPr>
          <p:cNvSpPr txBox="1"/>
          <p:nvPr/>
        </p:nvSpPr>
        <p:spPr>
          <a:xfrm>
            <a:off x="896938" y="4435172"/>
            <a:ext cx="4395142" cy="8309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JSP</a:t>
            </a:r>
            <a:r>
              <a:rPr lang="ko-KR" altLang="en-US" sz="1200" b="1" dirty="0"/>
              <a:t> 페이지 </a:t>
            </a:r>
            <a:r>
              <a:rPr lang="en-US" altLang="ko-KR" sz="1200" b="1" dirty="0"/>
              <a:t>: main.jsp</a:t>
            </a:r>
          </a:p>
          <a:p>
            <a:r>
              <a:rPr lang="en-US" altLang="ko-KR" sz="1200" dirty="0"/>
              <a:t>&lt;%@ include file="header.jsp" %&gt;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ko-KR" altLang="en-US" sz="1200" dirty="0"/>
              <a:t>현재 페이지입니다</a:t>
            </a:r>
            <a:r>
              <a:rPr lang="en-US" altLang="ko-KR" sz="12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CD1F8D-0454-3151-9210-F5A7AB46ED9B}"/>
              </a:ext>
            </a:extLst>
          </p:cNvPr>
          <p:cNvSpPr txBox="1"/>
          <p:nvPr/>
        </p:nvSpPr>
        <p:spPr>
          <a:xfrm>
            <a:off x="5503075" y="2492895"/>
            <a:ext cx="2697782" cy="193899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header.jsp</a:t>
            </a:r>
          </a:p>
          <a:p>
            <a:endParaRPr lang="en-US" altLang="ko-KR" sz="1200" b="1" dirty="0"/>
          </a:p>
          <a:p>
            <a:endParaRPr lang="en-US" altLang="ko-KR" sz="1200" b="1" dirty="0"/>
          </a:p>
          <a:p>
            <a:r>
              <a:rPr lang="en-US" altLang="ko-KR" sz="1200" b="1" dirty="0"/>
              <a:t>main.jsp</a:t>
            </a:r>
          </a:p>
          <a:p>
            <a:endParaRPr lang="en-US" altLang="ko-KR" sz="1200" b="1" dirty="0"/>
          </a:p>
          <a:p>
            <a:endParaRPr lang="en-US" altLang="ko-KR" sz="1200" b="1" dirty="0"/>
          </a:p>
          <a:p>
            <a:r>
              <a:rPr lang="ko-KR" altLang="en-US" sz="1200" b="1" dirty="0"/>
              <a:t>하나의 </a:t>
            </a:r>
            <a:r>
              <a:rPr lang="en-US" altLang="ko-KR" sz="1200" b="1" dirty="0"/>
              <a:t>JSP</a:t>
            </a:r>
            <a:r>
              <a:rPr lang="ko-KR" altLang="en-US" sz="1200" b="1" dirty="0"/>
              <a:t>로 합침</a:t>
            </a:r>
            <a:endParaRPr lang="en-US" altLang="ko-KR" sz="1200" b="1" dirty="0"/>
          </a:p>
          <a:p>
            <a:endParaRPr lang="en-US" altLang="ko-KR" sz="1200" b="1" dirty="0"/>
          </a:p>
          <a:p>
            <a:endParaRPr lang="en-US" altLang="ko-KR" sz="1200" b="1" dirty="0"/>
          </a:p>
          <a:p>
            <a:r>
              <a:rPr lang="en-US" altLang="ko-KR" sz="1200" b="1" dirty="0"/>
              <a:t>Servlet </a:t>
            </a:r>
            <a:r>
              <a:rPr lang="ko-KR" altLang="en-US" sz="1200" b="1" dirty="0"/>
              <a:t>변환</a:t>
            </a:r>
            <a:endParaRPr lang="en-US" altLang="ko-KR" sz="1200" b="1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F0B2790-CB84-893A-238A-779D116D9EDB}"/>
              </a:ext>
            </a:extLst>
          </p:cNvPr>
          <p:cNvCxnSpPr>
            <a:cxnSpLocks/>
          </p:cNvCxnSpPr>
          <p:nvPr/>
        </p:nvCxnSpPr>
        <p:spPr bwMode="auto">
          <a:xfrm>
            <a:off x="5940152" y="2769895"/>
            <a:ext cx="0" cy="227057"/>
          </a:xfrm>
          <a:prstGeom prst="straightConnector1">
            <a:avLst/>
          </a:prstGeom>
          <a:noFill/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32EBB13-F694-1C12-25AB-F601DAAABE26}"/>
              </a:ext>
            </a:extLst>
          </p:cNvPr>
          <p:cNvCxnSpPr>
            <a:cxnSpLocks/>
          </p:cNvCxnSpPr>
          <p:nvPr/>
        </p:nvCxnSpPr>
        <p:spPr bwMode="auto">
          <a:xfrm>
            <a:off x="5940152" y="3356992"/>
            <a:ext cx="0" cy="227057"/>
          </a:xfrm>
          <a:prstGeom prst="straightConnector1">
            <a:avLst/>
          </a:prstGeom>
          <a:noFill/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BA532D7-28AC-428A-33D9-69B6BE969458}"/>
              </a:ext>
            </a:extLst>
          </p:cNvPr>
          <p:cNvCxnSpPr>
            <a:cxnSpLocks/>
          </p:cNvCxnSpPr>
          <p:nvPr/>
        </p:nvCxnSpPr>
        <p:spPr bwMode="auto">
          <a:xfrm>
            <a:off x="5940152" y="3933056"/>
            <a:ext cx="0" cy="227057"/>
          </a:xfrm>
          <a:prstGeom prst="straightConnector1">
            <a:avLst/>
          </a:prstGeom>
          <a:noFill/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BA3F828-AD41-B91A-C464-40F69927D9D7}"/>
              </a:ext>
            </a:extLst>
          </p:cNvPr>
          <p:cNvSpPr txBox="1"/>
          <p:nvPr/>
        </p:nvSpPr>
        <p:spPr>
          <a:xfrm>
            <a:off x="5436096" y="2132855"/>
            <a:ext cx="17700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include </a:t>
            </a:r>
            <a:r>
              <a:rPr lang="ko-KR" altLang="en-US" sz="1600" dirty="0"/>
              <a:t>동작 방식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CE4AAA-C732-EF3C-D695-0AB32175D185}"/>
              </a:ext>
            </a:extLst>
          </p:cNvPr>
          <p:cNvSpPr txBox="1"/>
          <p:nvPr/>
        </p:nvSpPr>
        <p:spPr>
          <a:xfrm>
            <a:off x="5436096" y="4543380"/>
            <a:ext cx="188545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include</a:t>
            </a:r>
            <a:r>
              <a:rPr lang="ko-KR" altLang="en-US" sz="1600" b="1" dirty="0"/>
              <a:t>의 특징</a:t>
            </a:r>
            <a:endParaRPr lang="en-US" altLang="ko-KR" sz="1600" b="1" dirty="0"/>
          </a:p>
          <a:p>
            <a:r>
              <a:rPr lang="en-US" altLang="ko-KR" sz="1600" dirty="0"/>
              <a:t>· </a:t>
            </a:r>
            <a:r>
              <a:rPr lang="ko-KR" altLang="en-US" sz="1600" dirty="0"/>
              <a:t>공통 코드 재사용</a:t>
            </a:r>
            <a:endParaRPr lang="en-US" altLang="ko-KR" sz="1600" dirty="0"/>
          </a:p>
          <a:p>
            <a:r>
              <a:rPr lang="en-US" altLang="ko-KR" sz="1600" dirty="0"/>
              <a:t>· </a:t>
            </a:r>
            <a:r>
              <a:rPr lang="ko-KR" altLang="en-US" sz="1600" dirty="0"/>
              <a:t>유지보수 관리</a:t>
            </a:r>
            <a:endParaRPr lang="en-US" altLang="ko-KR" sz="1600" dirty="0"/>
          </a:p>
          <a:p>
            <a:r>
              <a:rPr lang="en-US" altLang="ko-KR" sz="1600" dirty="0"/>
              <a:t>· </a:t>
            </a:r>
            <a:r>
              <a:rPr lang="ko-KR" altLang="en-US" sz="1600" dirty="0"/>
              <a:t>소스 코드 통합</a:t>
            </a:r>
          </a:p>
        </p:txBody>
      </p:sp>
    </p:spTree>
    <p:extLst>
      <p:ext uri="{BB962C8B-B14F-4D97-AF65-F5344CB8AC3E}">
        <p14:creationId xmlns:p14="http://schemas.microsoft.com/office/powerpoint/2010/main" val="625466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7BD9C-79A3-2D92-A00C-E3FEB8266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Taglib Directive 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D2C238-13B2-048D-6CDC-1DFBE362B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2400" cy="4652739"/>
          </a:xfrm>
        </p:spPr>
        <p:txBody>
          <a:bodyPr>
            <a:normAutofit/>
          </a:bodyPr>
          <a:lstStyle/>
          <a:p>
            <a:r>
              <a:rPr lang="en-US" altLang="ko-KR" sz="1400" b="1" dirty="0"/>
              <a:t>JSP</a:t>
            </a:r>
            <a:r>
              <a:rPr lang="ko-KR" altLang="en-US" sz="1400" dirty="0"/>
              <a:t>는 기본 </a:t>
            </a:r>
            <a:r>
              <a:rPr lang="en-US" altLang="ko-KR" sz="1400" dirty="0"/>
              <a:t>HTML </a:t>
            </a:r>
            <a:r>
              <a:rPr lang="ko-KR" altLang="en-US" sz="1400" dirty="0"/>
              <a:t>태그만 사용하는 것이 아니라 다양한 사용자 정의 태그를 사용할 수 있음</a:t>
            </a:r>
            <a:endParaRPr lang="en-US" altLang="ko-KR" sz="1400" dirty="0"/>
          </a:p>
          <a:p>
            <a:r>
              <a:rPr lang="ko-KR" altLang="en-US" sz="1400" dirty="0"/>
              <a:t>대표적인 것이 </a:t>
            </a:r>
            <a:r>
              <a:rPr lang="en-US" altLang="ko-KR" sz="1400" b="1" dirty="0"/>
              <a:t>JSTL</a:t>
            </a:r>
            <a:r>
              <a:rPr lang="en-US" altLang="ko-KR" sz="1400" dirty="0"/>
              <a:t>(JSP</a:t>
            </a:r>
            <a:r>
              <a:rPr lang="ko-KR" altLang="en-US" sz="1400" dirty="0"/>
              <a:t> </a:t>
            </a:r>
            <a:r>
              <a:rPr lang="en-US" altLang="ko-KR" sz="1400" dirty="0"/>
              <a:t>Standard</a:t>
            </a:r>
            <a:r>
              <a:rPr lang="ko-KR" altLang="en-US" sz="1400" dirty="0"/>
              <a:t> </a:t>
            </a:r>
            <a:r>
              <a:rPr lang="en-US" altLang="ko-KR" sz="1400" dirty="0"/>
              <a:t>Library)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pPr lvl="1"/>
            <a:r>
              <a:rPr lang="en-US" altLang="ko-KR" sz="1400" u="sng" dirty="0"/>
              <a:t>JSTL</a:t>
            </a:r>
            <a:r>
              <a:rPr lang="ko-KR" altLang="en-US" sz="1400" u="sng" dirty="0"/>
              <a:t>을 사용하면 </a:t>
            </a:r>
            <a:r>
              <a:rPr lang="en-US" altLang="ko-KR" sz="1400" u="sng" dirty="0"/>
              <a:t>Java </a:t>
            </a:r>
            <a:r>
              <a:rPr lang="ko-KR" altLang="en-US" sz="1400" u="sng" dirty="0"/>
              <a:t>코드를 줄이고 </a:t>
            </a:r>
            <a:r>
              <a:rPr lang="en-US" altLang="ko-KR" sz="1400" b="1" u="sng" dirty="0"/>
              <a:t>JSP</a:t>
            </a:r>
            <a:r>
              <a:rPr lang="ko-KR" altLang="en-US" sz="1400" u="sng" dirty="0"/>
              <a:t>를 더욱 깔끔하게 작성할 수 있음</a:t>
            </a:r>
            <a:endParaRPr lang="en-US" altLang="ko-KR" sz="1400" u="sng" dirty="0"/>
          </a:p>
          <a:p>
            <a:r>
              <a:rPr lang="ko-KR" altLang="en-US" sz="1400" b="1" dirty="0"/>
              <a:t>기본 문법</a:t>
            </a:r>
            <a:endParaRPr lang="en-US" altLang="ko-KR" sz="1400" b="1" dirty="0"/>
          </a:p>
          <a:p>
            <a:endParaRPr lang="en-US" altLang="ko-KR" sz="1400" dirty="0"/>
          </a:p>
          <a:p>
            <a:r>
              <a:rPr lang="en-US" altLang="ko-KR" sz="1400" b="1" dirty="0"/>
              <a:t>JSTL </a:t>
            </a:r>
            <a:r>
              <a:rPr lang="ko-KR" altLang="en-US" sz="1400" b="1" dirty="0"/>
              <a:t>사용 예</a:t>
            </a:r>
            <a:endParaRPr lang="en-US" altLang="ko-KR" sz="1400" b="1" dirty="0"/>
          </a:p>
          <a:p>
            <a:endParaRPr lang="en-US" altLang="ko-KR" sz="1400" b="1" dirty="0"/>
          </a:p>
          <a:p>
            <a:endParaRPr lang="en-US" altLang="ko-KR" sz="1400" b="1" dirty="0"/>
          </a:p>
          <a:p>
            <a:endParaRPr lang="en-US" altLang="ko-KR" sz="1400" b="1" dirty="0"/>
          </a:p>
          <a:p>
            <a:endParaRPr lang="en-US" altLang="ko-KR" sz="1400" b="1" dirty="0"/>
          </a:p>
          <a:p>
            <a:r>
              <a:rPr lang="ko-KR" altLang="en-US" sz="1400" b="1" dirty="0"/>
              <a:t>반복문 예제</a:t>
            </a:r>
            <a:endParaRPr lang="en-US" altLang="ko-KR" sz="14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F28233-71AD-C473-05AD-04DDD30460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3E45D7-1A58-AE21-3E33-FE30AF3BB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E3BF4D-F8F5-63E0-9CFD-B4D0575BC5A3}"/>
              </a:ext>
            </a:extLst>
          </p:cNvPr>
          <p:cNvSpPr txBox="1"/>
          <p:nvPr/>
        </p:nvSpPr>
        <p:spPr>
          <a:xfrm>
            <a:off x="876015" y="2365261"/>
            <a:ext cx="4683174" cy="2769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&lt;%@ taglib uri=</a:t>
            </a:r>
            <a:r>
              <a:rPr lang="en-US" altLang="ko-KR" sz="1200" dirty="0">
                <a:hlinkClick r:id="rId2"/>
              </a:rPr>
              <a:t>http://java.sun.com/jsp/jstl/core</a:t>
            </a:r>
            <a:r>
              <a:rPr lang="en-US" altLang="ko-KR" sz="1200" dirty="0"/>
              <a:t> prefix="c" %&gt;</a:t>
            </a:r>
            <a:endParaRPr lang="en-US" altLang="ko-KR" sz="1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B18565-4EF0-D614-950E-F361836D8AEB}"/>
              </a:ext>
            </a:extLst>
          </p:cNvPr>
          <p:cNvSpPr txBox="1"/>
          <p:nvPr/>
        </p:nvSpPr>
        <p:spPr>
          <a:xfrm>
            <a:off x="876015" y="3000190"/>
            <a:ext cx="4581004" cy="10156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&lt;%@ taglib uri=</a:t>
            </a:r>
            <a:r>
              <a:rPr lang="en-US" altLang="ko-KR" sz="1200" dirty="0">
                <a:hlinkClick r:id="rId2"/>
              </a:rPr>
              <a:t>http://java.sun.com/jsp/jstl/core</a:t>
            </a:r>
            <a:r>
              <a:rPr lang="en-US" altLang="ko-KR" sz="1200" dirty="0"/>
              <a:t> prefix="c" %&gt;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/>
              <a:t>&lt;c:set var="name" value=“</a:t>
            </a:r>
            <a:r>
              <a:rPr lang="ko-KR" altLang="en-US" sz="1200" dirty="0"/>
              <a:t>조재한</a:t>
            </a:r>
            <a:r>
              <a:rPr lang="en-US" altLang="ko-KR" sz="1200" dirty="0"/>
              <a:t>"/&gt;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ko-KR" altLang="en-US" sz="1200" dirty="0"/>
              <a:t>이름 </a:t>
            </a:r>
            <a:r>
              <a:rPr lang="en-US" altLang="ko-KR" sz="1200" dirty="0"/>
              <a:t>: ${name}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83432F-ECAD-7C0A-87E4-68C67A6D4001}"/>
              </a:ext>
            </a:extLst>
          </p:cNvPr>
          <p:cNvSpPr txBox="1"/>
          <p:nvPr/>
        </p:nvSpPr>
        <p:spPr>
          <a:xfrm>
            <a:off x="876015" y="4509120"/>
            <a:ext cx="4581004" cy="138499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&lt;c:</a:t>
            </a:r>
            <a:r>
              <a:rPr lang="en-US" altLang="ko-KR" sz="1200" b="1" dirty="0"/>
              <a:t>forEach</a:t>
            </a:r>
            <a:br>
              <a:rPr lang="en-US" altLang="ko-KR" sz="1200" dirty="0"/>
            </a:br>
            <a:r>
              <a:rPr lang="en-US" altLang="ko-KR" sz="1200" dirty="0"/>
              <a:t>     begin="1"</a:t>
            </a:r>
            <a:br>
              <a:rPr lang="en-US" altLang="ko-KR" sz="1200" dirty="0"/>
            </a:br>
            <a:r>
              <a:rPr lang="en-US" altLang="ko-KR" sz="1200" dirty="0"/>
              <a:t>     end="5"</a:t>
            </a:r>
            <a:br>
              <a:rPr lang="en-US" altLang="ko-KR" sz="1200" dirty="0"/>
            </a:br>
            <a:r>
              <a:rPr lang="en-US" altLang="ko-KR" sz="1200" dirty="0"/>
              <a:t>     var="i"&gt;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/>
              <a:t>     ${i}&lt;br&gt;</a:t>
            </a:r>
            <a:br>
              <a:rPr lang="en-US" altLang="ko-KR" sz="1200" dirty="0"/>
            </a:br>
            <a:r>
              <a:rPr lang="en-US" altLang="ko-KR" sz="1200" dirty="0"/>
              <a:t>&lt;/c:</a:t>
            </a:r>
            <a:r>
              <a:rPr lang="en-US" altLang="ko-KR" sz="1200" b="1" dirty="0"/>
              <a:t>forEach</a:t>
            </a:r>
            <a:r>
              <a:rPr lang="en-US" altLang="ko-KR" sz="12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856917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A2D2ED-E9BF-161A-FD98-9F7AFA87E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Taglib Directive 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9C6C97-D4E7-67BD-9EA3-AFFC8702C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2400" cy="2780531"/>
          </a:xfrm>
        </p:spPr>
        <p:txBody>
          <a:bodyPr/>
          <a:lstStyle/>
          <a:p>
            <a:r>
              <a:rPr lang="en-US" altLang="ko-KR" sz="1400" dirty="0"/>
              <a:t>taglib</a:t>
            </a:r>
            <a:r>
              <a:rPr lang="ko-KR" altLang="en-US" sz="1400" dirty="0"/>
              <a:t>는 다음과 같은 기능을 제공함</a:t>
            </a:r>
            <a:endParaRPr lang="en-US" altLang="ko-KR" sz="1400" dirty="0"/>
          </a:p>
          <a:p>
            <a:pPr lvl="1"/>
            <a:r>
              <a:rPr lang="ko-KR" altLang="en-US" sz="1400" dirty="0"/>
              <a:t>변수 저장</a:t>
            </a:r>
            <a:endParaRPr lang="en-US" altLang="ko-KR" sz="1400" dirty="0"/>
          </a:p>
          <a:p>
            <a:pPr lvl="1"/>
            <a:r>
              <a:rPr lang="ko-KR" altLang="en-US" sz="1400" dirty="0"/>
              <a:t>조건문</a:t>
            </a:r>
            <a:endParaRPr lang="en-US" altLang="ko-KR" sz="1400" dirty="0"/>
          </a:p>
          <a:p>
            <a:pPr lvl="1"/>
            <a:r>
              <a:rPr lang="ko-KR" altLang="en-US" sz="1400" dirty="0"/>
              <a:t>반복문</a:t>
            </a:r>
            <a:endParaRPr lang="en-US" altLang="ko-KR" sz="1400" dirty="0"/>
          </a:p>
          <a:p>
            <a:pPr lvl="1"/>
            <a:r>
              <a:rPr lang="en-US" altLang="ko-KR" sz="1400" dirty="0"/>
              <a:t>URL </a:t>
            </a:r>
            <a:r>
              <a:rPr lang="ko-KR" altLang="en-US" sz="1400" dirty="0"/>
              <a:t>처리</a:t>
            </a:r>
            <a:endParaRPr lang="en-US" altLang="ko-KR" sz="1400" dirty="0"/>
          </a:p>
          <a:p>
            <a:pPr lvl="1"/>
            <a:r>
              <a:rPr lang="ko-KR" altLang="en-US" sz="1400" dirty="0"/>
              <a:t>문자열 처리</a:t>
            </a:r>
            <a:endParaRPr lang="en-US" altLang="ko-KR" sz="1400" dirty="0"/>
          </a:p>
          <a:p>
            <a:pPr lvl="1"/>
            <a:r>
              <a:rPr lang="ko-KR" altLang="en-US" sz="1400" dirty="0"/>
              <a:t>숫자 및 날짜 형식 처리</a:t>
            </a:r>
            <a:endParaRPr lang="en-US" altLang="ko-KR" sz="1400" dirty="0"/>
          </a:p>
          <a:p>
            <a:r>
              <a:rPr lang="en-US" altLang="ko-KR" sz="1600" b="1" dirty="0"/>
              <a:t>JSP</a:t>
            </a:r>
            <a:r>
              <a:rPr lang="ko-KR" altLang="en-US" sz="1600" dirty="0"/>
              <a:t>와 </a:t>
            </a:r>
            <a:r>
              <a:rPr lang="en-US" altLang="ko-KR" sz="1600" dirty="0"/>
              <a:t>JSTL </a:t>
            </a:r>
            <a:r>
              <a:rPr lang="ko-KR" altLang="en-US" sz="1600" dirty="0"/>
              <a:t>비교</a:t>
            </a:r>
            <a:endParaRPr lang="en-US" altLang="ko-KR" sz="1600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FB1E84-42B6-5AA1-148A-FEC816B16D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19E82-4545-8E97-5C9D-3AFFA7E6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9F9A59-2074-B72B-EA54-6F0C8FAF5388}"/>
              </a:ext>
            </a:extLst>
          </p:cNvPr>
          <p:cNvSpPr txBox="1"/>
          <p:nvPr/>
        </p:nvSpPr>
        <p:spPr>
          <a:xfrm>
            <a:off x="896938" y="3645024"/>
            <a:ext cx="2168202" cy="138499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[JSP]</a:t>
            </a:r>
          </a:p>
          <a:p>
            <a:r>
              <a:rPr lang="en-US" altLang="ko-KR" sz="1200" dirty="0"/>
              <a:t>&lt;%</a:t>
            </a:r>
          </a:p>
          <a:p>
            <a:r>
              <a:rPr lang="en-US" altLang="ko-KR" sz="1200" dirty="0"/>
              <a:t>    int score = 90;</a:t>
            </a:r>
            <a:br>
              <a:rPr lang="en-US" altLang="ko-KR" sz="1200" dirty="0"/>
            </a:br>
            <a:r>
              <a:rPr lang="en-US" altLang="ko-KR" sz="1200" dirty="0"/>
              <a:t>    if(score &gt;= 80){</a:t>
            </a:r>
            <a:br>
              <a:rPr lang="en-US" altLang="ko-KR" sz="1200" dirty="0"/>
            </a:br>
            <a:r>
              <a:rPr lang="en-US" altLang="ko-KR" sz="1200" dirty="0"/>
              <a:t>        out.println("</a:t>
            </a:r>
            <a:r>
              <a:rPr lang="ko-KR" altLang="en-US" sz="1200" dirty="0"/>
              <a:t>합격</a:t>
            </a:r>
            <a:r>
              <a:rPr lang="en-US" altLang="ko-KR" sz="1200" dirty="0"/>
              <a:t>");</a:t>
            </a:r>
            <a:br>
              <a:rPr lang="en-US" altLang="ko-KR" sz="1200" dirty="0"/>
            </a:br>
            <a:r>
              <a:rPr lang="en-US" altLang="ko-KR" sz="1200" dirty="0"/>
              <a:t>    }</a:t>
            </a:r>
            <a:br>
              <a:rPr lang="en-US" altLang="ko-KR" sz="1200" dirty="0"/>
            </a:br>
            <a:r>
              <a:rPr lang="en-US" altLang="ko-KR" sz="1200" dirty="0"/>
              <a:t>%&gt;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116610-1CDB-6917-4825-DFDFD4A692AD}"/>
              </a:ext>
            </a:extLst>
          </p:cNvPr>
          <p:cNvSpPr txBox="1"/>
          <p:nvPr/>
        </p:nvSpPr>
        <p:spPr>
          <a:xfrm>
            <a:off x="3517578" y="3645024"/>
            <a:ext cx="3240360" cy="8309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[JSTL]</a:t>
            </a:r>
          </a:p>
          <a:p>
            <a:r>
              <a:rPr lang="en-US" altLang="ko-KR" sz="1200" dirty="0"/>
              <a:t>&lt;c:</a:t>
            </a:r>
            <a:r>
              <a:rPr lang="en-US" altLang="ko-KR" sz="1200" b="1" dirty="0"/>
              <a:t>if test</a:t>
            </a:r>
            <a:r>
              <a:rPr lang="en-US" altLang="ko-KR" sz="1200" dirty="0"/>
              <a:t>="${score &gt;= 80}"&gt;</a:t>
            </a:r>
            <a:br>
              <a:rPr lang="en-US" altLang="ko-KR" sz="1200" dirty="0"/>
            </a:br>
            <a:r>
              <a:rPr lang="en-US" altLang="ko-KR" sz="1200" dirty="0"/>
              <a:t>     </a:t>
            </a:r>
            <a:r>
              <a:rPr lang="ko-KR" altLang="en-US" sz="1200" dirty="0"/>
              <a:t>합격</a:t>
            </a:r>
            <a:br>
              <a:rPr lang="ko-KR" altLang="en-US" sz="1200" dirty="0"/>
            </a:br>
            <a:r>
              <a:rPr lang="en-US" altLang="ko-KR" sz="1200" dirty="0"/>
              <a:t>&lt;/c:if&gt;</a:t>
            </a:r>
          </a:p>
        </p:txBody>
      </p:sp>
    </p:spTree>
    <p:extLst>
      <p:ext uri="{BB962C8B-B14F-4D97-AF65-F5344CB8AC3E}">
        <p14:creationId xmlns:p14="http://schemas.microsoft.com/office/powerpoint/2010/main" val="3538634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2D94BD-5A07-D014-DCAF-C437BCF8C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Taglib Directive 3</a:t>
            </a:r>
            <a:br>
              <a:rPr lang="en-US" altLang="ko-KR" dirty="0"/>
            </a:br>
            <a:r>
              <a:rPr lang="en-US" altLang="ko-KR" dirty="0"/>
              <a:t>					JSTL Core </a:t>
            </a:r>
            <a:r>
              <a:rPr lang="ko-KR" altLang="en-US" dirty="0"/>
              <a:t>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0DD173-B4FB-5F6B-65F6-4AA11196C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400" b="1" dirty="0"/>
              <a:t>c:set</a:t>
            </a:r>
          </a:p>
          <a:p>
            <a:pPr lvl="1"/>
            <a:r>
              <a:rPr lang="ko-KR" altLang="en-US" sz="1400" dirty="0"/>
              <a:t>변수를 저장할 때 사용함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r>
              <a:rPr lang="en-US" altLang="ko-KR" sz="1400" b="1" dirty="0"/>
              <a:t>c:out</a:t>
            </a:r>
          </a:p>
          <a:p>
            <a:pPr lvl="1"/>
            <a:r>
              <a:rPr lang="ko-KR" altLang="en-US" sz="1200" b="1" dirty="0"/>
              <a:t>데이터를 출력함</a:t>
            </a:r>
            <a:endParaRPr lang="en-US" altLang="ko-KR" sz="1200" b="1" dirty="0"/>
          </a:p>
          <a:p>
            <a:pPr lvl="1"/>
            <a:endParaRPr lang="en-US" altLang="ko-KR" sz="1200" b="1" dirty="0"/>
          </a:p>
          <a:p>
            <a:pPr marL="457200" lvl="1" indent="0">
              <a:buNone/>
            </a:pPr>
            <a:endParaRPr lang="en-US" altLang="ko-KR" sz="1200" b="1" dirty="0"/>
          </a:p>
          <a:p>
            <a:r>
              <a:rPr lang="en-US" altLang="ko-KR" sz="1400" b="1" dirty="0"/>
              <a:t>c:if</a:t>
            </a:r>
          </a:p>
          <a:p>
            <a:pPr lvl="1"/>
            <a:r>
              <a:rPr lang="ko-KR" altLang="en-US" sz="1200" b="1" dirty="0"/>
              <a:t>조건문으로 사용되는 문법</a:t>
            </a:r>
            <a:endParaRPr lang="en-US" altLang="ko-KR" sz="1200" b="1" dirty="0"/>
          </a:p>
          <a:p>
            <a:pPr lvl="1"/>
            <a:endParaRPr lang="en-US" altLang="ko-KR" sz="1200" b="1" dirty="0"/>
          </a:p>
          <a:p>
            <a:pPr lvl="1"/>
            <a:endParaRPr lang="en-US" altLang="ko-KR" sz="1200" b="1" dirty="0"/>
          </a:p>
          <a:p>
            <a:pPr lvl="1"/>
            <a:endParaRPr lang="en-US" altLang="ko-KR" sz="1200" b="1" dirty="0"/>
          </a:p>
          <a:p>
            <a:pPr marL="457200" lvl="1" indent="0">
              <a:buNone/>
            </a:pPr>
            <a:endParaRPr lang="en-US" altLang="ko-KR" sz="12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33F176-377D-E555-476C-6D708C534C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45C724-5B9C-18E1-A268-EE7AB3E05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984AA9-472B-1017-DE15-99E61F7CB6BF}"/>
              </a:ext>
            </a:extLst>
          </p:cNvPr>
          <p:cNvSpPr txBox="1"/>
          <p:nvPr/>
        </p:nvSpPr>
        <p:spPr>
          <a:xfrm>
            <a:off x="1259632" y="1772816"/>
            <a:ext cx="3168352" cy="4616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b="1" dirty="0"/>
              <a:t>c:set </a:t>
            </a:r>
            <a:r>
              <a:rPr lang="en-US" altLang="ko-KR" sz="1200" dirty="0"/>
              <a:t>var="u_name" value="</a:t>
            </a:r>
            <a:r>
              <a:rPr lang="ko-KR" altLang="en-US" sz="1200" dirty="0"/>
              <a:t>조재한</a:t>
            </a:r>
            <a:r>
              <a:rPr lang="en-US" altLang="ko-KR" sz="1200" dirty="0"/>
              <a:t>"/&gt;</a:t>
            </a:r>
          </a:p>
          <a:p>
            <a:r>
              <a:rPr lang="en-US" altLang="ko-KR" sz="1200" dirty="0"/>
              <a:t>${name}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B96CF0-E18F-A674-B592-1B38F4ADB41D}"/>
              </a:ext>
            </a:extLst>
          </p:cNvPr>
          <p:cNvSpPr txBox="1"/>
          <p:nvPr/>
        </p:nvSpPr>
        <p:spPr>
          <a:xfrm>
            <a:off x="1259632" y="2970019"/>
            <a:ext cx="3168352" cy="4616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b="1" dirty="0"/>
              <a:t>c:set </a:t>
            </a:r>
            <a:r>
              <a:rPr lang="en-US" altLang="ko-KR" sz="1200" dirty="0"/>
              <a:t>var="age" value="20"/&gt;</a:t>
            </a:r>
            <a:br>
              <a:rPr lang="en-US" altLang="ko-KR" sz="1200" dirty="0"/>
            </a:br>
            <a:r>
              <a:rPr lang="en-US" altLang="ko-KR" sz="1200" dirty="0"/>
              <a:t>&lt;</a:t>
            </a:r>
            <a:r>
              <a:rPr lang="en-US" altLang="ko-KR" sz="1200" b="1" dirty="0"/>
              <a:t>c:out </a:t>
            </a:r>
            <a:r>
              <a:rPr lang="en-US" altLang="ko-KR" sz="1200" dirty="0"/>
              <a:t>value="${age}"/&gt;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5C926B-81A3-3DE8-8AAD-8B07194BA290}"/>
              </a:ext>
            </a:extLst>
          </p:cNvPr>
          <p:cNvSpPr txBox="1"/>
          <p:nvPr/>
        </p:nvSpPr>
        <p:spPr>
          <a:xfrm>
            <a:off x="1258496" y="4005064"/>
            <a:ext cx="3168352" cy="10156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b="1" dirty="0"/>
              <a:t>c:set </a:t>
            </a:r>
            <a:r>
              <a:rPr lang="en-US" altLang="ko-KR" sz="1200" dirty="0"/>
              <a:t>var="score" value="90"/&gt;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/>
              <a:t>&lt;</a:t>
            </a:r>
            <a:r>
              <a:rPr lang="en-US" altLang="ko-KR" sz="1200" b="1" dirty="0"/>
              <a:t>c:if </a:t>
            </a:r>
            <a:r>
              <a:rPr lang="en-US" altLang="ko-KR" sz="1200" dirty="0"/>
              <a:t>test="${score &gt;= 80}"&gt;</a:t>
            </a:r>
            <a:br>
              <a:rPr lang="en-US" altLang="ko-KR" sz="1200" dirty="0"/>
            </a:br>
            <a:r>
              <a:rPr lang="en-US" altLang="ko-KR" sz="1200" dirty="0"/>
              <a:t>       </a:t>
            </a:r>
            <a:r>
              <a:rPr lang="ko-KR" altLang="en-US" sz="1200" dirty="0"/>
              <a:t>합격</a:t>
            </a:r>
            <a:br>
              <a:rPr lang="ko-KR" altLang="en-US" sz="1200" dirty="0"/>
            </a:br>
            <a:r>
              <a:rPr lang="en-US" altLang="ko-KR" sz="1200" dirty="0"/>
              <a:t>&lt;</a:t>
            </a:r>
            <a:r>
              <a:rPr lang="en-US" altLang="ko-KR" sz="1200" b="1" dirty="0"/>
              <a:t>/c:if</a:t>
            </a:r>
            <a:r>
              <a:rPr lang="en-US" altLang="ko-KR" sz="12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924429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F27B5-2ED8-10E0-938C-823E43C7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B3A5D-C22F-DEAF-E10F-33F2FC226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Taglib Directive 4</a:t>
            </a:r>
            <a:br>
              <a:rPr lang="en-US" altLang="ko-KR" dirty="0"/>
            </a:br>
            <a:r>
              <a:rPr lang="en-US" altLang="ko-KR" dirty="0"/>
              <a:t>					JSTL Core </a:t>
            </a:r>
            <a:r>
              <a:rPr lang="ko-KR" altLang="en-US" dirty="0"/>
              <a:t>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9171C0-CD51-AFCA-E53D-C09AE055F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000" b="1" dirty="0"/>
              <a:t>c:choose</a:t>
            </a:r>
          </a:p>
          <a:p>
            <a:pPr lvl="1"/>
            <a:r>
              <a:rPr lang="en-US" altLang="ko-KR" sz="1000" b="1" dirty="0"/>
              <a:t>switch</a:t>
            </a:r>
            <a:r>
              <a:rPr lang="ko-KR" altLang="en-US" sz="1000" b="1" dirty="0"/>
              <a:t>문과 동일한 역할을 수행</a:t>
            </a:r>
            <a:endParaRPr lang="en-US" altLang="ko-KR" sz="1000" b="1" dirty="0"/>
          </a:p>
          <a:p>
            <a:pPr lvl="1"/>
            <a:endParaRPr lang="en-US" altLang="ko-KR" sz="1000" b="1" dirty="0"/>
          </a:p>
          <a:p>
            <a:pPr lvl="1"/>
            <a:endParaRPr lang="en-US" altLang="ko-KR" sz="1000" b="1" dirty="0"/>
          </a:p>
          <a:p>
            <a:pPr lvl="1"/>
            <a:endParaRPr lang="en-US" altLang="ko-KR" sz="1000" b="1" dirty="0"/>
          </a:p>
          <a:p>
            <a:pPr lvl="1"/>
            <a:endParaRPr lang="en-US" altLang="ko-KR" sz="1000" b="1" dirty="0"/>
          </a:p>
          <a:p>
            <a:pPr lvl="1"/>
            <a:endParaRPr lang="en-US" altLang="ko-KR" sz="1000" b="1" dirty="0"/>
          </a:p>
          <a:p>
            <a:pPr lvl="1"/>
            <a:endParaRPr lang="en-US" altLang="ko-KR" sz="1000" b="1" dirty="0"/>
          </a:p>
          <a:p>
            <a:pPr lvl="1"/>
            <a:endParaRPr lang="en-US" altLang="ko-KR" sz="1000" b="1" dirty="0"/>
          </a:p>
          <a:p>
            <a:pPr lvl="1"/>
            <a:endParaRPr lang="en-US" altLang="ko-KR" sz="1000" b="1" dirty="0"/>
          </a:p>
          <a:p>
            <a:pPr lvl="1"/>
            <a:endParaRPr lang="en-US" altLang="ko-KR" sz="1000" b="1" dirty="0"/>
          </a:p>
          <a:p>
            <a:pPr marL="457200" lvl="1" indent="0">
              <a:buNone/>
            </a:pPr>
            <a:endParaRPr lang="en-US" altLang="ko-KR" sz="1000" b="1" dirty="0"/>
          </a:p>
          <a:p>
            <a:endParaRPr lang="en-US" altLang="ko-KR" sz="1000" b="1" dirty="0"/>
          </a:p>
          <a:p>
            <a:endParaRPr lang="en-US" altLang="ko-KR" sz="1000" b="1" dirty="0"/>
          </a:p>
          <a:p>
            <a:r>
              <a:rPr lang="en-US" altLang="ko-KR" sz="1000" b="1" dirty="0"/>
              <a:t>c:forEach</a:t>
            </a:r>
          </a:p>
          <a:p>
            <a:pPr lvl="1"/>
            <a:r>
              <a:rPr lang="ko-KR" altLang="en-US" sz="1000" b="1" dirty="0"/>
              <a:t>반복문으로 사용되는 문법</a:t>
            </a:r>
          </a:p>
          <a:p>
            <a:pPr lvl="1"/>
            <a:endParaRPr lang="en-US" altLang="ko-KR" sz="1000" dirty="0"/>
          </a:p>
          <a:p>
            <a:pPr lvl="1"/>
            <a:endParaRPr lang="en-US" altLang="ko-KR" sz="1000" dirty="0"/>
          </a:p>
          <a:p>
            <a:pPr lvl="1"/>
            <a:endParaRPr lang="en-US" altLang="ko-KR" sz="1000" b="1" dirty="0"/>
          </a:p>
          <a:p>
            <a:pPr lvl="1"/>
            <a:endParaRPr lang="en-US" altLang="ko-KR" sz="1000" b="1" dirty="0"/>
          </a:p>
          <a:p>
            <a:pPr lvl="1"/>
            <a:endParaRPr lang="en-US" altLang="ko-KR" sz="1000" b="1" dirty="0"/>
          </a:p>
          <a:p>
            <a:pPr marL="457200" lvl="1" indent="0">
              <a:buNone/>
            </a:pPr>
            <a:endParaRPr lang="en-US" altLang="ko-KR" sz="10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8ABAC2-E9E0-C8B4-2B97-C0DAFA9E8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z="1000" smtClean="0"/>
              <a:pPr>
                <a:defRPr/>
              </a:pPr>
              <a:t>21</a:t>
            </a:fld>
            <a:endParaRPr lang="en-US" altLang="ko-KR" sz="100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437BF0-AD7F-8B32-7E21-867C375D0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B6462A-A923-1B4B-5357-963D2F9CA8AF}"/>
              </a:ext>
            </a:extLst>
          </p:cNvPr>
          <p:cNvSpPr txBox="1"/>
          <p:nvPr/>
        </p:nvSpPr>
        <p:spPr>
          <a:xfrm>
            <a:off x="1237556" y="1628800"/>
            <a:ext cx="3240360" cy="240065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&lt;c:set var="score" value="85"/&gt;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en-US" altLang="ko-KR" sz="1000" dirty="0"/>
              <a:t>&lt;</a:t>
            </a:r>
            <a:r>
              <a:rPr lang="en-US" altLang="ko-KR" sz="1000" b="1" dirty="0"/>
              <a:t>c:choose</a:t>
            </a:r>
            <a:r>
              <a:rPr lang="en-US" altLang="ko-KR" sz="1000" dirty="0"/>
              <a:t>&gt;</a:t>
            </a:r>
            <a:br>
              <a:rPr lang="en-US" altLang="ko-KR" sz="1000" dirty="0"/>
            </a:br>
            <a:r>
              <a:rPr lang="en-US" altLang="ko-KR" sz="1000" dirty="0"/>
              <a:t>   &lt;c:when test="${score &gt;= 90}"&gt;</a:t>
            </a:r>
            <a:br>
              <a:rPr lang="en-US" altLang="ko-KR" sz="1000" dirty="0"/>
            </a:br>
            <a:r>
              <a:rPr lang="en-US" altLang="ko-KR" sz="1000" dirty="0"/>
              <a:t>        A</a:t>
            </a:r>
            <a:r>
              <a:rPr lang="ko-KR" altLang="en-US" sz="1000" dirty="0"/>
              <a:t>학점</a:t>
            </a:r>
            <a:br>
              <a:rPr lang="ko-KR" altLang="en-US" sz="1000" dirty="0"/>
            </a:br>
            <a:r>
              <a:rPr lang="ko-KR" altLang="en-US" sz="1000" dirty="0"/>
              <a:t>   </a:t>
            </a:r>
            <a:r>
              <a:rPr lang="en-US" altLang="ko-KR" sz="1000" dirty="0"/>
              <a:t>&lt;/c:when&gt;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en-US" altLang="ko-KR" sz="1000" dirty="0"/>
              <a:t>   &lt;c:when test="${score &gt;= 80}"&gt;</a:t>
            </a:r>
            <a:br>
              <a:rPr lang="en-US" altLang="ko-KR" sz="1000" dirty="0"/>
            </a:br>
            <a:r>
              <a:rPr lang="en-US" altLang="ko-KR" sz="1000" dirty="0"/>
              <a:t>        B</a:t>
            </a:r>
            <a:r>
              <a:rPr lang="ko-KR" altLang="en-US" sz="1000" dirty="0"/>
              <a:t>학점</a:t>
            </a:r>
            <a:br>
              <a:rPr lang="ko-KR" altLang="en-US" sz="1000" dirty="0"/>
            </a:br>
            <a:r>
              <a:rPr lang="ko-KR" altLang="en-US" sz="1000" dirty="0"/>
              <a:t>   </a:t>
            </a:r>
            <a:r>
              <a:rPr lang="en-US" altLang="ko-KR" sz="1000" dirty="0"/>
              <a:t>&lt;/c:when&gt;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en-US" altLang="ko-KR" sz="1000" dirty="0"/>
              <a:t>   &lt;c:otherwise&gt;</a:t>
            </a:r>
            <a:br>
              <a:rPr lang="en-US" altLang="ko-KR" sz="1000" dirty="0"/>
            </a:br>
            <a:r>
              <a:rPr lang="en-US" altLang="ko-KR" sz="1000" dirty="0"/>
              <a:t>        C</a:t>
            </a:r>
            <a:r>
              <a:rPr lang="ko-KR" altLang="en-US" sz="1000" dirty="0"/>
              <a:t>학점</a:t>
            </a:r>
            <a:br>
              <a:rPr lang="ko-KR" altLang="en-US" sz="1000" dirty="0"/>
            </a:br>
            <a:r>
              <a:rPr lang="ko-KR" altLang="en-US" sz="1000" dirty="0"/>
              <a:t>   </a:t>
            </a:r>
            <a:r>
              <a:rPr lang="en-US" altLang="ko-KR" sz="1000" dirty="0"/>
              <a:t>&lt;/c:otherwise&gt;</a:t>
            </a:r>
            <a:br>
              <a:rPr lang="en-US" altLang="ko-KR" sz="1000" dirty="0"/>
            </a:br>
            <a:r>
              <a:rPr lang="en-US" altLang="ko-KR" sz="1000" dirty="0"/>
              <a:t>&lt;</a:t>
            </a:r>
            <a:r>
              <a:rPr lang="en-US" altLang="ko-KR" sz="1000" b="1" dirty="0"/>
              <a:t>/c:choose</a:t>
            </a:r>
            <a:r>
              <a:rPr lang="en-US" altLang="ko-KR" sz="1000" dirty="0"/>
              <a:t>&gt;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15CA56-2533-BC1D-3D47-F69AD0F5851E}"/>
              </a:ext>
            </a:extLst>
          </p:cNvPr>
          <p:cNvSpPr txBox="1"/>
          <p:nvPr/>
        </p:nvSpPr>
        <p:spPr>
          <a:xfrm>
            <a:off x="1259632" y="4653136"/>
            <a:ext cx="3168352" cy="132343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&lt;c:</a:t>
            </a:r>
            <a:r>
              <a:rPr lang="en-US" altLang="ko-KR" sz="1000" b="1" dirty="0"/>
              <a:t>forEach</a:t>
            </a:r>
            <a:br>
              <a:rPr lang="en-US" altLang="ko-KR" sz="1000" dirty="0"/>
            </a:br>
            <a:r>
              <a:rPr lang="en-US" altLang="ko-KR" sz="1000" dirty="0"/>
              <a:t>begin="1"</a:t>
            </a:r>
            <a:br>
              <a:rPr lang="en-US" altLang="ko-KR" sz="1000" dirty="0"/>
            </a:br>
            <a:r>
              <a:rPr lang="en-US" altLang="ko-KR" sz="1000" dirty="0"/>
              <a:t>end="5"</a:t>
            </a:r>
            <a:br>
              <a:rPr lang="en-US" altLang="ko-KR" sz="1000" dirty="0"/>
            </a:br>
            <a:r>
              <a:rPr lang="en-US" altLang="ko-KR" sz="1000" dirty="0"/>
              <a:t>var="i"&gt;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en-US" altLang="ko-KR" sz="1000" dirty="0"/>
              <a:t>${i}&lt;br&gt;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en-US" altLang="ko-KR" sz="1000" b="1" dirty="0"/>
              <a:t>&lt;/c:forEach&gt;</a:t>
            </a:r>
          </a:p>
        </p:txBody>
      </p:sp>
    </p:spTree>
    <p:extLst>
      <p:ext uri="{BB962C8B-B14F-4D97-AF65-F5344CB8AC3E}">
        <p14:creationId xmlns:p14="http://schemas.microsoft.com/office/powerpoint/2010/main" val="1898592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9BB48-2CAE-F593-0CD5-7EF2FADAF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65BD37-6A24-965D-3E67-262E5FDE1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Taglib Directive 5</a:t>
            </a:r>
            <a:br>
              <a:rPr lang="en-US" altLang="ko-KR" dirty="0"/>
            </a:br>
            <a:r>
              <a:rPr lang="en-US" altLang="ko-KR" dirty="0"/>
              <a:t>					JSTL Core </a:t>
            </a:r>
            <a:r>
              <a:rPr lang="ko-KR" altLang="en-US" dirty="0"/>
              <a:t>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1E22A6-9326-9884-B905-E225204DD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b="1" dirty="0"/>
              <a:t>배열 출력</a:t>
            </a:r>
            <a:endParaRPr lang="en-US" altLang="ko-KR" sz="1600" b="1" dirty="0"/>
          </a:p>
          <a:p>
            <a:pPr lvl="1"/>
            <a:r>
              <a:rPr lang="ko-KR" altLang="en-US" sz="1400" b="1" dirty="0"/>
              <a:t>스크립트 코드와 함께 아래 같이 조합하여 사용할 수 있음</a:t>
            </a:r>
            <a:endParaRPr lang="en-US" altLang="ko-KR" sz="1400" b="1" dirty="0"/>
          </a:p>
          <a:p>
            <a:pPr lvl="1"/>
            <a:endParaRPr lang="en-US" altLang="ko-KR" sz="1000" b="1" dirty="0"/>
          </a:p>
          <a:p>
            <a:pPr lvl="1"/>
            <a:endParaRPr lang="en-US" altLang="ko-KR" sz="1000" b="1" dirty="0"/>
          </a:p>
          <a:p>
            <a:pPr lvl="1"/>
            <a:endParaRPr lang="en-US" altLang="ko-KR" sz="1000" b="1" dirty="0"/>
          </a:p>
          <a:p>
            <a:pPr lvl="1"/>
            <a:endParaRPr lang="en-US" altLang="ko-KR" sz="1000" b="1" dirty="0"/>
          </a:p>
          <a:p>
            <a:pPr lvl="1"/>
            <a:endParaRPr lang="en-US" altLang="ko-KR" sz="1000" b="1" dirty="0"/>
          </a:p>
          <a:p>
            <a:pPr lvl="1"/>
            <a:endParaRPr lang="en-US" altLang="ko-KR" sz="1000" b="1" dirty="0"/>
          </a:p>
          <a:p>
            <a:pPr lvl="1"/>
            <a:endParaRPr lang="en-US" altLang="ko-KR" sz="1000" b="1" dirty="0"/>
          </a:p>
          <a:p>
            <a:pPr lvl="1"/>
            <a:endParaRPr lang="en-US" altLang="ko-KR" sz="1000" b="1" dirty="0"/>
          </a:p>
          <a:p>
            <a:pPr marL="457200" lvl="1" indent="0">
              <a:buNone/>
            </a:pPr>
            <a:endParaRPr lang="en-US" altLang="ko-KR" sz="1000" b="1" dirty="0"/>
          </a:p>
          <a:p>
            <a:endParaRPr lang="en-US" altLang="ko-KR" sz="1000" b="1" dirty="0"/>
          </a:p>
          <a:p>
            <a:endParaRPr lang="en-US" altLang="ko-KR" sz="1000" b="1" dirty="0"/>
          </a:p>
          <a:p>
            <a:pPr lvl="1"/>
            <a:endParaRPr lang="en-US" altLang="ko-KR" sz="1000" dirty="0"/>
          </a:p>
          <a:p>
            <a:pPr lvl="1"/>
            <a:endParaRPr lang="en-US" altLang="ko-KR" sz="1000" dirty="0"/>
          </a:p>
          <a:p>
            <a:pPr lvl="1"/>
            <a:endParaRPr lang="en-US" altLang="ko-KR" sz="1000" b="1" dirty="0"/>
          </a:p>
          <a:p>
            <a:pPr lvl="1"/>
            <a:endParaRPr lang="en-US" altLang="ko-KR" sz="1000" b="1" dirty="0"/>
          </a:p>
          <a:p>
            <a:pPr lvl="1"/>
            <a:endParaRPr lang="en-US" altLang="ko-KR" sz="1000" b="1" dirty="0"/>
          </a:p>
          <a:p>
            <a:pPr marL="457200" lvl="1" indent="0">
              <a:buNone/>
            </a:pPr>
            <a:endParaRPr lang="en-US" altLang="ko-KR" sz="10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628E21-967F-045A-6161-3BAA759AE1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z="1000" smtClean="0"/>
              <a:pPr>
                <a:defRPr/>
              </a:pPr>
              <a:t>22</a:t>
            </a:fld>
            <a:endParaRPr lang="en-US" altLang="ko-KR" sz="100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9F8A1A-D2DB-4CB3-6A9F-455815F51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E24BD2-EAD0-6ECB-7D23-E8FD60421331}"/>
              </a:ext>
            </a:extLst>
          </p:cNvPr>
          <p:cNvSpPr txBox="1"/>
          <p:nvPr/>
        </p:nvSpPr>
        <p:spPr>
          <a:xfrm>
            <a:off x="1259632" y="1844824"/>
            <a:ext cx="3240360" cy="8309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&lt;%</a:t>
            </a:r>
            <a:br>
              <a:rPr lang="en-US" altLang="ko-KR" sz="1200" dirty="0"/>
            </a:br>
            <a:r>
              <a:rPr lang="en-US" altLang="ko-KR" sz="1200" dirty="0"/>
              <a:t>     String[] fruits = {"</a:t>
            </a:r>
            <a:r>
              <a:rPr lang="ko-KR" altLang="en-US" sz="1200" dirty="0"/>
              <a:t>사과</a:t>
            </a:r>
            <a:r>
              <a:rPr lang="en-US" altLang="ko-KR" sz="1200" dirty="0"/>
              <a:t>","</a:t>
            </a:r>
            <a:r>
              <a:rPr lang="ko-KR" altLang="en-US" sz="1200" dirty="0"/>
              <a:t>딸기</a:t>
            </a:r>
            <a:r>
              <a:rPr lang="en-US" altLang="ko-KR" sz="1200" dirty="0"/>
              <a:t>","</a:t>
            </a:r>
            <a:r>
              <a:rPr lang="ko-KR" altLang="en-US" sz="1200" dirty="0"/>
              <a:t>포도</a:t>
            </a:r>
            <a:r>
              <a:rPr lang="en-US" altLang="ko-KR" sz="1200" dirty="0"/>
              <a:t>"};</a:t>
            </a:r>
            <a:br>
              <a:rPr lang="en-US" altLang="ko-KR" sz="1200" dirty="0"/>
            </a:br>
            <a:r>
              <a:rPr lang="en-US" altLang="ko-KR" sz="1200" dirty="0"/>
              <a:t>     request.setAttribute("fruits", fruits);</a:t>
            </a:r>
            <a:br>
              <a:rPr lang="en-US" altLang="ko-KR" sz="1200" dirty="0"/>
            </a:br>
            <a:r>
              <a:rPr lang="en-US" altLang="ko-KR" sz="1200" dirty="0"/>
              <a:t>%&gt;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022A735-1C5D-0847-E057-2D2208FABEB0}"/>
              </a:ext>
            </a:extLst>
          </p:cNvPr>
          <p:cNvCxnSpPr/>
          <p:nvPr/>
        </p:nvCxnSpPr>
        <p:spPr bwMode="auto">
          <a:xfrm>
            <a:off x="2875640" y="2852936"/>
            <a:ext cx="0" cy="432048"/>
          </a:xfrm>
          <a:prstGeom prst="straightConnector1">
            <a:avLst/>
          </a:prstGeom>
          <a:noFill/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4243CE-120A-B210-0CCC-9CB72E9B5E84}"/>
              </a:ext>
            </a:extLst>
          </p:cNvPr>
          <p:cNvSpPr txBox="1"/>
          <p:nvPr/>
        </p:nvSpPr>
        <p:spPr>
          <a:xfrm>
            <a:off x="1255460" y="3448210"/>
            <a:ext cx="3240360" cy="64633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b="1" dirty="0"/>
              <a:t>c:forEach </a:t>
            </a:r>
            <a:r>
              <a:rPr lang="en-US" altLang="ko-KR" sz="1200" dirty="0"/>
              <a:t>items="${fruits}“ var="fruit"&gt;</a:t>
            </a:r>
            <a:br>
              <a:rPr lang="en-US" altLang="ko-KR" sz="1200" dirty="0"/>
            </a:br>
            <a:r>
              <a:rPr lang="en-US" altLang="ko-KR" sz="1200" dirty="0"/>
              <a:t>    ${fruit}&lt;br&gt;</a:t>
            </a:r>
            <a:br>
              <a:rPr lang="en-US" altLang="ko-KR" sz="1200" dirty="0"/>
            </a:br>
            <a:r>
              <a:rPr lang="en-US" altLang="ko-KR" sz="1200" dirty="0"/>
              <a:t>&lt;/c:forEach&gt;</a:t>
            </a:r>
          </a:p>
        </p:txBody>
      </p:sp>
    </p:spTree>
    <p:extLst>
      <p:ext uri="{BB962C8B-B14F-4D97-AF65-F5344CB8AC3E}">
        <p14:creationId xmlns:p14="http://schemas.microsoft.com/office/powerpoint/2010/main" val="2873061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C0924-84BD-4FEE-523A-4C30DA099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전체 예제 </a:t>
            </a:r>
            <a:r>
              <a:rPr lang="en-US" altLang="ko-KR" dirty="0"/>
              <a:t>1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간단한 회원정보 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EEA648-E8F1-3D6B-A574-02CCBC4F2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2400" cy="349251"/>
          </a:xfrm>
        </p:spPr>
        <p:txBody>
          <a:bodyPr>
            <a:normAutofit lnSpcReduction="10000"/>
          </a:bodyPr>
          <a:lstStyle/>
          <a:p>
            <a:r>
              <a:rPr lang="en-US" altLang="ko-KR" sz="1600" dirty="0"/>
              <a:t>form.jsp</a:t>
            </a:r>
            <a:endParaRPr lang="ko-KR" altLang="en-US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5E89B6-7B21-CEC5-247D-727E53E83E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7CF075-29D9-28B1-7145-24CA224DF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6973FD-6E32-AC4E-7E15-47F3F8277728}"/>
              </a:ext>
            </a:extLst>
          </p:cNvPr>
          <p:cNvSpPr txBox="1"/>
          <p:nvPr/>
        </p:nvSpPr>
        <p:spPr>
          <a:xfrm>
            <a:off x="539552" y="1491021"/>
            <a:ext cx="5756510" cy="424731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&lt;%@ page contentType="text/html; charset=UTF-8" %&gt;</a:t>
            </a:r>
          </a:p>
          <a:p>
            <a:endParaRPr lang="en-US" altLang="ko-KR" sz="1000" dirty="0"/>
          </a:p>
          <a:p>
            <a:r>
              <a:rPr lang="en-US" altLang="ko-KR" sz="1000" dirty="0"/>
              <a:t>&lt;!DOCTYPE html&gt;</a:t>
            </a:r>
          </a:p>
          <a:p>
            <a:r>
              <a:rPr lang="en-US" altLang="ko-KR" sz="1000" dirty="0"/>
              <a:t>&lt;html&gt;</a:t>
            </a:r>
          </a:p>
          <a:p>
            <a:r>
              <a:rPr lang="en-US" altLang="ko-KR" sz="1000" dirty="0"/>
              <a:t>&lt;head&gt;</a:t>
            </a:r>
          </a:p>
          <a:p>
            <a:r>
              <a:rPr lang="en-US" altLang="ko-KR" sz="1000" dirty="0"/>
              <a:t>&lt;meta charset="UTF-8"&gt;</a:t>
            </a:r>
          </a:p>
          <a:p>
            <a:r>
              <a:rPr lang="en-US" altLang="ko-KR" sz="1000" dirty="0"/>
              <a:t>&lt;title&gt;</a:t>
            </a:r>
            <a:r>
              <a:rPr lang="ko-KR" altLang="en-US" sz="1000" dirty="0"/>
              <a:t>회원 정보 입력</a:t>
            </a:r>
            <a:r>
              <a:rPr lang="en-US" altLang="ko-KR" sz="1000" dirty="0"/>
              <a:t>&lt;/title&gt;</a:t>
            </a:r>
          </a:p>
          <a:p>
            <a:r>
              <a:rPr lang="en-US" altLang="ko-KR" sz="1000" dirty="0"/>
              <a:t>&lt;/head&gt;</a:t>
            </a:r>
          </a:p>
          <a:p>
            <a:r>
              <a:rPr lang="en-US" altLang="ko-KR" sz="1000" dirty="0"/>
              <a:t>&lt;body&gt;</a:t>
            </a:r>
          </a:p>
          <a:p>
            <a:endParaRPr lang="en-US" altLang="ko-KR" sz="1000" dirty="0"/>
          </a:p>
          <a:p>
            <a:r>
              <a:rPr lang="en-US" altLang="ko-KR" sz="1000" dirty="0"/>
              <a:t>&lt;h2&gt;</a:t>
            </a:r>
            <a:r>
              <a:rPr lang="ko-KR" altLang="en-US" sz="1000" dirty="0"/>
              <a:t>회원 정보 입력</a:t>
            </a:r>
            <a:r>
              <a:rPr lang="en-US" altLang="ko-KR" sz="1000" dirty="0"/>
              <a:t>&lt;/h2&gt;</a:t>
            </a:r>
          </a:p>
          <a:p>
            <a:r>
              <a:rPr lang="en-US" altLang="ko-KR" sz="1000" dirty="0"/>
              <a:t>&lt;form action="result.jsp" method="post"&gt;</a:t>
            </a:r>
          </a:p>
          <a:p>
            <a:r>
              <a:rPr lang="en-US" altLang="ko-KR" sz="1000" dirty="0"/>
              <a:t>	</a:t>
            </a:r>
            <a:r>
              <a:rPr lang="ko-KR" altLang="en-US" sz="1000" dirty="0"/>
              <a:t>이름 </a:t>
            </a:r>
            <a:r>
              <a:rPr lang="en-US" altLang="ko-KR" sz="1000" dirty="0"/>
              <a:t>: &lt;input type="text" name="name"&gt;&lt;br&gt;&lt;br&gt;</a:t>
            </a:r>
          </a:p>
          <a:p>
            <a:endParaRPr lang="en-US" altLang="ko-KR" sz="1000" dirty="0"/>
          </a:p>
          <a:p>
            <a:r>
              <a:rPr lang="en-US" altLang="ko-KR" sz="1000" dirty="0"/>
              <a:t>	</a:t>
            </a:r>
            <a:r>
              <a:rPr lang="ko-KR" altLang="en-US" sz="1000" dirty="0"/>
              <a:t>나이 </a:t>
            </a:r>
            <a:r>
              <a:rPr lang="en-US" altLang="ko-KR" sz="1000" dirty="0"/>
              <a:t>: &lt;input type="text" name="age"&gt;&lt;br&gt;&lt;br&gt;</a:t>
            </a:r>
          </a:p>
          <a:p>
            <a:endParaRPr lang="en-US" altLang="ko-KR" sz="1000" dirty="0"/>
          </a:p>
          <a:p>
            <a:r>
              <a:rPr lang="en-US" altLang="ko-KR" sz="1000" dirty="0"/>
              <a:t>	</a:t>
            </a:r>
            <a:r>
              <a:rPr lang="ko-KR" altLang="en-US" sz="1000" dirty="0"/>
              <a:t>취미 </a:t>
            </a:r>
            <a:r>
              <a:rPr lang="en-US" altLang="ko-KR" sz="1000" dirty="0"/>
              <a:t>:</a:t>
            </a:r>
          </a:p>
          <a:p>
            <a:r>
              <a:rPr lang="en-US" altLang="ko-KR" sz="1000" dirty="0"/>
              <a:t>	&lt;input type="checkbox" name="hobby" value="</a:t>
            </a:r>
            <a:r>
              <a:rPr lang="ko-KR" altLang="en-US" sz="1000" dirty="0"/>
              <a:t>게임</a:t>
            </a:r>
            <a:r>
              <a:rPr lang="en-US" altLang="ko-KR" sz="1000" dirty="0"/>
              <a:t>"&gt;</a:t>
            </a:r>
            <a:r>
              <a:rPr lang="ko-KR" altLang="en-US" sz="1000" dirty="0"/>
              <a:t>게임</a:t>
            </a:r>
          </a:p>
          <a:p>
            <a:r>
              <a:rPr lang="ko-KR" altLang="en-US" sz="1000" dirty="0"/>
              <a:t>	</a:t>
            </a:r>
            <a:r>
              <a:rPr lang="en-US" altLang="ko-KR" sz="1000" dirty="0"/>
              <a:t>&lt;input type="checkbox" name="hobby" value="</a:t>
            </a:r>
            <a:r>
              <a:rPr lang="ko-KR" altLang="en-US" sz="1000" dirty="0"/>
              <a:t>운동</a:t>
            </a:r>
            <a:r>
              <a:rPr lang="en-US" altLang="ko-KR" sz="1000" dirty="0"/>
              <a:t>"&gt;</a:t>
            </a:r>
            <a:r>
              <a:rPr lang="ko-KR" altLang="en-US" sz="1000" dirty="0"/>
              <a:t>운동</a:t>
            </a:r>
          </a:p>
          <a:p>
            <a:r>
              <a:rPr lang="ko-KR" altLang="en-US" sz="1000" dirty="0"/>
              <a:t>	</a:t>
            </a:r>
            <a:r>
              <a:rPr lang="en-US" altLang="ko-KR" sz="1000" dirty="0"/>
              <a:t>&lt;input type="checkbox" name="hobby" value="</a:t>
            </a:r>
            <a:r>
              <a:rPr lang="ko-KR" altLang="en-US" sz="1000" dirty="0"/>
              <a:t>음악</a:t>
            </a:r>
            <a:r>
              <a:rPr lang="en-US" altLang="ko-KR" sz="1000" dirty="0"/>
              <a:t>"&gt;</a:t>
            </a:r>
            <a:r>
              <a:rPr lang="ko-KR" altLang="en-US" sz="1000" dirty="0"/>
              <a:t>음악</a:t>
            </a:r>
          </a:p>
          <a:p>
            <a:r>
              <a:rPr lang="ko-KR" altLang="en-US" sz="1000" dirty="0"/>
              <a:t>	</a:t>
            </a:r>
            <a:r>
              <a:rPr lang="en-US" altLang="ko-KR" sz="1000" dirty="0"/>
              <a:t>&lt;br&gt;&lt;br&gt;</a:t>
            </a:r>
          </a:p>
          <a:p>
            <a:endParaRPr lang="en-US" altLang="ko-KR" sz="1000" dirty="0"/>
          </a:p>
          <a:p>
            <a:r>
              <a:rPr lang="en-US" altLang="ko-KR" sz="1000" dirty="0"/>
              <a:t>	&lt;input type="submit" value="</a:t>
            </a:r>
            <a:r>
              <a:rPr lang="ko-KR" altLang="en-US" sz="1000" dirty="0"/>
              <a:t>전송</a:t>
            </a:r>
            <a:r>
              <a:rPr lang="en-US" altLang="ko-KR" sz="1000" dirty="0"/>
              <a:t>"&gt;</a:t>
            </a:r>
          </a:p>
          <a:p>
            <a:r>
              <a:rPr lang="en-US" altLang="ko-KR" sz="1000" dirty="0"/>
              <a:t>&lt;/form&gt;</a:t>
            </a:r>
          </a:p>
          <a:p>
            <a:endParaRPr lang="en-US" altLang="ko-KR" sz="1000" dirty="0"/>
          </a:p>
          <a:p>
            <a:r>
              <a:rPr lang="en-US" altLang="ko-KR" sz="1000" dirty="0"/>
              <a:t>&lt;/body&gt;</a:t>
            </a:r>
          </a:p>
          <a:p>
            <a:r>
              <a:rPr lang="en-US" altLang="ko-KR" sz="10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760459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B1C13-5E9F-3C2A-B870-7624CAF57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51046-5046-3496-6955-B825A7535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전체 예제 </a:t>
            </a:r>
            <a:r>
              <a:rPr lang="en-US" altLang="ko-KR" dirty="0"/>
              <a:t>2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간단한 회원정보 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8CDB25-98F8-4798-0751-7074B16BA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2400" cy="349251"/>
          </a:xfrm>
        </p:spPr>
        <p:txBody>
          <a:bodyPr>
            <a:normAutofit lnSpcReduction="10000"/>
          </a:bodyPr>
          <a:lstStyle/>
          <a:p>
            <a:r>
              <a:rPr lang="en-US" altLang="ko-KR" sz="1600" dirty="0"/>
              <a:t>result.jsp</a:t>
            </a:r>
            <a:endParaRPr lang="ko-KR" altLang="en-US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A1474-441A-3215-023A-FBC3A54DEF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6CF1FE-FE9E-4706-70BD-E81764F67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99C81A-0C5E-D4A5-85B7-AC7BD3C912D9}"/>
              </a:ext>
            </a:extLst>
          </p:cNvPr>
          <p:cNvSpPr txBox="1"/>
          <p:nvPr/>
        </p:nvSpPr>
        <p:spPr>
          <a:xfrm>
            <a:off x="434157" y="1477036"/>
            <a:ext cx="7522219" cy="1092606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&lt;%@ page contentType="text/html; charset=UTF-8" %&gt;</a:t>
            </a:r>
          </a:p>
          <a:p>
            <a:r>
              <a:rPr lang="en-US" altLang="ko-KR" sz="800" dirty="0"/>
              <a:t>&lt;%@ page import="java.util.Date" %&gt;</a:t>
            </a:r>
          </a:p>
          <a:p>
            <a:r>
              <a:rPr lang="en-US" altLang="ko-KR" sz="800" dirty="0"/>
              <a:t>&lt;%@ taglib uri="http://java.sun.com/jsp/jstl/core" prefix="c" %&gt;</a:t>
            </a:r>
          </a:p>
          <a:p>
            <a:endParaRPr lang="en-US" altLang="ko-KR" sz="800" dirty="0"/>
          </a:p>
          <a:p>
            <a:r>
              <a:rPr lang="en-US" altLang="ko-KR" sz="800" dirty="0"/>
              <a:t>&lt;%</a:t>
            </a:r>
          </a:p>
          <a:p>
            <a:r>
              <a:rPr lang="en-US" altLang="ko-KR" sz="800" dirty="0"/>
              <a:t>	request.setCharacterEncoding("UTF-8");</a:t>
            </a:r>
          </a:p>
          <a:p>
            <a:endParaRPr lang="en-US" altLang="ko-KR" sz="800" dirty="0"/>
          </a:p>
          <a:p>
            <a:r>
              <a:rPr lang="en-US" altLang="ko-KR" sz="800" dirty="0"/>
              <a:t>	String name = request.getParameter("name");</a:t>
            </a:r>
          </a:p>
          <a:p>
            <a:r>
              <a:rPr lang="en-US" altLang="ko-KR" sz="800" dirty="0"/>
              <a:t>	String age = request.getParameter("age");</a:t>
            </a:r>
          </a:p>
          <a:p>
            <a:r>
              <a:rPr lang="en-US" altLang="ko-KR" sz="800" dirty="0"/>
              <a:t>	String[] hobby = request.getParameterValues("hobby");</a:t>
            </a:r>
          </a:p>
          <a:p>
            <a:endParaRPr lang="en-US" altLang="ko-KR" sz="800" dirty="0"/>
          </a:p>
          <a:p>
            <a:r>
              <a:rPr lang="en-US" altLang="ko-KR" sz="800" dirty="0"/>
              <a:t>	request.setAttribute("name", name);</a:t>
            </a:r>
          </a:p>
          <a:p>
            <a:r>
              <a:rPr lang="en-US" altLang="ko-KR" sz="800" dirty="0"/>
              <a:t>	request.setAttribute("age", age);</a:t>
            </a:r>
          </a:p>
          <a:p>
            <a:r>
              <a:rPr lang="en-US" altLang="ko-KR" sz="800" dirty="0"/>
              <a:t>	request.setAttribute("hobby", hobby);</a:t>
            </a:r>
          </a:p>
          <a:p>
            <a:endParaRPr lang="en-US" altLang="ko-KR" sz="800" dirty="0"/>
          </a:p>
          <a:p>
            <a:r>
              <a:rPr lang="en-US" altLang="ko-KR" sz="800" dirty="0"/>
              <a:t>	session.setAttribute("loginName", name);</a:t>
            </a:r>
          </a:p>
          <a:p>
            <a:r>
              <a:rPr lang="en-US" altLang="ko-KR" sz="800" dirty="0"/>
              <a:t>	Date today = new Date();</a:t>
            </a:r>
          </a:p>
          <a:p>
            <a:r>
              <a:rPr lang="en-US" altLang="ko-KR" sz="800" dirty="0"/>
              <a:t>%&gt;</a:t>
            </a:r>
          </a:p>
          <a:p>
            <a:endParaRPr lang="en-US" altLang="ko-KR" sz="800" dirty="0"/>
          </a:p>
          <a:p>
            <a:r>
              <a:rPr lang="en-US" altLang="ko-KR" sz="800" dirty="0"/>
              <a:t>&lt;!DOCTYPE html&gt;</a:t>
            </a:r>
          </a:p>
          <a:p>
            <a:r>
              <a:rPr lang="en-US" altLang="ko-KR" sz="800" dirty="0"/>
              <a:t>&lt;html&gt;</a:t>
            </a:r>
          </a:p>
          <a:p>
            <a:r>
              <a:rPr lang="en-US" altLang="ko-KR" sz="800" dirty="0"/>
              <a:t>&lt;head&gt;</a:t>
            </a:r>
          </a:p>
          <a:p>
            <a:r>
              <a:rPr lang="en-US" altLang="ko-KR" sz="800" dirty="0"/>
              <a:t>&lt;meta charset="UTF-8"&gt;</a:t>
            </a:r>
          </a:p>
          <a:p>
            <a:r>
              <a:rPr lang="en-US" altLang="ko-KR" sz="800" dirty="0"/>
              <a:t>&lt;title&gt;</a:t>
            </a:r>
            <a:r>
              <a:rPr lang="ko-KR" altLang="en-US" sz="800" dirty="0"/>
              <a:t>회원 정보 결과</a:t>
            </a:r>
            <a:r>
              <a:rPr lang="en-US" altLang="ko-KR" sz="800" dirty="0"/>
              <a:t>&lt;/title&gt;</a:t>
            </a:r>
          </a:p>
          <a:p>
            <a:r>
              <a:rPr lang="en-US" altLang="ko-KR" sz="800" dirty="0"/>
              <a:t>&lt;style&gt;</a:t>
            </a:r>
          </a:p>
          <a:p>
            <a:r>
              <a:rPr lang="en-US" altLang="ko-KR" sz="800" dirty="0"/>
              <a:t>	table {</a:t>
            </a:r>
          </a:p>
          <a:p>
            <a:r>
              <a:rPr lang="en-US" altLang="ko-KR" sz="800" dirty="0"/>
              <a:t>		border: 1px solid black;</a:t>
            </a:r>
          </a:p>
          <a:p>
            <a:r>
              <a:rPr lang="en-US" altLang="ko-KR" sz="800" dirty="0"/>
              <a:t>	}</a:t>
            </a:r>
          </a:p>
          <a:p>
            <a:endParaRPr lang="en-US" altLang="ko-KR" sz="800" dirty="0"/>
          </a:p>
          <a:p>
            <a:r>
              <a:rPr lang="en-US" altLang="ko-KR" sz="800" dirty="0"/>
              <a:t>	th, td {</a:t>
            </a:r>
          </a:p>
          <a:p>
            <a:r>
              <a:rPr lang="en-US" altLang="ko-KR" sz="800" dirty="0"/>
              <a:t>		border: 1px solid black;</a:t>
            </a:r>
          </a:p>
          <a:p>
            <a:r>
              <a:rPr lang="en-US" altLang="ko-KR" sz="800" dirty="0"/>
              <a:t>		padding: 10px;</a:t>
            </a:r>
          </a:p>
          <a:p>
            <a:r>
              <a:rPr lang="en-US" altLang="ko-KR" sz="800" dirty="0"/>
              <a:t>		text-align: center;</a:t>
            </a:r>
          </a:p>
          <a:p>
            <a:r>
              <a:rPr lang="en-US" altLang="ko-KR" sz="800" dirty="0"/>
              <a:t>	}</a:t>
            </a:r>
          </a:p>
          <a:p>
            <a:endParaRPr lang="en-US" altLang="ko-KR" sz="800" dirty="0"/>
          </a:p>
          <a:p>
            <a:r>
              <a:rPr lang="en-US" altLang="ko-KR" sz="800" dirty="0"/>
              <a:t>	th {</a:t>
            </a:r>
          </a:p>
          <a:p>
            <a:r>
              <a:rPr lang="en-US" altLang="ko-KR" sz="800" dirty="0"/>
              <a:t>		background-color: </a:t>
            </a:r>
            <a:r>
              <a:rPr lang="en-US" altLang="ko-KR" sz="800" dirty="0" err="1"/>
              <a:t>lightgray</a:t>
            </a:r>
            <a:r>
              <a:rPr lang="en-US" altLang="ko-KR" sz="800" dirty="0"/>
              <a:t>;</a:t>
            </a:r>
          </a:p>
          <a:p>
            <a:r>
              <a:rPr lang="en-US" altLang="ko-KR" sz="800" dirty="0"/>
              <a:t>	}</a:t>
            </a:r>
          </a:p>
          <a:p>
            <a:r>
              <a:rPr lang="en-US" altLang="ko-KR" sz="800" dirty="0"/>
              <a:t>&lt;/style&gt;</a:t>
            </a:r>
          </a:p>
          <a:p>
            <a:r>
              <a:rPr lang="en-US" altLang="ko-KR" sz="800" dirty="0"/>
              <a:t>&lt;/head&gt;</a:t>
            </a:r>
          </a:p>
          <a:p>
            <a:r>
              <a:rPr lang="en-US" altLang="ko-KR" sz="800" dirty="0"/>
              <a:t>&lt;body&gt;</a:t>
            </a:r>
          </a:p>
          <a:p>
            <a:endParaRPr lang="en-US" altLang="ko-KR" sz="800" dirty="0"/>
          </a:p>
          <a:p>
            <a:r>
              <a:rPr lang="en-US" altLang="ko-KR" sz="800" dirty="0"/>
              <a:t>&lt;h2&gt;</a:t>
            </a:r>
            <a:r>
              <a:rPr lang="ko-KR" altLang="en-US" sz="800" dirty="0"/>
              <a:t>회원 정보 결과</a:t>
            </a:r>
            <a:r>
              <a:rPr lang="en-US" altLang="ko-KR" sz="800" dirty="0"/>
              <a:t>&lt;/h2&gt;</a:t>
            </a:r>
          </a:p>
          <a:p>
            <a:r>
              <a:rPr lang="en-US" altLang="ko-KR" sz="800" dirty="0"/>
              <a:t>&lt;p&gt;</a:t>
            </a:r>
            <a:r>
              <a:rPr lang="ko-KR" altLang="en-US" sz="800" dirty="0"/>
              <a:t>처리 시간 </a:t>
            </a:r>
            <a:r>
              <a:rPr lang="en-US" altLang="ko-KR" sz="800" dirty="0"/>
              <a:t>: &lt;%= today %&gt;&lt;/p&gt;</a:t>
            </a:r>
          </a:p>
          <a:p>
            <a:r>
              <a:rPr lang="en-US" altLang="ko-KR" sz="800" dirty="0"/>
              <a:t>&lt;table&gt;</a:t>
            </a:r>
          </a:p>
          <a:p>
            <a:r>
              <a:rPr lang="en-US" altLang="ko-KR" sz="800" dirty="0"/>
              <a:t>	&lt;tr&gt;</a:t>
            </a:r>
          </a:p>
          <a:p>
            <a:r>
              <a:rPr lang="en-US" altLang="ko-KR" sz="800" dirty="0"/>
              <a:t>		&lt;th&gt;</a:t>
            </a:r>
            <a:r>
              <a:rPr lang="ko-KR" altLang="en-US" sz="800" dirty="0"/>
              <a:t>항목</a:t>
            </a:r>
            <a:r>
              <a:rPr lang="en-US" altLang="ko-KR" sz="800" dirty="0"/>
              <a:t>&lt;/th&gt;&lt;th&gt;</a:t>
            </a:r>
            <a:r>
              <a:rPr lang="ko-KR" altLang="en-US" sz="800" dirty="0"/>
              <a:t>내용</a:t>
            </a:r>
            <a:r>
              <a:rPr lang="en-US" altLang="ko-KR" sz="800" dirty="0"/>
              <a:t>&lt;/th&gt;</a:t>
            </a:r>
          </a:p>
          <a:p>
            <a:r>
              <a:rPr lang="en-US" altLang="ko-KR" sz="800" dirty="0"/>
              <a:t>	&lt;/tr&gt;</a:t>
            </a:r>
          </a:p>
          <a:p>
            <a:endParaRPr lang="en-US" altLang="ko-KR" sz="800" dirty="0"/>
          </a:p>
          <a:p>
            <a:r>
              <a:rPr lang="en-US" altLang="ko-KR" sz="800" dirty="0"/>
              <a:t>	&lt;tr&gt;</a:t>
            </a:r>
          </a:p>
          <a:p>
            <a:r>
              <a:rPr lang="en-US" altLang="ko-KR" sz="800" dirty="0"/>
              <a:t>		&lt;td&gt;</a:t>
            </a:r>
            <a:r>
              <a:rPr lang="ko-KR" altLang="en-US" sz="800" dirty="0"/>
              <a:t>이름</a:t>
            </a:r>
            <a:r>
              <a:rPr lang="en-US" altLang="ko-KR" sz="800" dirty="0"/>
              <a:t>&lt;/td&gt;&lt;td&gt;${name}&lt;/td&gt;</a:t>
            </a:r>
          </a:p>
          <a:p>
            <a:r>
              <a:rPr lang="en-US" altLang="ko-KR" sz="800" dirty="0"/>
              <a:t>	&lt;/tr&gt;</a:t>
            </a:r>
          </a:p>
          <a:p>
            <a:endParaRPr lang="en-US" altLang="ko-KR" sz="800" dirty="0"/>
          </a:p>
          <a:p>
            <a:r>
              <a:rPr lang="en-US" altLang="ko-KR" sz="800" dirty="0"/>
              <a:t>	&lt;tr&gt;</a:t>
            </a:r>
          </a:p>
          <a:p>
            <a:r>
              <a:rPr lang="en-US" altLang="ko-KR" sz="800" dirty="0"/>
              <a:t>		&lt;td&gt;</a:t>
            </a:r>
            <a:r>
              <a:rPr lang="ko-KR" altLang="en-US" sz="800" dirty="0"/>
              <a:t>나이</a:t>
            </a:r>
            <a:r>
              <a:rPr lang="en-US" altLang="ko-KR" sz="800" dirty="0"/>
              <a:t>&lt;/td&gt;&lt;td&gt;${age}&lt;/td&gt;</a:t>
            </a:r>
          </a:p>
          <a:p>
            <a:r>
              <a:rPr lang="en-US" altLang="ko-KR" sz="800" dirty="0"/>
              <a:t>	&lt;/tr&gt;</a:t>
            </a:r>
          </a:p>
          <a:p>
            <a:endParaRPr lang="en-US" altLang="ko-KR" sz="800" dirty="0"/>
          </a:p>
          <a:p>
            <a:r>
              <a:rPr lang="en-US" altLang="ko-KR" sz="800" dirty="0"/>
              <a:t>	&lt;tr&gt;</a:t>
            </a:r>
          </a:p>
          <a:p>
            <a:r>
              <a:rPr lang="en-US" altLang="ko-KR" sz="800" dirty="0"/>
              <a:t>		&lt;td&gt;</a:t>
            </a:r>
            <a:r>
              <a:rPr lang="ko-KR" altLang="en-US" sz="800" dirty="0"/>
              <a:t>취미</a:t>
            </a:r>
            <a:r>
              <a:rPr lang="en-US" altLang="ko-KR" sz="800" dirty="0"/>
              <a:t>&lt;/td&gt;</a:t>
            </a:r>
          </a:p>
          <a:p>
            <a:r>
              <a:rPr lang="en-US" altLang="ko-KR" sz="800" dirty="0"/>
              <a:t>		&lt;td&gt;</a:t>
            </a:r>
          </a:p>
          <a:p>
            <a:r>
              <a:rPr lang="en-US" altLang="ko-KR" sz="800" dirty="0"/>
              <a:t>			&lt;c:choose&gt;</a:t>
            </a:r>
          </a:p>
          <a:p>
            <a:r>
              <a:rPr lang="en-US" altLang="ko-KR" sz="800" dirty="0"/>
              <a:t>				&lt;c:when test="${empty hobby}"&gt;</a:t>
            </a:r>
          </a:p>
          <a:p>
            <a:r>
              <a:rPr lang="en-US" altLang="ko-KR" sz="800" dirty="0"/>
              <a:t>					</a:t>
            </a:r>
            <a:r>
              <a:rPr lang="ko-KR" altLang="en-US" sz="800" dirty="0"/>
              <a:t>선택한 취미가 없습니다</a:t>
            </a:r>
            <a:r>
              <a:rPr lang="en-US" altLang="ko-KR" sz="800" dirty="0"/>
              <a:t>.</a:t>
            </a:r>
          </a:p>
          <a:p>
            <a:r>
              <a:rPr lang="en-US" altLang="ko-KR" sz="800" dirty="0"/>
              <a:t>				&lt;/c:when&gt;</a:t>
            </a:r>
          </a:p>
          <a:p>
            <a:r>
              <a:rPr lang="en-US" altLang="ko-KR" sz="800" dirty="0"/>
              <a:t>				&lt;c:otherwise&gt;</a:t>
            </a:r>
          </a:p>
          <a:p>
            <a:r>
              <a:rPr lang="en-US" altLang="ko-KR" sz="800" dirty="0"/>
              <a:t>					&lt;c:forEach var="h" items="${hobby}"&gt;</a:t>
            </a:r>
          </a:p>
          <a:p>
            <a:r>
              <a:rPr lang="en-US" altLang="ko-KR" sz="800" dirty="0"/>
              <a:t>						${h}&lt;br&gt;</a:t>
            </a:r>
          </a:p>
          <a:p>
            <a:r>
              <a:rPr lang="en-US" altLang="ko-KR" sz="800" dirty="0"/>
              <a:t>					&lt;/c:forEach&gt;</a:t>
            </a:r>
          </a:p>
          <a:p>
            <a:r>
              <a:rPr lang="en-US" altLang="ko-KR" sz="800" dirty="0"/>
              <a:t>				&lt;/c:otherwise&gt;</a:t>
            </a:r>
          </a:p>
          <a:p>
            <a:r>
              <a:rPr lang="en-US" altLang="ko-KR" sz="800" dirty="0"/>
              <a:t>			&lt;/c:choose&gt;</a:t>
            </a:r>
          </a:p>
          <a:p>
            <a:r>
              <a:rPr lang="en-US" altLang="ko-KR" sz="800" dirty="0"/>
              <a:t>		&lt;/td&gt;</a:t>
            </a:r>
          </a:p>
          <a:p>
            <a:r>
              <a:rPr lang="en-US" altLang="ko-KR" sz="800" dirty="0"/>
              <a:t>	&lt;/tr&gt;</a:t>
            </a:r>
          </a:p>
          <a:p>
            <a:r>
              <a:rPr lang="en-US" altLang="ko-KR" sz="800" dirty="0"/>
              <a:t>&lt;/table&gt;</a:t>
            </a:r>
          </a:p>
          <a:p>
            <a:endParaRPr lang="en-US" altLang="ko-KR" sz="800" dirty="0"/>
          </a:p>
          <a:p>
            <a:r>
              <a:rPr lang="en-US" altLang="ko-KR" sz="800" dirty="0"/>
              <a:t>&lt;br&gt;</a:t>
            </a:r>
          </a:p>
          <a:p>
            <a:endParaRPr lang="en-US" altLang="ko-KR" sz="800" dirty="0"/>
          </a:p>
          <a:p>
            <a:r>
              <a:rPr lang="en-US" altLang="ko-KR" sz="800" dirty="0"/>
              <a:t>&lt;c:if test="${age &gt;= 20}"&gt;</a:t>
            </a:r>
          </a:p>
          <a:p>
            <a:r>
              <a:rPr lang="en-US" altLang="ko-KR" sz="800" dirty="0"/>
              <a:t>	&lt;p&gt;</a:t>
            </a:r>
            <a:r>
              <a:rPr lang="ko-KR" altLang="en-US" sz="800" dirty="0"/>
              <a:t>성인입니다</a:t>
            </a:r>
            <a:r>
              <a:rPr lang="en-US" altLang="ko-KR" sz="800" dirty="0"/>
              <a:t>.&lt;/p&gt;</a:t>
            </a:r>
          </a:p>
          <a:p>
            <a:r>
              <a:rPr lang="en-US" altLang="ko-KR" sz="800" dirty="0"/>
              <a:t>&lt;/c:if&gt;</a:t>
            </a:r>
          </a:p>
          <a:p>
            <a:endParaRPr lang="en-US" altLang="ko-KR" sz="800" dirty="0"/>
          </a:p>
          <a:p>
            <a:r>
              <a:rPr lang="en-US" altLang="ko-KR" sz="800" dirty="0"/>
              <a:t>&lt;c:if test="${age &lt; 20}"&gt;</a:t>
            </a:r>
          </a:p>
          <a:p>
            <a:r>
              <a:rPr lang="en-US" altLang="ko-KR" sz="800" dirty="0"/>
              <a:t>	&lt;p&gt;</a:t>
            </a:r>
            <a:r>
              <a:rPr lang="ko-KR" altLang="en-US" sz="800" dirty="0"/>
              <a:t>미성년자입니다</a:t>
            </a:r>
            <a:r>
              <a:rPr lang="en-US" altLang="ko-KR" sz="800" dirty="0"/>
              <a:t>.&lt;/p&gt;</a:t>
            </a:r>
          </a:p>
          <a:p>
            <a:r>
              <a:rPr lang="en-US" altLang="ko-KR" sz="800" dirty="0"/>
              <a:t>&lt;/c:if&gt;</a:t>
            </a:r>
          </a:p>
          <a:p>
            <a:endParaRPr lang="en-US" altLang="ko-KR" sz="800" dirty="0"/>
          </a:p>
          <a:p>
            <a:r>
              <a:rPr lang="en-US" altLang="ko-KR" sz="800" dirty="0"/>
              <a:t>&lt;p&gt;</a:t>
            </a:r>
            <a:r>
              <a:rPr lang="ko-KR" altLang="en-US" sz="800" dirty="0"/>
              <a:t>세션에 저장된 이름 </a:t>
            </a:r>
            <a:r>
              <a:rPr lang="en-US" altLang="ko-KR" sz="800" dirty="0"/>
              <a:t>: &lt;%= session.getAttribute("loginName") %&gt;&lt;/p&gt;</a:t>
            </a:r>
          </a:p>
          <a:p>
            <a:endParaRPr lang="en-US" altLang="ko-KR" sz="800" dirty="0"/>
          </a:p>
          <a:p>
            <a:r>
              <a:rPr lang="en-US" altLang="ko-KR" sz="800" dirty="0"/>
              <a:t>&lt;/body&gt;</a:t>
            </a:r>
          </a:p>
          <a:p>
            <a:r>
              <a:rPr lang="en-US" altLang="ko-KR" sz="8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941031806"/>
      </p:ext>
    </p:extLst>
  </p:cSld>
  <p:clrMapOvr>
    <a:masterClrMapping/>
  </p:clrMapOvr>
</p:sld>
</file>

<file path=ppt/theme/theme1.xml><?xml version="1.0" encoding="utf-8"?>
<a:theme xmlns:a="http://schemas.openxmlformats.org/drawingml/2006/main" name="가로-고려대마크-1">
  <a:themeElements>
    <a:clrScheme name="가로-고려대마크-1 7">
      <a:dk1>
        <a:srgbClr val="41280D"/>
      </a:dk1>
      <a:lt1>
        <a:srgbClr val="FFFFFF"/>
      </a:lt1>
      <a:dk2>
        <a:srgbClr val="336699"/>
      </a:dk2>
      <a:lt2>
        <a:srgbClr val="666633"/>
      </a:lt2>
      <a:accent1>
        <a:srgbClr val="FFCC66"/>
      </a:accent1>
      <a:accent2>
        <a:srgbClr val="993300"/>
      </a:accent2>
      <a:accent3>
        <a:srgbClr val="FFFFFF"/>
      </a:accent3>
      <a:accent4>
        <a:srgbClr val="362109"/>
      </a:accent4>
      <a:accent5>
        <a:srgbClr val="FFE2B8"/>
      </a:accent5>
      <a:accent6>
        <a:srgbClr val="8A2D00"/>
      </a:accent6>
      <a:hlink>
        <a:srgbClr val="008000"/>
      </a:hlink>
      <a:folHlink>
        <a:srgbClr val="969696"/>
      </a:folHlink>
    </a:clrScheme>
    <a:fontScheme name="가로-고려대마크-1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1149350" rtl="0" eaLnBrk="1" fontAlgn="base" latinLnBrk="1" hangingPunct="1">
          <a:lnSpc>
            <a:spcPct val="5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>
            <a:tab pos="574675" algn="l"/>
          </a:tabLst>
          <a:defRPr kumimoji="1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1149350" rtl="0" eaLnBrk="1" fontAlgn="base" latinLnBrk="1" hangingPunct="1">
          <a:lnSpc>
            <a:spcPct val="5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>
            <a:tab pos="574675" algn="l"/>
          </a:tabLst>
          <a:defRPr kumimoji="1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lnDef>
  </a:objectDefaults>
  <a:extraClrSchemeLst>
    <a:extraClrScheme>
      <a:clrScheme name="가로-고려대마크-1 1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2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6">
        <a:dk1>
          <a:srgbClr val="41280D"/>
        </a:dk1>
        <a:lt1>
          <a:srgbClr val="FFFFFF"/>
        </a:lt1>
        <a:dk2>
          <a:srgbClr val="B4783C"/>
        </a:dk2>
        <a:lt2>
          <a:srgbClr val="666633"/>
        </a:lt2>
        <a:accent1>
          <a:srgbClr val="4C7188"/>
        </a:accent1>
        <a:accent2>
          <a:srgbClr val="FF9900"/>
        </a:accent2>
        <a:accent3>
          <a:srgbClr val="FFFFFF"/>
        </a:accent3>
        <a:accent4>
          <a:srgbClr val="362109"/>
        </a:accent4>
        <a:accent5>
          <a:srgbClr val="B2BBC3"/>
        </a:accent5>
        <a:accent6>
          <a:srgbClr val="E78A00"/>
        </a:accent6>
        <a:hlink>
          <a:srgbClr val="0000CC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7">
        <a:dk1>
          <a:srgbClr val="41280D"/>
        </a:dk1>
        <a:lt1>
          <a:srgbClr val="FFFFFF"/>
        </a:lt1>
        <a:dk2>
          <a:srgbClr val="336699"/>
        </a:dk2>
        <a:lt2>
          <a:srgbClr val="666633"/>
        </a:lt2>
        <a:accent1>
          <a:srgbClr val="FFCC66"/>
        </a:accent1>
        <a:accent2>
          <a:srgbClr val="993300"/>
        </a:accent2>
        <a:accent3>
          <a:srgbClr val="FFFFFF"/>
        </a:accent3>
        <a:accent4>
          <a:srgbClr val="362109"/>
        </a:accent4>
        <a:accent5>
          <a:srgbClr val="FFE2B8"/>
        </a:accent5>
        <a:accent6>
          <a:srgbClr val="8A2D00"/>
        </a:accent6>
        <a:hlink>
          <a:srgbClr val="008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6566</TotalTime>
  <Words>2845</Words>
  <Application>Microsoft Office PowerPoint</Application>
  <PresentationFormat>화면 슬라이드 쇼(4:3)</PresentationFormat>
  <Paragraphs>522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굴림</vt:lpstr>
      <vt:lpstr>맑은 고딕</vt:lpstr>
      <vt:lpstr>Tahoma</vt:lpstr>
      <vt:lpstr>Times New Roman</vt:lpstr>
      <vt:lpstr>Wingdings</vt:lpstr>
      <vt:lpstr>가로-고려대마크-1</vt:lpstr>
      <vt:lpstr>웹 프로그래밍  part 7</vt:lpstr>
      <vt:lpstr>JSP에 대해서 알아보자!       JSP란?</vt:lpstr>
      <vt:lpstr>JSP에 대해서 알아보자!       HTML과 JSP</vt:lpstr>
      <vt:lpstr>JSP에 대해서 알아보자!      JSP 페이지 처리 과정</vt:lpstr>
      <vt:lpstr>JSP의 스크립트 요소    선언문, 스크립트릿, 표현식(1)</vt:lpstr>
      <vt:lpstr>JSP의 스크립트 요소    선언문, 스크립트릿, 표현식(2)</vt:lpstr>
      <vt:lpstr>JSP의 스크립트 요소    선언문, 스크립트릿, 표현식(3)</vt:lpstr>
      <vt:lpstr>JSP 내장객체 1       내장 객체란?</vt:lpstr>
      <vt:lpstr>JSP 내장객체 2       request</vt:lpstr>
      <vt:lpstr>JSP 내장객체 3       response, out</vt:lpstr>
      <vt:lpstr>JSP 내장객체 4       session       </vt:lpstr>
      <vt:lpstr>JSP 내장객체 5      application</vt:lpstr>
      <vt:lpstr>JSP Directive 1</vt:lpstr>
      <vt:lpstr>JSP Directive 2      page directive</vt:lpstr>
      <vt:lpstr>JSP Directive 3      page directive</vt:lpstr>
      <vt:lpstr>JSP Directive 4      page directive</vt:lpstr>
      <vt:lpstr>JSP Directive 5      include directive </vt:lpstr>
      <vt:lpstr>Taglib Directive 1</vt:lpstr>
      <vt:lpstr>Taglib Directive 2</vt:lpstr>
      <vt:lpstr>Taglib Directive 3      JSTL Core 태그</vt:lpstr>
      <vt:lpstr>Taglib Directive 4      JSTL Core 태그</vt:lpstr>
      <vt:lpstr>Taglib Directive 5      JSTL Core 태그</vt:lpstr>
      <vt:lpstr>JSP 전체 예제 1      간단한 회원정보 출력</vt:lpstr>
      <vt:lpstr>JSP 전체 예제 2      간단한 회원정보 출력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정보기기 소프트웨어 설계(1학기)</dc:title>
  <dc:creator>조재한</dc:creator>
  <cp:lastModifiedBy>Jaehan Cho</cp:lastModifiedBy>
  <cp:revision>577</cp:revision>
  <dcterms:created xsi:type="dcterms:W3CDTF">2015-03-01T11:03:35Z</dcterms:created>
  <dcterms:modified xsi:type="dcterms:W3CDTF">2026-06-03T11:02:32Z</dcterms:modified>
</cp:coreProperties>
</file>
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emf" ContentType="image/x-emf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1.xml" ContentType="application/inkml+xml"/>
  <Override PartName="/ppt/ink/ink2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73" r:id="rId5"/>
  </p:sldMasterIdLst>
  <p:notesMasterIdLst>
    <p:notesMasterId r:id="rId7"/>
  </p:notesMasterIdLst>
  <p:sldIdLst>
    <p:sldId id="256" r:id="rId9"/>
    <p:sldId id="454" r:id="rId10"/>
    <p:sldId id="458" r:id="rId11"/>
    <p:sldId id="459" r:id="rId12"/>
    <p:sldId id="460" r:id="rId13"/>
    <p:sldId id="461" r:id="rId14"/>
    <p:sldId id="462" r:id="rId15"/>
    <p:sldId id="463" r:id="rId16"/>
    <p:sldId id="466" r:id="rId17"/>
    <p:sldId id="467" r:id="rId18"/>
    <p:sldId id="468" r:id="rId19"/>
    <p:sldId id="469" r:id="rId20"/>
    <p:sldId id="470" r:id="rId21"/>
    <p:sldId id="471" r:id="rId22"/>
    <p:sldId id="472" r:id="rId23"/>
    <p:sldId id="473" r:id="rId24"/>
    <p:sldId id="474" r:id="rId25"/>
    <p:sldId id="475" r:id="rId26"/>
    <p:sldId id="476" r:id="rId27"/>
    <p:sldId id="464" r:id="rId28"/>
    <p:sldId id="465" r:id="rId29"/>
  </p:sldIdLst>
  <p:sldSz cx="9144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 userDrawn="0">
          <p15:clr>
            <a:srgbClr val="A4A3A4"/>
          </p15:clr>
        </p15:guide>
        <p15:guide id="2" pos="2877" userDrawn="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0000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840" autoAdjust="0"/>
    <p:restoredTop sz="94660"/>
  </p:normalViewPr>
  <p:slideViewPr>
    <p:cSldViewPr snapToGrid="1" snapToObjects="1">
      <p:cViewPr varScale="1">
        <p:scale>
          <a:sx n="97" d="100"/>
          <a:sy n="97" d="100"/>
        </p:scale>
        <p:origin x="1992" y="306"/>
      </p:cViewPr>
      <p:guideLst>
        <p:guide orient="horz" pos="2157"/>
        <p:guide pos="287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5" Type="http://schemas.openxmlformats.org/officeDocument/2006/relationships/slideMaster" Target="slideMasters/slideMaster1.xml"></Relationship><Relationship Id="rId6" Type="http://schemas.openxmlformats.org/officeDocument/2006/relationships/theme" Target="theme/theme1.xml"></Relationship><Relationship Id="rId7" Type="http://schemas.openxmlformats.org/officeDocument/2006/relationships/notesMaster" Target="notesMasters/notesMaster1.xml"></Relationship><Relationship Id="rId9" Type="http://schemas.openxmlformats.org/officeDocument/2006/relationships/slide" Target="slides/slide1.xml"></Relationship><Relationship Id="rId10" Type="http://schemas.openxmlformats.org/officeDocument/2006/relationships/slide" Target="slides/slide2.xml"></Relationship><Relationship Id="rId11" Type="http://schemas.openxmlformats.org/officeDocument/2006/relationships/slide" Target="slides/slide3.xml"></Relationship><Relationship Id="rId12" Type="http://schemas.openxmlformats.org/officeDocument/2006/relationships/slide" Target="slides/slide4.xml"></Relationship><Relationship Id="rId13" Type="http://schemas.openxmlformats.org/officeDocument/2006/relationships/slide" Target="slides/slide5.xml"></Relationship><Relationship Id="rId14" Type="http://schemas.openxmlformats.org/officeDocument/2006/relationships/slide" Target="slides/slide6.xml"></Relationship><Relationship Id="rId15" Type="http://schemas.openxmlformats.org/officeDocument/2006/relationships/slide" Target="slides/slide7.xml"></Relationship><Relationship Id="rId16" Type="http://schemas.openxmlformats.org/officeDocument/2006/relationships/slide" Target="slides/slide8.xml"></Relationship><Relationship Id="rId17" Type="http://schemas.openxmlformats.org/officeDocument/2006/relationships/slide" Target="slides/slide9.xml"></Relationship><Relationship Id="rId18" Type="http://schemas.openxmlformats.org/officeDocument/2006/relationships/slide" Target="slides/slide10.xml"></Relationship><Relationship Id="rId19" Type="http://schemas.openxmlformats.org/officeDocument/2006/relationships/slide" Target="slides/slide11.xml"></Relationship><Relationship Id="rId20" Type="http://schemas.openxmlformats.org/officeDocument/2006/relationships/slide" Target="slides/slide12.xml"></Relationship><Relationship Id="rId21" Type="http://schemas.openxmlformats.org/officeDocument/2006/relationships/slide" Target="slides/slide13.xml"></Relationship><Relationship Id="rId22" Type="http://schemas.openxmlformats.org/officeDocument/2006/relationships/slide" Target="slides/slide14.xml"></Relationship><Relationship Id="rId23" Type="http://schemas.openxmlformats.org/officeDocument/2006/relationships/slide" Target="slides/slide15.xml"></Relationship><Relationship Id="rId24" Type="http://schemas.openxmlformats.org/officeDocument/2006/relationships/slide" Target="slides/slide16.xml"></Relationship><Relationship Id="rId25" Type="http://schemas.openxmlformats.org/officeDocument/2006/relationships/slide" Target="slides/slide17.xml"></Relationship><Relationship Id="rId26" Type="http://schemas.openxmlformats.org/officeDocument/2006/relationships/slide" Target="slides/slide18.xml"></Relationship><Relationship Id="rId27" Type="http://schemas.openxmlformats.org/officeDocument/2006/relationships/slide" Target="slides/slide19.xml"></Relationship><Relationship Id="rId28" Type="http://schemas.openxmlformats.org/officeDocument/2006/relationships/slide" Target="slides/slide20.xml"></Relationship><Relationship Id="rId29" Type="http://schemas.openxmlformats.org/officeDocument/2006/relationships/slide" Target="slides/slide21.xml"></Relationship><Relationship Id="rId30" Type="http://schemas.openxmlformats.org/officeDocument/2006/relationships/viewProps" Target="viewProps.xml"></Relationship><Relationship Id="rId31" Type="http://schemas.openxmlformats.org/officeDocument/2006/relationships/presProps" Target="presProps.xml"></Relationship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0,'88'111,"90"133,-22-44,199 200,-155-178,22 22,245 312,-245-245,22-45,200 378,-177-310,222 377,-245-445,-22 45,223 245,-268-312,157 134,-157-201,90 90,-156-156,22-22,-22 22,67 67,-67-112,89 112,-156-111,68 22,87 88,-132-110,22 22,22 44,-44-89,-23 1,45 44,-45-45,23-22,-22 23,66 66,-45-67,90 45,-23 22,0 67,178 266,-200-288,-22-23,0 45,0-45,22 45,-66-112,21 46,-21-24,-1 46,-22-68,67 112,-44-89,-1-22,67 88,-67-110,-21 21,43 67,-43-110,-23 21,0 1,0-1,0 0,0-21,-45 21,45-44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12040 0,'-178'66,"-88"134,-156 22,-622 467,444-334,-511 334,578-311,89-112,-401 267,468-288,-401 310,467-333,0 0,45 1,-223 154,245-177,44-22,-45-45,67 23,-177 133,177-156,1-22,43 0,45-44,-44 44,44-45,-22 1,45 0,-23 22,0-23,-22 1,0 22,0 0,0 44,22-22,-22-22,22 22,0-22,-44 66,88-88,-21-1,43 1,-88 22,67-22,-1-23,1 1,0-1,44-22,-23-22,1 22,-22 23,21-45,1 44,-22-22,22-22,22 23,-23-1,-21 0,22-22,0 0,22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3323 0,'-106'105,"-64"65,-295 295,-22 149,42-64,234-274,-128 189,170-253,42-43,-127 128,127-170,63-43,1 22,-1-21,22-22,-22 1,43-43,-21 42,0 1,42-43,0 0,-21-21,21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550 0,'0'21,"-64"42,1-21,-64 22,42 21,0-22,64-63,21 21,-21 0,0 1,0-22,0 0,21 21,-21 0,21 0,0 0,21-21,21 0,21 0,1 0,42-21,-43 21,22-21,-22 0,-20 0,-1-1,-21 22,0 0,1 0,-1 0,-21-21,21 21,-21-21,0 21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169 0,'0'84,"0"-42,0 64,0-42,0 63,0-43,0-20,-21 63,-1-21,22-43,-21-20,21 41,-21-20,21-43,-21 42,0 1,0 21,21-22,-21-21,21-20,0 20,0 0,0 1,0-22,0-21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825 84,'-64'0,"-20"0,-64-63,21 42,21 21,85 0,-22 0,1 0,21 0,0 0,-1 0,1 0,21 21,-21 0,0 0,21 0,-21-21,21 21,0 22,0-22,0 42,0-42,21 22,42-1,22 0,-43-20,1-1,84 21,-85-42,22 21,41 43,-41-43,-1 21,-20 1,-1-22,-42 0,42 21,-20 1,-22-1,21 0,-21 22,-21-22,21-21,-43 85,43-85,-42 22,21-1,-43 0,43 1,-64-1,43-21,21 0,-85 0,85 1,-21-22,-22 0,43 0,-21 0,-22-43,43 1,-64 0,64-22,21 22,-21-22,0 22,-21-43,42 64,0-21,0-1,21 1,-21 21,42-21,0-1,-21 43,22-42,20-22,-20 43,20 0,-42-21,43 21,-22-22,22 1,-1 0,-42 42,22-43,41-20,-84 63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2349 0,'-85'105,"-211"255,84-169,-126 211,84-127,127-148,-106 127,106-106,63-84,22-1,-22 43,1-21,21-43,20 0,-41 43,42-64,0 21,-22 1,22-22,-21 21,21 22,-1-22,-20 0,-42 43,84-85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0,'22'66,"0"1,0-45,0 89,-22-66,23-23,-23 22,22-22,-22 23,0-1,22-22,22 112,-21-68,-1-21,0 66,0-67,-22 1,23-23,-23 0,22-22,0 0,-22-22,22 22,0-22,-22 0,0-1,23 23,-1-22,0-22,0 21,-22 1,22-22,1 22,-23-1,22-21,22 0,-44 21,0 1,23 22,-1-22,0-45,-22 45,22-45,23 1,-23 21,-22 23,22 0,-22 0,0 22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0 377,'0'22,"0"23,22-23,22 67,-22-67,-22 23,23-1,-23 0,0-21,22-1,-22 0,0 0,0 0,22 1,0-23,0 0,-22 22,23 0,-23 23,0-23,22-22,-22 22,22 0,-22 0,0 1,22-23,-22 22,23-22,-23 22,22-22,-22 22,22-22,0 0,0 0,1-22,43-22,-21-23,21-22,134-177,-133 132,88-66,-110 134,21-45,-43 88,21 1,-44 0,22-22,-22 44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22,'22'22,"0"22,-22 23,44 44,-21-66,21 43,-22-65,-22 21,0-22,22 0,-22 1,23-23,-1 0,0 0,0-23,-22 1,45 0,-1-22,1 21,66-65,-67 43,1 1,66-23,-67 45,0 0,-21-23,21 23,-22 0,1 22,-1 0,0 0,-22-22,22 22,0 0,-22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3376 866,'-133'89,"-67"66,-67 23,-421 222,266-200,66 0,-66-23,156-43,66-45,44-23,-44 1,178-45,0-22,0 0,66 0,0 0,45 0,22 0,67 0,355 0,-200 0,1 22,265 45,-376-45,154 45,-266-67,-44 22,-45-22,23 0,-23 0,0 0,-44-44,0-1,-45-21,-244-290,22 112,-244-312,200 268,66-1,23 67,22-23,44 90,45-1,44 67,67 45,-1 0,1 44,44 44,67 89,22 45,89 288,-111-199,44 177,178 689,-244-644,89 222,-90-444,-44 44,1-223,-23 1,0-44,0-23,0 0,22-22,-22-22,22-45,23-199,-1 21,23 23,110-244,-88 266,-44 66,66-21,-45 22,156-90,-155 112,44 23,-44-24,66-65,-22 66,0-23,67-154,-89 154,-22-43,88-112,-88 178,-1-23,23 1,-22 44,-1 23,-66 66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0 444,'0'22,"0"0,0 0,22-22,-22 23,22-23,-22 22,0 0,0 0,0 1,22-1,-22 0,22-22,-22 44,23-21,-23-1,0 0,0 0,0 0,0 1,22-23,0-23,-22 1,0 0,22 0,0 22,1-22,-23-23,44 1,1-23,-45 45,22-23,22-21,45-1,-45 1,-44-1,45 22,22-21,-45 21,0 23,-22 0,22 0,-22 0,0 22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0 955,'0'89,"44"-1,0 24,1 43,-23-88,0-1,23 1,-1 0,-44-23,0 1,0-1,22 23,1-1,-1 1,0-23,22 90,-44-68,23-21,21 44,-44-67,0 0,22 22,-22-21,22-1,1-22,-1 0,-22-22,44-1,1-65,132-179,-65 89,43-22,156-200,-155 223,-23-1,111-89,-133 134,0 22,0 0,1 22,-68 45,0-1,1 1,-23-1,22 23,-21 0,-1 22,22-44,-44 44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799 888,'-66'22,"21"23,1-1,-45 1,44-23,-21 22,44-22,-1 1,1-23,22 22,-22-22,22 22,22-22,23 0,-1-22,-22 22,45 0,0 0,-23 0,23 0,-1 0,-44 0,45 0,0 22,-23-22,-22 0,1 0,-1 0,-22 22,22-22,0 0,0 0,-44 0,-22-22,-1 0,-43-23,43 23,-22-22,1-1,44 45,-1-22,-21 0,44 0,-22 22,0 0,-1 0,23 44,0 23,0-45,23 45,-23 22,22-45,0 23,-22-45,22 0,-22 0,22 0,-22 23,0-23,23 23,-1-1,0 23,0-23,0-22,-22 1,0-1,0 0,23 0,-1-22,-22-22,0-22,22-1,-22-22,0-110,0 21,0 45,22 0,-22-89,23 111,-1 0,-22 23,22-1,0-44,0 44,1 23,21-23,-44 45,0 0,0 0,0-1,0 1,-44 22,44 22,-89 23,44-1,-44 1,45-1,0 1,-67 43,44-43,22-1,-43 45,43-67,1-22,22 45,-1-1,-21-22,-23 45,67-45,-22 23,0-45,0 44,22-22,0 1,-23-1,1-22,22 22,0 0,0 0,22-22,45 0,44 23,378-23,-200 22,44-22,-22 22,89-22,-267 22,-89-22,23 0,-22 0,-1 0,-22 0,0 0,-44 0,0 0,-111-22,66 0,-155-67,66 22,-110-66,132 66,23 23,-89-111,134 110,-1 45,-22-67,23 45,21 0,-21-45,21 45,1 0,22 0,-90-45,68 23,0-1,-1 23,1 0,-23 0,67-23,-44 23,21 22,1 0,22-22,-22 0,0 22,0 0,-1 22,23 0,0 45,-22-23,0 112,22-68,-22-43,22 44,0-23,-22 23,22-44,0 43,0 1,0 22,0 0,0 1,66 21,1 89,-45-178,0 23,-22-22,22-23,23 44,-45-43,22-1,-22 0,22-22,1-44,-1 21,0-43,22-90,23 1,22-134,-22 178,-1-22,1-90,-23 135,-22-1,45 0,-45 44,1 1,-1 22,-22 0,22-1,22 23,-21 0,-23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1888 288,'-45'89,"-21"89,-68 111,46-156,43 22,-88 23,111-111,-45 44,45-111,0 44,22-21,0-1,44-22,-22-22,45-1,22 1,266-67,-133 89,-44-22,177 0,-288 22,44 0,0-22,-89 22,23 0,-23 0,0 0,1 0,-1 0,-22-23,-22 1,-1 22,-43-22,-90-22,-44-23,-89-44,-110-22,-268-156,356 178,45-23,66 46,66 43,45 1,67 44,0 0,0-23,22 46,44 21,1 1,110 154,-44-87,23 21,-46 0,112 67,-133-111,-23-22,23 21,-23-21,-44-23,67 45,-22-44,-23-1,0-22,-22 1,22-1,0 22,1-21,-23-1,0 22,22 23,22-23,1 23,21 66,-21-66,-23-45,22 45,-44-23,23-22,-1-22,-22 23,22-1,0 0,-22 0,23-22,-1 0,0-22,-22 0,22-23,0-88,23 0,66-245,-22 134,66-245,-66 289,44-133,-66 200,-23 21,1 46,-1 21,-44 23,0 0,23 0,-23 0,-23 22,-21 22,-23 0,1 0,21 23,-88 21,44 1,0-23,0 1,-44 44,0-23,-134 134,134-133,44 44,-22-44,-22 44,-23 22,89-89,1 23,-45 44,44-44,0-1,23 1,-89 66,88-110,-21 88,21-67,1-22,22 23,-1-23,1 0,0 0,0 1,0-23,22 22,0 0,22-22,0 0,22-22,23 22,133-67,155-22,-155 45,22-23,201-66,-290 88,22-21,112-23,-156 22,-44 45,22-22,22-1,-67 1,0 22,1-1,-1 23,-21 0,-1-22,0 22,0 0,-22 22,0-22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1688 0,'-133'177,"-90"68,-21 21,111-133,66-66,-66 111,66-134,1 67,21-66,1-1,21-22,1 45,0-67,0 22,22 0,-22-22,-1 23,1-1,22 0,-22 0,-45 45,45-45,-22 23,-23 21,23-21,21-1,1-22,0-22,22 23,-22-1,0-22,22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88 155,'0'22,"0"67,0-44,0 43,-22 90,0-45,0 23,0 66,22-111,0-22,0-22,0-23,0 0,0-21,0-1,0 0,0-44,0-23,22-21,-22-90,22 1,-22 22,22-23,-22 1,0-1,0 45,0 0,0 44,0 1,0 43,0 1,0 0,0 0,0 0,22 22,1 0,-1 0,0 22,0 0,0 45,1-23,21 23,-22 44,1-45,21 68,-22-90,-22 1,0-1,22-22,1 45,-1-45,-22 0,0 0,0 23,22-23,-22 23,0-23,22 22,0 1,1 21,-23-44,22 23,-22-23,0-22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0,'0'88,"0"23,0 23,0 88,0-133,0 66,0-88,0 0,0-45,0 22,0-22,0 1,0-1,0-22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0,'0'44,"0"0,0 1,22-1,0 23,0-23,-22 1,22 21,1 1,-1-67,0 44,-22-21,22 21,0-22,1-22,-23 23,22-1,0 0,23 0,-45 0,22-22,0 0,22 23,-21-23,-1 22,0 0,0-22,0 0,1 0,-1 0,-22-22,22 0,-22-1,0 1,22 0,-22-45,0 45,0-22,0 21,0-21,0 0,0-1,0 23,0 0,0 0,0-1,0 1,0 0,0 22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0 599,'22'0,"44"0,1 0,22 0,-45 0,-21 0,21 0,-22 0,23 0,-23 0,0 0,0 0,0 0,1 0,-1 0,0 0,0 0,1 0,21 0,-44-22,22 22,0 0,1-22,21 22,-22-22,0 22,1-23,-23 1,0 0,0 0,0-23,0 1,0-23,-23 45,23-22,0-1,-22 1,22-1,0 23,0 0,0 0,0 0,-22 22,22 22,-22 44,0 23,22-22,-23 133,1-67,22 23,0-90,0 23,0-22,0-23,0 1,0-1,0-22,0 0,0 1,0-1,0 0,0 0,0-22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0 222,'0'22,"0"45,0-23,0 23,0-23,0 0,0 1,0 22,0-45,0 44,0-43,0 43,0-21,0-1,0-22,0 1,0-1,0 0,22-22,-22-22,0 0,0-1,22-21,-22-23,0 23,0-23,0 1,22-1,-22 0,22-22,-22 23,0 44,0-45,0 45,23-1,-23-21,22 44,0-22,-22-23,22 45,0 0,1-22,-1 0,22 0,1 22,-1-22,1 22,-1 0,0 0,23 0,-45 0,45 0,-45 0,45 0,-23 0,1 0,-1 0,1 0,-23 0,0 0,0 0,0 0,1 0,-23 22,0 0,0 0,0 0,0 23,0-23,-23 22,23 23,-22-45,22 23,-22-1,0 23,0-45,-1 22,23 1,-22-23,22 0,-22 1,22-1,0 0,-22 0,22 0,-23 1,-21-23,22 22,0 0,-45 0,23 0,-45 1,66-23,-43 22,-1 0,23-22,-1 22,1 1,22-23,-1 0,1 0,0 0,0 0,0 0,44 22,0-22,45 22,22 0,-1-22,-21 22,133 1,-67-1,-44-22,-22 0,-1 0,-21 0,-1 0,-22 0,1 0,-1 0,0 0,0 0,-44 0,22 0</inkml:trace>
</inkml:ink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67E21-F3AE-43E5-8344-710FD999BB11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8DAAC-260C-484A-B0EF-1E8BC18453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590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0" y="1497013"/>
            <a:ext cx="9144000" cy="50800"/>
            <a:chOff x="0" y="583"/>
            <a:chExt cx="5760" cy="50"/>
          </a:xfrm>
        </p:grpSpPr>
        <p:sp>
          <p:nvSpPr>
            <p:cNvPr id="6" name="Rectangle 9"/>
            <p:cNvSpPr>
              <a:spLocks noChangeArrowheads="1"/>
            </p:cNvSpPr>
            <p:nvPr userDrawn="1"/>
          </p:nvSpPr>
          <p:spPr bwMode="auto">
            <a:xfrm>
              <a:off x="0" y="583"/>
              <a:ext cx="1645" cy="50"/>
            </a:xfrm>
            <a:prstGeom prst="rect">
              <a:avLst/>
            </a:prstGeom>
            <a:solidFill>
              <a:srgbClr val="000099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7" name="Rectangle 10"/>
            <p:cNvSpPr>
              <a:spLocks noChangeArrowheads="1"/>
            </p:cNvSpPr>
            <p:nvPr userDrawn="1"/>
          </p:nvSpPr>
          <p:spPr bwMode="auto">
            <a:xfrm>
              <a:off x="1638" y="589"/>
              <a:ext cx="4122" cy="44"/>
            </a:xfrm>
            <a:prstGeom prst="rect">
              <a:avLst/>
            </a:prstGeom>
            <a:solidFill>
              <a:srgbClr val="DDDDDD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0" y="6288088"/>
            <a:ext cx="9144000" cy="50800"/>
            <a:chOff x="0" y="583"/>
            <a:chExt cx="5760" cy="50"/>
          </a:xfrm>
        </p:grpSpPr>
        <p:sp>
          <p:nvSpPr>
            <p:cNvPr id="9" name="Rectangle 12"/>
            <p:cNvSpPr>
              <a:spLocks noChangeArrowheads="1"/>
            </p:cNvSpPr>
            <p:nvPr userDrawn="1"/>
          </p:nvSpPr>
          <p:spPr bwMode="auto">
            <a:xfrm>
              <a:off x="0" y="583"/>
              <a:ext cx="1645" cy="50"/>
            </a:xfrm>
            <a:prstGeom prst="rect">
              <a:avLst/>
            </a:prstGeom>
            <a:solidFill>
              <a:srgbClr val="000099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10" name="Rectangle 13"/>
            <p:cNvSpPr>
              <a:spLocks noChangeArrowheads="1"/>
            </p:cNvSpPr>
            <p:nvPr userDrawn="1"/>
          </p:nvSpPr>
          <p:spPr bwMode="auto">
            <a:xfrm>
              <a:off x="1638" y="589"/>
              <a:ext cx="4122" cy="44"/>
            </a:xfrm>
            <a:prstGeom prst="rect">
              <a:avLst/>
            </a:prstGeom>
            <a:solidFill>
              <a:srgbClr val="DDDDDD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614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143000" y="1676400"/>
            <a:ext cx="7010400" cy="1752600"/>
          </a:xfrm>
        </p:spPr>
        <p:txBody>
          <a:bodyPr anchor="ctr"/>
          <a:lstStyle>
            <a:lvl1pPr algn="ctr">
              <a:defRPr sz="2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762000" y="4343400"/>
            <a:ext cx="7696200" cy="17526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 sz="2000" b="1"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53E709-C6A3-4DBD-82F7-6E5ED028B16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제목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2913" y="146050"/>
            <a:ext cx="7772400" cy="762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차트 개체 틀 2"/>
          <p:cNvSpPr>
            <a:spLocks noGrp="1"/>
          </p:cNvSpPr>
          <p:nvPr>
            <p:ph type="chart" idx="1"/>
          </p:nvPr>
        </p:nvSpPr>
        <p:spPr>
          <a:xfrm>
            <a:off x="444500" y="1152525"/>
            <a:ext cx="7772400" cy="5019675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66BAE-B407-4D4C-92B0-3DCDF5F79E0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12000" y="641985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kumimoji="0" sz="1300">
                <a:solidFill>
                  <a:schemeClr val="tx2"/>
                </a:solidFill>
                <a:latin typeface="+mn-ea"/>
                <a:ea typeface="굴림" pitchFamily="50" charset="-127"/>
              </a:defRPr>
            </a:lvl1pPr>
          </a:lstStyle>
          <a:p>
            <a:pPr>
              <a:defRPr/>
            </a:pPr>
            <a:fld id="{7654FC3B-6869-4E9F-A7F1-8E695089650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7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44500" y="1152525"/>
            <a:ext cx="7772400" cy="501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96938" y="6392863"/>
            <a:ext cx="3109912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defRPr kumimoji="0">
                <a:solidFill>
                  <a:srgbClr val="40458C"/>
                </a:solidFill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0" y="954088"/>
            <a:ext cx="9144000" cy="50800"/>
            <a:chOff x="0" y="583"/>
            <a:chExt cx="5760" cy="50"/>
          </a:xfrm>
        </p:grpSpPr>
        <p:sp>
          <p:nvSpPr>
            <p:cNvPr id="1035" name="Rectangle 14"/>
            <p:cNvSpPr>
              <a:spLocks noChangeArrowheads="1"/>
            </p:cNvSpPr>
            <p:nvPr userDrawn="1"/>
          </p:nvSpPr>
          <p:spPr bwMode="auto">
            <a:xfrm>
              <a:off x="0" y="583"/>
              <a:ext cx="1645" cy="50"/>
            </a:xfrm>
            <a:prstGeom prst="rect">
              <a:avLst/>
            </a:prstGeom>
            <a:solidFill>
              <a:srgbClr val="000099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1036" name="Rectangle 17"/>
            <p:cNvSpPr>
              <a:spLocks noChangeArrowheads="1"/>
            </p:cNvSpPr>
            <p:nvPr userDrawn="1"/>
          </p:nvSpPr>
          <p:spPr bwMode="auto">
            <a:xfrm>
              <a:off x="1638" y="589"/>
              <a:ext cx="4122" cy="44"/>
            </a:xfrm>
            <a:prstGeom prst="rect">
              <a:avLst/>
            </a:prstGeom>
            <a:solidFill>
              <a:srgbClr val="DDDDDD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</p:grp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0" y="6383338"/>
            <a:ext cx="9144000" cy="60325"/>
            <a:chOff x="0" y="583"/>
            <a:chExt cx="5760" cy="50"/>
          </a:xfrm>
        </p:grpSpPr>
        <p:sp>
          <p:nvSpPr>
            <p:cNvPr id="1033" name="Rectangle 22"/>
            <p:cNvSpPr>
              <a:spLocks noChangeArrowheads="1"/>
            </p:cNvSpPr>
            <p:nvPr userDrawn="1"/>
          </p:nvSpPr>
          <p:spPr bwMode="auto">
            <a:xfrm>
              <a:off x="0" y="583"/>
              <a:ext cx="1645" cy="50"/>
            </a:xfrm>
            <a:prstGeom prst="rect">
              <a:avLst/>
            </a:prstGeom>
            <a:solidFill>
              <a:srgbClr val="000099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1034" name="Rectangle 23"/>
            <p:cNvSpPr>
              <a:spLocks noChangeArrowheads="1"/>
            </p:cNvSpPr>
            <p:nvPr userDrawn="1"/>
          </p:nvSpPr>
          <p:spPr bwMode="auto">
            <a:xfrm>
              <a:off x="1638" y="590"/>
              <a:ext cx="4122" cy="43"/>
            </a:xfrm>
            <a:prstGeom prst="rect">
              <a:avLst/>
            </a:prstGeom>
            <a:solidFill>
              <a:srgbClr val="DDDDDD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1032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42913" y="14605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40458C"/>
        </a:buClr>
        <a:buFont typeface="Wingdings" pitchFamily="2" charset="2"/>
        <a:buChar char="n"/>
        <a:defRPr kumimoji="1" sz="2200">
          <a:solidFill>
            <a:srgbClr val="40458C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Times New Roman" pitchFamily="18" charset="0"/>
        <a:buChar char="–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1" Type="http://schemas.openxmlformats.org/officeDocument/2006/relationships/themeOverride" Target="../theme/themeOverride1.xml"></Relationship><Relationship Id="rId2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2" Type="http://schemas.openxmlformats.org/officeDocument/2006/relationships/image" Target="../media/image1.png"></Relationship><Relationship Id="rId3" Type="http://schemas.openxmlformats.org/officeDocument/2006/relationships/slideLayout" Target="../slideLayouts/slideLayout2.xml"></Relationship></Relationships>
</file>

<file path=ppt/slides/_rels/slide3.xml.rels><?xml version="1.0" encoding="UTF-8"?>
<Relationships xmlns="http://schemas.openxmlformats.org/package/2006/relationships"><Relationship Id="rId2" Type="http://schemas.openxmlformats.org/officeDocument/2006/relationships/image" Target="../media/image2.png"></Relationship><Relationship Id="rId3" Type="http://schemas.openxmlformats.org/officeDocument/2006/relationships/slideLayout" Target="../slideLayouts/slideLayout2.xml"></Relationship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customXml" Target="../ink/ink1.xml"></Relationship><Relationship Id="rId4" Type="http://schemas.openxmlformats.org/officeDocument/2006/relationships/image" Target="../media/fImage311618841.emf"></Relationship><Relationship Id="rId5" Type="http://schemas.openxmlformats.org/officeDocument/2006/relationships/customXml" Target="../ink/ink2.xml"></Relationship><Relationship Id="rId6" Type="http://schemas.openxmlformats.org/officeDocument/2006/relationships/image" Target="../media/fImage28361898467.emf"></Relationship><Relationship Id="rId7" Type="http://schemas.openxmlformats.org/officeDocument/2006/relationships/slideLayout" Target="../slideLayouts/slideLayout2.xml"></Relationship></Relationships>
</file>

<file path=ppt/slides/_rels/slide6.xml.rels><?xml version="1.0" encoding="UTF-8"?>
<Relationships xmlns="http://schemas.openxmlformats.org/package/2006/relationships"><Relationship Id="rId3" Type="http://schemas.openxmlformats.org/officeDocument/2006/relationships/image" Target="../media/image7.png"></Relationship><Relationship Id="rId2" Type="http://schemas.openxmlformats.org/officeDocument/2006/relationships/image" Target="../media/image6.png"></Relationship><Relationship Id="rId4" Type="http://schemas.openxmlformats.org/officeDocument/2006/relationships/slideLayout" Target="../slideLayouts/slideLayout2.xml"></Relationship></Relationships>
</file>

<file path=ppt/slides/_rels/slide7.xml.rels><?xml version="1.0" encoding="UTF-8"?>
<Relationships xmlns="http://schemas.openxmlformats.org/package/2006/relationships"><Relationship Id="rId2" Type="http://schemas.openxmlformats.org/officeDocument/2006/relationships/image" Target="../media/image8.png"></Relationship><Relationship Id="rId13" Type="http://schemas.openxmlformats.org/officeDocument/2006/relationships/customXml" Target="../ink/ink3.xml"></Relationship><Relationship Id="rId14" Type="http://schemas.openxmlformats.org/officeDocument/2006/relationships/image" Target="../media/fImage1316846334.emf"></Relationship><Relationship Id="rId15" Type="http://schemas.openxmlformats.org/officeDocument/2006/relationships/customXml" Target="../ink/ink4.xml"></Relationship><Relationship Id="rId16" Type="http://schemas.openxmlformats.org/officeDocument/2006/relationships/image" Target="../media/fImage1756856500.emf"></Relationship><Relationship Id="rId17" Type="http://schemas.openxmlformats.org/officeDocument/2006/relationships/customXml" Target="../ink/ink5.xml"></Relationship><Relationship Id="rId18" Type="http://schemas.openxmlformats.org/officeDocument/2006/relationships/image" Target="../media/fImage1396869169.emf"></Relationship><Relationship Id="rId19" Type="http://schemas.openxmlformats.org/officeDocument/2006/relationships/customXml" Target="../ink/ink6.xml"></Relationship><Relationship Id="rId20" Type="http://schemas.openxmlformats.org/officeDocument/2006/relationships/image" Target="../media/fImage3876875724.emf"></Relationship><Relationship Id="rId21" Type="http://schemas.openxmlformats.org/officeDocument/2006/relationships/customXml" Target="../ink/ink7.xml"></Relationship><Relationship Id="rId22" Type="http://schemas.openxmlformats.org/officeDocument/2006/relationships/image" Target="../media/fImage1396881478.emf"></Relationship><Relationship Id="rId23" Type="http://schemas.openxmlformats.org/officeDocument/2006/relationships/customXml" Target="../ink/ink8.xml"></Relationship><Relationship Id="rId24" Type="http://schemas.openxmlformats.org/officeDocument/2006/relationships/image" Target="../media/fImage23561919358.emf"></Relationship><Relationship Id="rId25" Type="http://schemas.openxmlformats.org/officeDocument/2006/relationships/customXml" Target="../ink/ink9.xml"></Relationship><Relationship Id="rId26" Type="http://schemas.openxmlformats.org/officeDocument/2006/relationships/image" Target="../media/fImage23161926962.emf"></Relationship><Relationship Id="rId27" Type="http://schemas.openxmlformats.org/officeDocument/2006/relationships/customXml" Target="../ink/ink10.xml"></Relationship><Relationship Id="rId28" Type="http://schemas.openxmlformats.org/officeDocument/2006/relationships/image" Target="../media/fImage17961934464.emf"></Relationship><Relationship Id="rId29" Type="http://schemas.openxmlformats.org/officeDocument/2006/relationships/customXml" Target="../ink/ink11.xml"></Relationship><Relationship Id="rId30" Type="http://schemas.openxmlformats.org/officeDocument/2006/relationships/image" Target="../media/fImage40361945705.emf"></Relationship><Relationship Id="rId31" Type="http://schemas.openxmlformats.org/officeDocument/2006/relationships/slideLayout" Target="../slideLayouts/slideLayout2.xml"></Relationship></Relationships>
</file>

<file path=ppt/slides/_rels/slide8.xml.rels><?xml version="1.0" encoding="UTF-8"?>
<Relationships xmlns="http://schemas.openxmlformats.org/package/2006/relationships"><Relationship Id="rId2" Type="http://schemas.openxmlformats.org/officeDocument/2006/relationships/image" Target="../media/image9.png"></Relationship><Relationship Id="rId3" Type="http://schemas.openxmlformats.org/officeDocument/2006/relationships/customXml" Target="../ink/ink12.xml"></Relationship><Relationship Id="rId4" Type="http://schemas.openxmlformats.org/officeDocument/2006/relationships/image" Target="../media/fImage21561958145.emf"></Relationship><Relationship Id="rId5" Type="http://schemas.openxmlformats.org/officeDocument/2006/relationships/slideLayout" Target="../slideLayouts/slideLayout2.xml"></Relationship></Relationships>
</file>

<file path=ppt/slides/_rels/slide9.xml.rels><?xml version="1.0" encoding="UTF-8"?>
<Relationships xmlns="http://schemas.openxmlformats.org/package/2006/relationships"><Relationship Id="rId2" Type="http://schemas.openxmlformats.org/officeDocument/2006/relationships/image" Target="../media/image10.png"></Relationship><Relationship Id="rId3" Type="http://schemas.openxmlformats.org/officeDocument/2006/relationships/customXml" Target="../ink/ink13.xml"></Relationship><Relationship Id="rId4" Type="http://schemas.openxmlformats.org/officeDocument/2006/relationships/image" Target="../media/fImage23561963281.emf"></Relationship><Relationship Id="rId5" Type="http://schemas.openxmlformats.org/officeDocument/2006/relationships/customXml" Target="../ink/ink14.xml"></Relationship><Relationship Id="rId6" Type="http://schemas.openxmlformats.org/officeDocument/2006/relationships/image" Target="../media/fImage89561976827.emf"></Relationship><Relationship Id="rId7" Type="http://schemas.openxmlformats.org/officeDocument/2006/relationships/slideLayout" Target="../slideLayouts/slideLayout2.xml"></Relationship></Relationships>
</file>

<file path=ppt/slides/_rels/slide10.xml.rels><?xml version="1.0" encoding="UTF-8"?>
<Relationships xmlns="http://schemas.openxmlformats.org/package/2006/relationships"><Relationship Id="rId3" Type="http://schemas.openxmlformats.org/officeDocument/2006/relationships/image" Target="../media/image11.png"></Relationship><Relationship Id="rId2" Type="http://schemas.openxmlformats.org/officeDocument/2006/relationships/hyperlink" Target="http://www.w3c.org/" TargetMode="External"></Relationship><Relationship Id="rId4" Type="http://schemas.openxmlformats.org/officeDocument/2006/relationships/customXml" Target="../ink/ink15.xml"></Relationship><Relationship Id="rId5" Type="http://schemas.openxmlformats.org/officeDocument/2006/relationships/image" Target="../media/fImage69961989961.emf"></Relationship><Relationship Id="rId6" Type="http://schemas.openxmlformats.org/officeDocument/2006/relationships/slideLayout" Target="../slideLayouts/slideLayout2.xml"></Relationship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?>
<Relationships xmlns="http://schemas.openxmlformats.org/package/2006/relationships"><Relationship Id="rId2" Type="http://schemas.openxmlformats.org/officeDocument/2006/relationships/image" Target="../media/image13.png"></Relationship><Relationship Id="rId3" Type="http://schemas.openxmlformats.org/officeDocument/2006/relationships/customXml" Target="../ink/ink16.xml"></Relationship><Relationship Id="rId4" Type="http://schemas.openxmlformats.org/officeDocument/2006/relationships/image" Target="../media/fImage444200491.emf"></Relationship><Relationship Id="rId5" Type="http://schemas.openxmlformats.org/officeDocument/2006/relationships/slideLayout" Target="../slideLayouts/slideLayout2.xml"></Relationship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?>
<Relationships xmlns="http://schemas.openxmlformats.org/package/2006/relationships"><Relationship Id="rId2" Type="http://schemas.openxmlformats.org/officeDocument/2006/relationships/image" Target="../media/image19.png"></Relationship><Relationship Id="rId3" Type="http://schemas.openxmlformats.org/officeDocument/2006/relationships/slideLayout" Target="../slideLayouts/slideLayout2.xml"></Relationship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?>
<Relationships xmlns="http://schemas.openxmlformats.org/package/2006/relationships"><Relationship Id="rId1" Type="http://schemas.openxmlformats.org/officeDocument/2006/relationships/customXml" Target="../ink/ink17.xml"></Relationship><Relationship Id="rId2" Type="http://schemas.openxmlformats.org/officeDocument/2006/relationships/image" Target="../media/fImage167620041.emf"></Relationship><Relationship Id="rId3" Type="http://schemas.openxmlformats.org/officeDocument/2006/relationships/customXml" Target="../ink/ink18.xml"></Relationship><Relationship Id="rId4" Type="http://schemas.openxmlformats.org/officeDocument/2006/relationships/image" Target="../media/fImage29562018467.emf"></Relationship><Relationship Id="rId5" Type="http://schemas.openxmlformats.org/officeDocument/2006/relationships/customXml" Target="../ink/ink19.xml"></Relationship><Relationship Id="rId6" Type="http://schemas.openxmlformats.org/officeDocument/2006/relationships/image" Target="../media/fImage9562026334.emf"></Relationship><Relationship Id="rId7" Type="http://schemas.openxmlformats.org/officeDocument/2006/relationships/customXml" Target="../ink/ink20.xml"></Relationship><Relationship Id="rId8" Type="http://schemas.openxmlformats.org/officeDocument/2006/relationships/image" Target="../media/fImage23562036500.emf"></Relationship><Relationship Id="rId9" Type="http://schemas.openxmlformats.org/officeDocument/2006/relationships/customXml" Target="../ink/ink21.xml"></Relationship><Relationship Id="rId10" Type="http://schemas.openxmlformats.org/officeDocument/2006/relationships/image" Target="../media/fImage29162049169.emf"></Relationship><Relationship Id="rId11" Type="http://schemas.openxmlformats.org/officeDocument/2006/relationships/customXml" Target="../ink/ink22.xml"></Relationship><Relationship Id="rId12" Type="http://schemas.openxmlformats.org/officeDocument/2006/relationships/image" Target="../media/fImage53562055724.emf"></Relationship><Relationship Id="rId13" Type="http://schemas.openxmlformats.org/officeDocument/2006/relationships/slideLayout" Target="../slideLayouts/slideLayout2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sz="quarter"/>
          </p:nvPr>
        </p:nvSpPr>
        <p:spPr>
          <a:xfrm>
            <a:off x="1143000" y="1676400"/>
            <a:ext cx="7011035" cy="1753235"/>
          </a:xfrm>
        </p:spPr>
        <p:txBody>
          <a:bodyPr/>
          <a:lstStyle/>
          <a:p>
            <a:r>
              <a:rPr lang="ko-KR" altLang="en-US" dirty="0"/>
              <a:t>웹 프로그래밍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part</a:t>
            </a:r>
            <a:r>
              <a:rPr lang="ko-KR" altLang="en-US" dirty="0"/>
              <a:t> </a:t>
            </a:r>
            <a:r>
              <a:rPr lang="en-US" altLang="ko-KR"/>
              <a:t>4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sz="quarter" idx="1"/>
          </p:nvPr>
        </p:nvSpPr>
        <p:spPr>
          <a:xfrm>
            <a:off x="762000" y="4343400"/>
            <a:ext cx="7696835" cy="1753235"/>
          </a:xfrm>
        </p:spPr>
        <p:txBody>
          <a:bodyPr/>
          <a:lstStyle/>
          <a:p>
            <a:r>
              <a:rPr lang="ko-KR" altLang="en-US" dirty="0"/>
              <a:t>금오공과대학교</a:t>
            </a:r>
            <a:endParaRPr lang="en-US" altLang="ko-KR" dirty="0"/>
          </a:p>
          <a:p>
            <a:r>
              <a:rPr lang="ko-KR" altLang="en-US" dirty="0"/>
              <a:t>조재한</a:t>
            </a:r>
          </a:p>
        </p:txBody>
      </p:sp>
      <p:sp>
        <p:nvSpPr>
          <p:cNvPr id="4" name="텍스트 상자 1"/>
          <p:cNvSpPr txBox="1">
            <a:spLocks/>
          </p:cNvSpPr>
          <p:nvPr/>
        </p:nvSpPr>
        <p:spPr>
          <a:xfrm rot="0">
            <a:off x="1045845" y="2618740"/>
            <a:ext cx="306705" cy="37020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a16:creationId xmlns:a16="http://schemas.microsoft.com/office/drawing/2014/main" id="{454061E5-88EB-F43E-C79A-AB858CAEB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67778B-1F02-4C91-8058-40AC23AC6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146050"/>
            <a:ext cx="7773035" cy="762635"/>
          </a:xfrm>
        </p:spPr>
        <p:txBody>
          <a:bodyPr/>
          <a:lstStyle/>
          <a:p>
            <a:r>
              <a:rPr lang="ko-KR" altLang="en-US" dirty="0"/>
              <a:t>박스모델과 응용</a:t>
            </a:r>
            <a:r>
              <a:rPr lang="en-US" altLang="ko-KR" dirty="0"/>
              <a:t>(14)</a:t>
            </a:r>
            <a:br>
              <a:rPr lang="en-US" altLang="ko-KR" dirty="0"/>
            </a:br>
            <a:r>
              <a:rPr lang="en-US" altLang="ko-KR" dirty="0"/>
              <a:t>				</a:t>
            </a:r>
            <a:r>
              <a:rPr lang="ko-KR" altLang="en-US" dirty="0"/>
              <a:t>입력 양식 꾸미기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542C1E-A40F-70D7-8264-6D2B6B556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540" y="980440"/>
            <a:ext cx="7772400" cy="2448560"/>
          </a:xfrm>
        </p:spPr>
        <p:txBody>
          <a:bodyPr>
            <a:noAutofit/>
          </a:bodyPr>
          <a:lstStyle/>
          <a:p>
            <a:r>
              <a:rPr lang="en-US" altLang="ko-KR" sz="1400" b="1" dirty="0"/>
              <a:t>css</a:t>
            </a:r>
            <a:r>
              <a:rPr lang="ko-KR" altLang="en-US" sz="1400" b="1" dirty="0"/>
              <a:t>를 사용하여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입력 양식을 보기 좋게 꾸밀 수 있다</a:t>
            </a:r>
            <a:r>
              <a:rPr lang="en-US" altLang="ko-KR" sz="1400" b="1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575592-997E-219B-C533-DC4C62772F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12000" y="6419850"/>
            <a:ext cx="1905635" cy="305435"/>
          </a:xfrm>
        </p:spPr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CC34CA-C9A0-E1CD-1F48-51416166D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255" y="6393180"/>
            <a:ext cx="3110230" cy="349885"/>
          </a:xfrm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260832-7FD8-F40D-9B8A-206BD4486B0F}"/>
              </a:ext>
            </a:extLst>
          </p:cNvPr>
          <p:cNvSpPr txBox="1"/>
          <p:nvPr/>
        </p:nvSpPr>
        <p:spPr>
          <a:xfrm>
            <a:off x="359410" y="1340485"/>
            <a:ext cx="8425180" cy="470916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&lt;!DOCTYPE html&gt;</a:t>
            </a:r>
          </a:p>
          <a:p>
            <a:r>
              <a:rPr lang="en-US" altLang="ko-KR" sz="1000" dirty="0"/>
              <a:t>&lt;html&gt;</a:t>
            </a:r>
          </a:p>
          <a:p>
            <a:r>
              <a:rPr lang="en-US" altLang="ko-KR" sz="1000" dirty="0"/>
              <a:t>&lt;head&gt;</a:t>
            </a:r>
          </a:p>
          <a:p>
            <a:r>
              <a:rPr lang="en-US" altLang="ko-KR" sz="1000" dirty="0"/>
              <a:t>  &lt;meta charset="UTF-8"&gt;</a:t>
            </a:r>
          </a:p>
          <a:p>
            <a:r>
              <a:rPr lang="en-US" altLang="ko-KR" sz="1000" dirty="0"/>
              <a:t>  &lt;title&gt;</a:t>
            </a:r>
            <a:r>
              <a:rPr lang="ko-KR" altLang="en-US" sz="1000" dirty="0"/>
              <a:t>입력 양식 꾸미기 예제</a:t>
            </a:r>
            <a:r>
              <a:rPr lang="en-US" altLang="ko-KR" sz="1000" dirty="0"/>
              <a:t>&lt;/title&gt;</a:t>
            </a:r>
          </a:p>
          <a:p>
            <a:r>
              <a:rPr lang="en-US" altLang="ko-KR" sz="1000" dirty="0"/>
              <a:t>&lt;/head&gt;</a:t>
            </a:r>
          </a:p>
          <a:p>
            <a:r>
              <a:rPr lang="en-US" altLang="ko-KR" sz="1000" dirty="0"/>
              <a:t>&lt;body&gt;</a:t>
            </a:r>
          </a:p>
          <a:p>
            <a:r>
              <a:rPr lang="en-US" altLang="ko-KR" sz="1000" dirty="0"/>
              <a:t>  &lt;h2&gt;</a:t>
            </a:r>
            <a:r>
              <a:rPr lang="ko-KR" altLang="en-US" sz="1000" dirty="0"/>
              <a:t>상품 평</a:t>
            </a:r>
            <a:r>
              <a:rPr lang="en-US" altLang="ko-KR" sz="1000" dirty="0"/>
              <a:t>&lt;/h2&gt;</a:t>
            </a:r>
          </a:p>
          <a:p>
            <a:r>
              <a:rPr lang="en-US" altLang="ko-KR" sz="1000" dirty="0"/>
              <a:t>  &lt;p&gt;</a:t>
            </a:r>
            <a:r>
              <a:rPr lang="ko-KR" altLang="en-US" sz="1000" dirty="0"/>
              <a:t>받으신 상품을 평가해주세요</a:t>
            </a:r>
            <a:r>
              <a:rPr lang="en-US" altLang="ko-KR" sz="1000" dirty="0"/>
              <a:t>.&lt;/p&gt;</a:t>
            </a:r>
          </a:p>
          <a:p>
            <a:r>
              <a:rPr lang="en-US" altLang="ko-KR" sz="1000" dirty="0"/>
              <a:t>  </a:t>
            </a:r>
            <a:r>
              <a:rPr lang="en-US" altLang="ko-KR" sz="1000" b="1" dirty="0"/>
              <a:t>&lt;div&gt;</a:t>
            </a:r>
          </a:p>
          <a:p>
            <a:r>
              <a:rPr lang="en-US" altLang="ko-KR" sz="1000" b="1" dirty="0"/>
              <a:t>    &lt;form&gt;</a:t>
            </a:r>
          </a:p>
          <a:p>
            <a:r>
              <a:rPr lang="en-US" altLang="ko-KR" sz="1000" b="1" dirty="0"/>
              <a:t>      &lt;p&gt;</a:t>
            </a:r>
          </a:p>
          <a:p>
            <a:r>
              <a:rPr lang="en-US" altLang="ko-KR" sz="1000" b="1" dirty="0"/>
              <a:t>        &lt;label for="nick"&gt;</a:t>
            </a:r>
            <a:r>
              <a:rPr lang="ko-KR" altLang="en-US" sz="1000" b="1" dirty="0"/>
              <a:t>이름</a:t>
            </a:r>
            <a:r>
              <a:rPr lang="en-US" altLang="ko-KR" sz="1000" b="1" dirty="0"/>
              <a:t>&lt;/label&gt;</a:t>
            </a:r>
          </a:p>
          <a:p>
            <a:r>
              <a:rPr lang="en-US" altLang="ko-KR" sz="1000" b="1" dirty="0"/>
              <a:t>        &lt;input type="text" id="nick" name="nick" placeholder="</a:t>
            </a:r>
            <a:r>
              <a:rPr lang="ko-KR" altLang="en-US" sz="1000" b="1" dirty="0"/>
              <a:t>이름</a:t>
            </a:r>
            <a:r>
              <a:rPr lang="en-US" altLang="ko-KR" sz="1000" b="1" dirty="0"/>
              <a:t>"/&gt;</a:t>
            </a:r>
          </a:p>
          <a:p>
            <a:r>
              <a:rPr lang="en-US" altLang="ko-KR" sz="1000" b="1" dirty="0"/>
              <a:t>      &lt;/p&gt;</a:t>
            </a:r>
          </a:p>
          <a:p>
            <a:r>
              <a:rPr lang="en-US" altLang="ko-KR" sz="1000" b="1" dirty="0"/>
              <a:t>      &lt;p&gt;</a:t>
            </a:r>
          </a:p>
          <a:p>
            <a:r>
              <a:rPr lang="en-US" altLang="ko-KR" sz="1000" b="1" dirty="0"/>
              <a:t>        &lt;label for="email"&gt;</a:t>
            </a:r>
            <a:r>
              <a:rPr lang="ko-KR" altLang="en-US" sz="1000" b="1" dirty="0"/>
              <a:t>이메일</a:t>
            </a:r>
            <a:r>
              <a:rPr lang="en-US" altLang="ko-KR" sz="1000" b="1" dirty="0"/>
              <a:t>&lt;/label&gt;</a:t>
            </a:r>
          </a:p>
          <a:p>
            <a:r>
              <a:rPr lang="en-US" altLang="ko-KR" sz="1000" b="1" dirty="0"/>
              <a:t>        &lt;input type="text" id="email" name="email" placeholder="</a:t>
            </a:r>
            <a:r>
              <a:rPr lang="ko-KR" altLang="en-US" sz="1000" b="1" dirty="0"/>
              <a:t>이메일</a:t>
            </a:r>
            <a:r>
              <a:rPr lang="en-US" altLang="ko-KR" sz="1000" b="1" dirty="0"/>
              <a:t>"/&gt;</a:t>
            </a:r>
          </a:p>
          <a:p>
            <a:r>
              <a:rPr lang="en-US" altLang="ko-KR" sz="1000" b="1" dirty="0"/>
              <a:t>      &lt;/p&gt;</a:t>
            </a:r>
          </a:p>
          <a:p>
            <a:r>
              <a:rPr lang="en-US" altLang="ko-KR" sz="1000" b="1" dirty="0"/>
              <a:t>      &lt;p&gt;</a:t>
            </a:r>
          </a:p>
          <a:p>
            <a:r>
              <a:rPr lang="en-US" altLang="ko-KR" sz="1000" b="1" dirty="0"/>
              <a:t>        &lt;label for="subject"&gt;</a:t>
            </a:r>
            <a:r>
              <a:rPr lang="ko-KR" altLang="en-US" sz="1000" b="1" dirty="0"/>
              <a:t>상품 평</a:t>
            </a:r>
            <a:r>
              <a:rPr lang="en-US" altLang="ko-KR" sz="1000" b="1" dirty="0"/>
              <a:t>&lt;/label&gt;</a:t>
            </a:r>
          </a:p>
          <a:p>
            <a:r>
              <a:rPr lang="en-US" altLang="ko-KR" sz="1000" b="1" dirty="0"/>
              <a:t>        &lt;</a:t>
            </a:r>
            <a:r>
              <a:rPr lang="en-US" altLang="ko-KR" sz="1000" b="1" dirty="0" err="1"/>
              <a:t>textarea</a:t>
            </a:r>
            <a:r>
              <a:rPr lang="en-US" altLang="ko-KR" sz="1000" b="1" dirty="0"/>
              <a:t> id="subject" name="subject" placeholder="</a:t>
            </a:r>
            <a:r>
              <a:rPr lang="ko-KR" altLang="en-US" sz="1000" b="1" dirty="0"/>
              <a:t>상품을 평가해주세요</a:t>
            </a:r>
            <a:r>
              <a:rPr lang="en-US" altLang="ko-KR" sz="1000" b="1" dirty="0"/>
              <a:t>." style="height:100px"&gt;&lt;/</a:t>
            </a:r>
            <a:r>
              <a:rPr lang="en-US" altLang="ko-KR" sz="1000" b="1" dirty="0" err="1"/>
              <a:t>textarea</a:t>
            </a:r>
            <a:r>
              <a:rPr lang="en-US" altLang="ko-KR" sz="1000" b="1" dirty="0"/>
              <a:t>&gt;</a:t>
            </a:r>
          </a:p>
          <a:p>
            <a:r>
              <a:rPr lang="en-US" altLang="ko-KR" sz="1000" b="1" dirty="0"/>
              <a:t>      &lt;/p&gt;</a:t>
            </a:r>
          </a:p>
          <a:p>
            <a:r>
              <a:rPr lang="en-US" altLang="ko-KR" sz="1000" b="1" dirty="0"/>
              <a:t>      &lt;p&gt;</a:t>
            </a:r>
          </a:p>
          <a:p>
            <a:r>
              <a:rPr lang="en-US" altLang="ko-KR" sz="1000" b="1" dirty="0"/>
              <a:t>        &lt;input type="submit" value="submit"/&gt;</a:t>
            </a:r>
          </a:p>
          <a:p>
            <a:r>
              <a:rPr lang="en-US" altLang="ko-KR" sz="1000" b="1" dirty="0"/>
              <a:t>      &lt;/p&gt;</a:t>
            </a:r>
          </a:p>
          <a:p>
            <a:r>
              <a:rPr lang="en-US" altLang="ko-KR" sz="1000" b="1" dirty="0"/>
              <a:t>    &lt;/form&gt;</a:t>
            </a:r>
          </a:p>
          <a:p>
            <a:r>
              <a:rPr lang="en-US" altLang="ko-KR" sz="1000" b="1" dirty="0"/>
              <a:t>  &lt;/div&gt;</a:t>
            </a:r>
          </a:p>
          <a:p>
            <a:r>
              <a:rPr lang="en-US" altLang="ko-KR" sz="1000" dirty="0"/>
              <a:t>&lt;/body&gt;</a:t>
            </a:r>
          </a:p>
          <a:p>
            <a:r>
              <a:rPr lang="en-US" altLang="ko-KR" sz="1000" dirty="0"/>
              <a:t>&lt;/html&gt;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B9EC963-72CF-E025-605B-C40C64249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470" y="1484630"/>
            <a:ext cx="2358390" cy="2921000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0" name="텍스트 상자 2"/>
          <p:cNvSpPr txBox="1">
            <a:spLocks/>
          </p:cNvSpPr>
          <p:nvPr/>
        </p:nvSpPr>
        <p:spPr>
          <a:xfrm rot="0">
            <a:off x="1052830" y="2888615"/>
            <a:ext cx="3338830" cy="26225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100">
                <a:latin typeface="맑은 고딕" charset="0"/>
                <a:ea typeface="맑은 고딕" charset="0"/>
              </a:rPr>
              <a:t>외부로 </a:t>
            </a:r>
            <a:r>
              <a:rPr lang="ko-KR" sz="1100">
                <a:latin typeface="맑은 고딕" charset="0"/>
                <a:ea typeface="맑은 고딕" charset="0"/>
              </a:rPr>
              <a:t>전달</a:t>
            </a:r>
            <a:endParaRPr lang="ko-KR" altLang="en-US" sz="11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0244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a16:creationId xmlns:a16="http://schemas.microsoft.com/office/drawing/2014/main" id="{BBF5984E-2E54-D426-4949-5743D2511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ADB6AD-27B7-1D51-DE6E-E798143B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146050"/>
            <a:ext cx="7773035" cy="762635"/>
          </a:xfrm>
        </p:spPr>
        <p:txBody>
          <a:bodyPr/>
          <a:lstStyle/>
          <a:p>
            <a:r>
              <a:rPr lang="ko-KR" altLang="en-US" dirty="0"/>
              <a:t>박스모델과 응용</a:t>
            </a:r>
            <a:r>
              <a:rPr lang="en-US" altLang="ko-KR" dirty="0"/>
              <a:t>(15)</a:t>
            </a:r>
            <a:br>
              <a:rPr lang="en-US" altLang="ko-KR" dirty="0"/>
            </a:br>
            <a:r>
              <a:rPr lang="en-US" altLang="ko-KR" dirty="0"/>
              <a:t>				</a:t>
            </a:r>
            <a:r>
              <a:rPr lang="ko-KR" altLang="en-US" dirty="0"/>
              <a:t>입력 양식 꾸미기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CD392-C157-9349-8712-DBDC1F58E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540" y="980440"/>
            <a:ext cx="7700010" cy="431800"/>
          </a:xfrm>
        </p:spPr>
        <p:txBody>
          <a:bodyPr>
            <a:noAutofit/>
          </a:bodyPr>
          <a:lstStyle/>
          <a:p>
            <a:r>
              <a:rPr lang="en-US" altLang="ko-KR" sz="1100" b="1" dirty="0"/>
              <a:t>css</a:t>
            </a:r>
            <a:r>
              <a:rPr lang="ko-KR" altLang="en-US" sz="1100" b="1" dirty="0"/>
              <a:t>를 사용하여</a:t>
            </a:r>
            <a:r>
              <a:rPr lang="en-US" altLang="ko-KR" sz="1100" b="1" dirty="0"/>
              <a:t>, </a:t>
            </a:r>
            <a:r>
              <a:rPr lang="ko-KR" altLang="en-US" sz="1100" b="1" dirty="0"/>
              <a:t>입력 양식을 보기 좋게 꾸밀 수 있다</a:t>
            </a:r>
            <a:r>
              <a:rPr lang="en-US" altLang="ko-KR" sz="1100" b="1" dirty="0"/>
              <a:t>.</a:t>
            </a:r>
          </a:p>
          <a:p>
            <a:r>
              <a:rPr lang="ko-KR" altLang="en-US" sz="1100" b="1" dirty="0"/>
              <a:t>아래의 예제를 </a:t>
            </a:r>
            <a:r>
              <a:rPr lang="en-US" altLang="ko-KR" sz="1100" b="1" dirty="0"/>
              <a:t>css</a:t>
            </a:r>
            <a:r>
              <a:rPr lang="ko-KR" altLang="en-US" sz="1100" b="1" dirty="0"/>
              <a:t>를 사용하여 꾸며본다</a:t>
            </a:r>
            <a:r>
              <a:rPr lang="en-US" altLang="ko-KR" sz="1100" b="1" dirty="0"/>
              <a:t>.</a:t>
            </a:r>
            <a:endParaRPr lang="en-US" altLang="ko-KR" sz="11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6937A2-7D21-E5DA-C7E6-1BD2AC84D4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12000" y="6419850"/>
            <a:ext cx="1905635" cy="305435"/>
          </a:xfrm>
        </p:spPr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3AA60C-7B39-CDD9-633E-7EDD1DAA2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255" y="6393180"/>
            <a:ext cx="3110230" cy="349885"/>
          </a:xfrm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21C4C5-DAFC-E6D8-1FB0-BFA5E39253BC}"/>
              </a:ext>
            </a:extLst>
          </p:cNvPr>
          <p:cNvSpPr txBox="1"/>
          <p:nvPr/>
        </p:nvSpPr>
        <p:spPr>
          <a:xfrm>
            <a:off x="256540" y="1484630"/>
            <a:ext cx="8425180" cy="486283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&lt;style&gt;</a:t>
            </a:r>
          </a:p>
          <a:p>
            <a:r>
              <a:rPr lang="en-US" altLang="ko-KR" sz="1000" dirty="0"/>
              <a:t>    input[type="text"], </a:t>
            </a:r>
            <a:r>
              <a:rPr lang="en-US" altLang="ko-KR" sz="1000" dirty="0" err="1"/>
              <a:t>textarea</a:t>
            </a:r>
            <a:r>
              <a:rPr lang="en-US" altLang="ko-KR" sz="1000" dirty="0"/>
              <a:t> {</a:t>
            </a:r>
          </a:p>
          <a:p>
            <a:r>
              <a:rPr lang="en-US" altLang="ko-KR" sz="1000" dirty="0"/>
              <a:t>      width: 100%;</a:t>
            </a:r>
          </a:p>
          <a:p>
            <a:r>
              <a:rPr lang="en-US" altLang="ko-KR" sz="1000" dirty="0"/>
              <a:t>      padding: 8px;</a:t>
            </a:r>
          </a:p>
          <a:p>
            <a:r>
              <a:rPr lang="en-US" altLang="ko-KR" sz="1000" dirty="0"/>
              <a:t>      margin-top: 5px;</a:t>
            </a:r>
          </a:p>
          <a:p>
            <a:r>
              <a:rPr lang="en-US" altLang="ko-KR" sz="1000" dirty="0"/>
              <a:t>      margin-bottom: 15px;</a:t>
            </a:r>
          </a:p>
          <a:p>
            <a:r>
              <a:rPr lang="en-US" altLang="ko-KR" sz="1000" dirty="0"/>
              <a:t>      border: 2px solid #3210a1;</a:t>
            </a:r>
          </a:p>
          <a:p>
            <a:r>
              <a:rPr lang="en-US" altLang="ko-KR" sz="1000" dirty="0"/>
              <a:t>      border-radius: 4px;</a:t>
            </a:r>
          </a:p>
          <a:p>
            <a:r>
              <a:rPr lang="en-US" altLang="ko-KR" sz="1000" dirty="0"/>
              <a:t>      background-color: bisque;</a:t>
            </a:r>
          </a:p>
          <a:p>
            <a:r>
              <a:rPr lang="en-US" altLang="ko-KR" sz="1000" dirty="0"/>
              <a:t>      box-sizing: border-box;</a:t>
            </a:r>
          </a:p>
          <a:p>
            <a:r>
              <a:rPr lang="en-US" altLang="ko-KR" sz="1000" dirty="0"/>
              <a:t>    }</a:t>
            </a:r>
          </a:p>
          <a:p>
            <a:endParaRPr lang="en-US" altLang="ko-KR" sz="1000" dirty="0"/>
          </a:p>
          <a:p>
            <a:r>
              <a:rPr lang="en-US" altLang="ko-KR" sz="1000" dirty="0"/>
              <a:t>    input[type="text"]:focus,</a:t>
            </a:r>
          </a:p>
          <a:p>
            <a:r>
              <a:rPr lang="en-US" altLang="ko-KR" sz="1000" dirty="0"/>
              <a:t>    </a:t>
            </a:r>
            <a:r>
              <a:rPr lang="en-US" altLang="ko-KR" sz="1000" dirty="0" err="1"/>
              <a:t>textarea:focus</a:t>
            </a:r>
            <a:r>
              <a:rPr lang="en-US" altLang="ko-KR" sz="1000" dirty="0"/>
              <a:t> {</a:t>
            </a:r>
          </a:p>
          <a:p>
            <a:r>
              <a:rPr lang="en-US" altLang="ko-KR" sz="1000" dirty="0"/>
              <a:t>      font-size: 1.05em;</a:t>
            </a:r>
          </a:p>
          <a:p>
            <a:r>
              <a:rPr lang="en-US" altLang="ko-KR" sz="1000" dirty="0"/>
              <a:t>      outline: none;</a:t>
            </a:r>
          </a:p>
          <a:p>
            <a:r>
              <a:rPr lang="en-US" altLang="ko-KR" sz="1000" dirty="0"/>
              <a:t>    }</a:t>
            </a:r>
          </a:p>
          <a:p>
            <a:endParaRPr lang="en-US" altLang="ko-KR" sz="1000" dirty="0"/>
          </a:p>
          <a:p>
            <a:r>
              <a:rPr lang="en-US" altLang="ko-KR" sz="1000" dirty="0"/>
              <a:t>    input[type="submit"] {</a:t>
            </a:r>
          </a:p>
          <a:p>
            <a:r>
              <a:rPr lang="en-US" altLang="ko-KR" sz="1000" dirty="0"/>
              <a:t>      background-color: #04AA6D;</a:t>
            </a:r>
          </a:p>
          <a:p>
            <a:r>
              <a:rPr lang="en-US" altLang="ko-KR" sz="1000" dirty="0"/>
              <a:t>      color: white;</a:t>
            </a:r>
          </a:p>
          <a:p>
            <a:r>
              <a:rPr lang="en-US" altLang="ko-KR" sz="1000" dirty="0"/>
              <a:t>      border: none;</a:t>
            </a:r>
          </a:p>
          <a:p>
            <a:r>
              <a:rPr lang="en-US" altLang="ko-KR" sz="1000" dirty="0"/>
              <a:t>      padding: 10px 20px;</a:t>
            </a:r>
          </a:p>
          <a:p>
            <a:r>
              <a:rPr lang="en-US" altLang="ko-KR" sz="1000" dirty="0"/>
              <a:t>      border-radius: 4px;</a:t>
            </a:r>
          </a:p>
          <a:p>
            <a:r>
              <a:rPr lang="en-US" altLang="ko-KR" sz="1000" dirty="0"/>
              <a:t>      cursor: pointer;</a:t>
            </a:r>
          </a:p>
          <a:p>
            <a:r>
              <a:rPr lang="en-US" altLang="ko-KR" sz="1000" dirty="0"/>
              <a:t>    }</a:t>
            </a:r>
          </a:p>
          <a:p>
            <a:endParaRPr lang="en-US" altLang="ko-KR" sz="1000" dirty="0"/>
          </a:p>
          <a:p>
            <a:r>
              <a:rPr lang="en-US" altLang="ko-KR" sz="1000" dirty="0"/>
              <a:t>    input[type="submit"]:hover {</a:t>
            </a:r>
          </a:p>
          <a:p>
            <a:r>
              <a:rPr lang="en-US" altLang="ko-KR" sz="1000" dirty="0"/>
              <a:t>      background-color: #03895a;</a:t>
            </a:r>
          </a:p>
          <a:p>
            <a:r>
              <a:rPr lang="en-US" altLang="ko-KR" sz="1000" dirty="0"/>
              <a:t>    }</a:t>
            </a:r>
          </a:p>
          <a:p>
            <a:r>
              <a:rPr lang="en-US" altLang="ko-KR" sz="1000" dirty="0"/>
              <a:t>&lt;/style&gt;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430A541-3DB3-81CF-07B2-00839F9DD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710" y="1917065"/>
            <a:ext cx="4236720" cy="2816860"/>
          </a:xfrm>
          <a:prstGeom prst="rect">
            <a:avLst/>
          </a:prstGeom>
        </p:spPr>
      </p:pic>
      <p:sp>
        <p:nvSpPr>
          <p:cNvPr id="9" name="텍스트 상자 3"/>
          <p:cNvSpPr txBox="1">
            <a:spLocks/>
          </p:cNvSpPr>
          <p:nvPr/>
        </p:nvSpPr>
        <p:spPr>
          <a:xfrm rot="0">
            <a:off x="1371600" y="1790700"/>
            <a:ext cx="1816100" cy="26225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sz="1100">
                <a:latin typeface="맑은 고딕" charset="0"/>
                <a:ea typeface="맑은 고딕" charset="0"/>
              </a:rPr>
              <a:t>1</a:t>
            </a:r>
            <a:r>
              <a:rPr sz="1100">
                <a:latin typeface="맑은 고딕" charset="0"/>
                <a:ea typeface="맑은 고딕" charset="0"/>
              </a:rPr>
              <a:t>00정도 하</a:t>
            </a:r>
            <a:r>
              <a:rPr lang="ko-KR" sz="1100">
                <a:latin typeface="맑은 고딕" charset="0"/>
                <a:ea typeface="맑은 고딕" charset="0"/>
              </a:rPr>
              <a:t>면 </a:t>
            </a:r>
            <a:r>
              <a:rPr lang="ko-KR" sz="1100">
                <a:latin typeface="맑은 고딕" charset="0"/>
                <a:ea typeface="맑은 고딕" charset="0"/>
              </a:rPr>
              <a:t>웹</a:t>
            </a:r>
            <a:r>
              <a:rPr lang="ko-KR" sz="1100">
                <a:latin typeface="맑은 고딕" charset="0"/>
                <a:ea typeface="맑은 고딕" charset="0"/>
              </a:rPr>
              <a:t>에서 꽉참</a:t>
            </a:r>
            <a:endParaRPr lang="ko-KR" altLang="en-US" sz="11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9167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6AE939-5268-D02F-FE0B-96CB25244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박스모델과 응용</a:t>
            </a:r>
            <a:r>
              <a:rPr lang="en-US" altLang="ko-KR" dirty="0"/>
              <a:t>(16)</a:t>
            </a:r>
            <a:br>
              <a:rPr lang="en-US" altLang="ko-KR" dirty="0"/>
            </a:br>
            <a:r>
              <a:rPr lang="en-US" altLang="ko-KR" dirty="0"/>
              <a:t>					</a:t>
            </a:r>
            <a:r>
              <a:rPr lang="ko-KR" altLang="en-US" dirty="0"/>
              <a:t>효과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B29B3D-B8B1-5B8F-5139-777E9A5AD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8447980" cy="1412379"/>
          </a:xfrm>
        </p:spPr>
        <p:txBody>
          <a:bodyPr>
            <a:normAutofit fontScale="70000" lnSpcReduction="20000"/>
          </a:bodyPr>
          <a:lstStyle/>
          <a:p>
            <a:r>
              <a:rPr lang="ko-KR" altLang="en-US" dirty="0"/>
              <a:t>투명도와 가시성</a:t>
            </a:r>
            <a:r>
              <a:rPr lang="en-US" altLang="ko-KR" dirty="0"/>
              <a:t>, </a:t>
            </a:r>
            <a:r>
              <a:rPr lang="ko-KR" altLang="en-US" dirty="0"/>
              <a:t>전환에 대해 살펴본다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투명도</a:t>
            </a:r>
            <a:endParaRPr lang="en-US" altLang="ko-KR" b="1" dirty="0"/>
          </a:p>
          <a:p>
            <a:pPr lvl="1"/>
            <a:r>
              <a:rPr lang="en-US" altLang="ko-KR" dirty="0"/>
              <a:t>Opacity </a:t>
            </a:r>
            <a:r>
              <a:rPr lang="ko-KR" altLang="en-US" dirty="0"/>
              <a:t>속성을 이용하면 요소의 투명도를 조절할 수 있다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투명도는 실수 값 </a:t>
            </a:r>
            <a:r>
              <a:rPr lang="en-US" altLang="ko-KR" dirty="0"/>
              <a:t>0.0~1.0</a:t>
            </a:r>
            <a:r>
              <a:rPr lang="ko-KR" altLang="en-US" dirty="0"/>
              <a:t>까지 사용한다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마우스를 특정 그림에 위치</a:t>
            </a:r>
            <a:r>
              <a:rPr lang="en-US" altLang="ko-KR" dirty="0"/>
              <a:t>(</a:t>
            </a:r>
            <a:r>
              <a:rPr lang="ko-KR" altLang="en-US" dirty="0" err="1"/>
              <a:t>호버링</a:t>
            </a:r>
            <a:r>
              <a:rPr lang="en-US" altLang="ko-KR" dirty="0"/>
              <a:t>)</a:t>
            </a:r>
            <a:r>
              <a:rPr lang="ko-KR" altLang="en-US" dirty="0"/>
              <a:t>시키면 그림이 투명해지는 효과를 연출할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9456C0-1A3B-4D6D-5382-16A509D702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04DF83-1684-420D-D40B-22EF971FF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B908F3-8F79-220D-7636-F5FDFB1615FC}"/>
              </a:ext>
            </a:extLst>
          </p:cNvPr>
          <p:cNvSpPr txBox="1"/>
          <p:nvPr/>
        </p:nvSpPr>
        <p:spPr>
          <a:xfrm>
            <a:off x="467543" y="2712525"/>
            <a:ext cx="5256585" cy="347787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&lt;!DOCTYPE html&gt;</a:t>
            </a:r>
          </a:p>
          <a:p>
            <a:r>
              <a:rPr lang="en-US" altLang="ko-KR" sz="1400" dirty="0"/>
              <a:t>&lt;html&gt;</a:t>
            </a:r>
          </a:p>
          <a:p>
            <a:r>
              <a:rPr lang="en-US" altLang="ko-KR" sz="1400" dirty="0"/>
              <a:t>&lt;head&gt;</a:t>
            </a:r>
          </a:p>
          <a:p>
            <a:r>
              <a:rPr lang="en-US" altLang="ko-KR" sz="1400" dirty="0"/>
              <a:t>  &lt;meta charset="UTF-8"&gt;</a:t>
            </a:r>
          </a:p>
          <a:p>
            <a:r>
              <a:rPr lang="en-US" altLang="ko-KR" sz="1400" dirty="0"/>
              <a:t>  &lt;title&gt;</a:t>
            </a:r>
            <a:r>
              <a:rPr lang="ko-KR" altLang="en-US" sz="1400" dirty="0"/>
              <a:t>투명도 예제</a:t>
            </a:r>
            <a:r>
              <a:rPr lang="en-US" altLang="ko-KR" sz="1400" dirty="0"/>
              <a:t>&lt;/title&gt;</a:t>
            </a:r>
          </a:p>
          <a:p>
            <a:r>
              <a:rPr lang="en-US" altLang="ko-KR" sz="1400" dirty="0"/>
              <a:t>  </a:t>
            </a:r>
            <a:r>
              <a:rPr lang="en-US" altLang="ko-KR" sz="1400" b="1" dirty="0"/>
              <a:t>&lt;style&gt;</a:t>
            </a:r>
          </a:p>
          <a:p>
            <a:r>
              <a:rPr lang="en-US" altLang="ko-KR" sz="1400" b="1" dirty="0"/>
              <a:t>    img { opacity: 0.4; }</a:t>
            </a:r>
          </a:p>
          <a:p>
            <a:r>
              <a:rPr lang="en-US" altLang="ko-KR" sz="1400" b="1" dirty="0"/>
              <a:t>    </a:t>
            </a:r>
            <a:r>
              <a:rPr lang="en-US" altLang="ko-KR" sz="1400" b="1" dirty="0" err="1"/>
              <a:t>img:hover</a:t>
            </a:r>
            <a:r>
              <a:rPr lang="en-US" altLang="ko-KR" sz="1400" b="1" dirty="0"/>
              <a:t> { opacity: 1.0; }</a:t>
            </a:r>
          </a:p>
          <a:p>
            <a:r>
              <a:rPr lang="en-US" altLang="ko-KR" sz="1400" b="1" dirty="0"/>
              <a:t>  &lt;/style&gt;</a:t>
            </a:r>
          </a:p>
          <a:p>
            <a:r>
              <a:rPr lang="en-US" altLang="ko-KR" sz="1400" dirty="0"/>
              <a:t>&lt;/head&gt;</a:t>
            </a:r>
          </a:p>
          <a:p>
            <a:r>
              <a:rPr lang="en-US" altLang="ko-KR" sz="1400" dirty="0"/>
              <a:t>&lt;body&gt;</a:t>
            </a:r>
          </a:p>
          <a:p>
            <a:r>
              <a:rPr lang="en-US" altLang="ko-KR" sz="1400" dirty="0"/>
              <a:t>  &lt;h2&gt;Opacity&lt;/h2&gt;</a:t>
            </a:r>
          </a:p>
          <a:p>
            <a:r>
              <a:rPr lang="en-US" altLang="ko-KR" sz="1400" dirty="0"/>
              <a:t>  &lt;img src="./icon.png" width="150" height="120" alt="star"&gt;</a:t>
            </a:r>
          </a:p>
          <a:p>
            <a:r>
              <a:rPr lang="en-US" altLang="ko-KR" sz="1400" dirty="0"/>
              <a:t>&lt;/body&gt;</a:t>
            </a:r>
          </a:p>
          <a:p>
            <a:r>
              <a:rPr lang="en-US" altLang="ko-KR" sz="1400" dirty="0"/>
              <a:t>&lt;/html&gt;</a:t>
            </a:r>
          </a:p>
          <a:p>
            <a:endParaRPr lang="en-US" altLang="ko-KR" sz="10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F5A71C9-3FED-9E9F-DE86-15059883E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176" y="2712525"/>
            <a:ext cx="1518366" cy="169974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B2A6C9A-5DDD-C901-1423-447B1C151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309" y="4530354"/>
            <a:ext cx="1495234" cy="166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796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4171BB-3E44-52C1-8E4D-B9A065094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146050"/>
            <a:ext cx="7773035" cy="762635"/>
          </a:xfrm>
        </p:spPr>
        <p:txBody>
          <a:bodyPr/>
          <a:lstStyle/>
          <a:p>
            <a:r>
              <a:rPr lang="ko-KR" altLang="en-US" dirty="0"/>
              <a:t>박스모델과 응용</a:t>
            </a:r>
            <a:r>
              <a:rPr lang="en-US" altLang="ko-KR" dirty="0"/>
              <a:t>(17)</a:t>
            </a:r>
            <a:br>
              <a:rPr lang="en-US" altLang="ko-KR" dirty="0"/>
            </a:br>
            <a:r>
              <a:rPr lang="en-US" altLang="ko-KR" dirty="0"/>
              <a:t>					</a:t>
            </a:r>
            <a:r>
              <a:rPr lang="ko-KR" altLang="en-US" dirty="0"/>
              <a:t>효과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4BF120-1DA4-0241-283F-ED819E397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772400" cy="1340485"/>
          </a:xfrm>
        </p:spPr>
        <p:txBody>
          <a:bodyPr/>
          <a:lstStyle/>
          <a:p>
            <a:r>
              <a:rPr lang="ko-KR" altLang="en-US" dirty="0"/>
              <a:t>가시성</a:t>
            </a:r>
            <a:endParaRPr lang="en-US" altLang="ko-KR" dirty="0"/>
          </a:p>
          <a:p>
            <a:pPr lvl="1"/>
            <a:r>
              <a:rPr lang="ko-KR" altLang="en-US" dirty="0"/>
              <a:t>가시성이란 어떤 요소를 보이거나 안보이게 하는 것이다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속성으로는 </a:t>
            </a:r>
            <a:r>
              <a:rPr lang="en-US" altLang="ko-KR" dirty="0"/>
              <a:t>visibility</a:t>
            </a:r>
            <a:r>
              <a:rPr lang="ko-KR" altLang="en-US" dirty="0"/>
              <a:t>가 사용된다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5966A8-D2D6-2B3A-B84A-296D48D502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12000" y="6419850"/>
            <a:ext cx="1905635" cy="305435"/>
          </a:xfrm>
        </p:spPr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4D693D-F164-25DF-3E70-DC10F8456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255" y="6393180"/>
            <a:ext cx="3110230" cy="349885"/>
          </a:xfrm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23874F-65EC-7C33-97AA-39367E3E3E08}"/>
              </a:ext>
            </a:extLst>
          </p:cNvPr>
          <p:cNvSpPr txBox="1"/>
          <p:nvPr/>
        </p:nvSpPr>
        <p:spPr>
          <a:xfrm>
            <a:off x="683260" y="2493010"/>
            <a:ext cx="5088255" cy="364744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&lt;!DOCTYPE html&gt;</a:t>
            </a:r>
          </a:p>
          <a:p>
            <a:r>
              <a:rPr lang="en-US" altLang="ko-KR" sz="1100" dirty="0"/>
              <a:t>&lt;html lang="en"&gt;</a:t>
            </a:r>
          </a:p>
          <a:p>
            <a:r>
              <a:rPr lang="en-US" altLang="ko-KR" sz="1100" dirty="0"/>
              <a:t>&lt;head&gt;</a:t>
            </a:r>
          </a:p>
          <a:p>
            <a:r>
              <a:rPr lang="en-US" altLang="ko-KR" sz="1100" dirty="0"/>
              <a:t>  &lt;meta charset="UTF-8"&gt;</a:t>
            </a:r>
          </a:p>
          <a:p>
            <a:r>
              <a:rPr lang="en-US" altLang="ko-KR" sz="1100" dirty="0"/>
              <a:t>  &lt;title&gt;</a:t>
            </a:r>
            <a:r>
              <a:rPr lang="ko-KR" altLang="en-US" sz="1100" dirty="0"/>
              <a:t>가시성 예제</a:t>
            </a:r>
            <a:r>
              <a:rPr lang="en-US" altLang="ko-KR" sz="1100" dirty="0"/>
              <a:t>&lt;/title&gt;</a:t>
            </a:r>
          </a:p>
          <a:p>
            <a:r>
              <a:rPr lang="en-US" altLang="ko-KR" sz="1100" dirty="0"/>
              <a:t>  </a:t>
            </a:r>
            <a:r>
              <a:rPr lang="en-US" altLang="ko-KR" sz="1100" b="1" dirty="0"/>
              <a:t>&lt;style&gt;</a:t>
            </a:r>
          </a:p>
          <a:p>
            <a:r>
              <a:rPr lang="en-US" altLang="ko-KR" sz="1100" b="1" dirty="0"/>
              <a:t>    #a {</a:t>
            </a:r>
          </a:p>
          <a:p>
            <a:r>
              <a:rPr lang="en-US" altLang="ko-KR" sz="1100" b="1" dirty="0"/>
              <a:t>      visibility: hidden;</a:t>
            </a:r>
          </a:p>
          <a:p>
            <a:r>
              <a:rPr lang="en-US" altLang="ko-KR" sz="1100" b="1" dirty="0"/>
              <a:t>      border: 2px solid red;</a:t>
            </a:r>
          </a:p>
          <a:p>
            <a:r>
              <a:rPr lang="en-US" altLang="ko-KR" sz="1100" b="1" dirty="0"/>
              <a:t>    }</a:t>
            </a:r>
          </a:p>
          <a:p>
            <a:endParaRPr lang="en-US" altLang="ko-KR" sz="1100" b="1" dirty="0"/>
          </a:p>
          <a:p>
            <a:r>
              <a:rPr lang="en-US" altLang="ko-KR" sz="1100" b="1" dirty="0"/>
              <a:t>    #b {</a:t>
            </a:r>
          </a:p>
          <a:p>
            <a:r>
              <a:rPr lang="en-US" altLang="ko-KR" sz="1100" b="1" dirty="0"/>
              <a:t>      visibility: visible;</a:t>
            </a:r>
          </a:p>
          <a:p>
            <a:r>
              <a:rPr lang="en-US" altLang="ko-KR" sz="1100" b="1" dirty="0"/>
              <a:t>      border: 2px solid red;</a:t>
            </a:r>
          </a:p>
          <a:p>
            <a:r>
              <a:rPr lang="en-US" altLang="ko-KR" sz="1100" b="1" dirty="0"/>
              <a:t>    }  &lt;/style&gt;</a:t>
            </a:r>
          </a:p>
          <a:p>
            <a:r>
              <a:rPr lang="en-US" altLang="ko-KR" sz="1100" dirty="0"/>
              <a:t>&lt;/head&gt;</a:t>
            </a:r>
          </a:p>
          <a:p>
            <a:r>
              <a:rPr lang="en-US" altLang="ko-KR" sz="1100" dirty="0"/>
              <a:t>&lt;body&gt;</a:t>
            </a:r>
          </a:p>
          <a:p>
            <a:r>
              <a:rPr lang="en-US" altLang="ko-KR" sz="1100" dirty="0"/>
              <a:t>  &lt;img id ="a" src="./icon.png" width="150" height="120" alt="star"&gt;</a:t>
            </a:r>
          </a:p>
          <a:p>
            <a:r>
              <a:rPr lang="en-US" altLang="ko-KR" sz="1100" dirty="0"/>
              <a:t>  &lt;img id ="b" src="./img/space1.png" width="150" height="120" alt="star"&gt;</a:t>
            </a:r>
          </a:p>
          <a:p>
            <a:r>
              <a:rPr lang="en-US" altLang="ko-KR" sz="1100" dirty="0"/>
              <a:t>&lt;/body&gt;</a:t>
            </a:r>
          </a:p>
          <a:p>
            <a:r>
              <a:rPr lang="en-US" altLang="ko-KR" sz="1100" dirty="0"/>
              <a:t>&lt;/html&gt;</a:t>
            </a:r>
            <a:endParaRPr lang="ko-KR" altLang="en-US" sz="11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45E5675-7BEA-5252-10E5-B6766E52C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200" y="2459355"/>
            <a:ext cx="2397760" cy="10458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잉크 1"/>
              <p14:cNvContentPartPr/>
              <p14:nvPr/>
            </p14:nvContentPartPr>
            <p14:xfrm>
              <a:off x="1223645" y="2095500"/>
              <a:ext cx="3270885" cy="4070350"/>
            </p14:xfrm>
          </p:contentPart>
        </mc:Choice>
        <mc:Fallback>
          <p:pic>
            <p:nvPicPr>
              <p:cNvPr id="9" name="잉크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23645" y="2095500"/>
                <a:ext cx="3270885" cy="4070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잉크 2"/>
              <p14:cNvContentPartPr/>
              <p14:nvPr/>
            </p14:nvContentPartPr>
            <p14:xfrm>
              <a:off x="1495425" y="2454910"/>
              <a:ext cx="4335145" cy="3143250"/>
            </p14:xfrm>
          </p:contentPart>
        </mc:Choice>
        <mc:Fallback>
          <p:pic>
            <p:nvPicPr>
              <p:cNvPr id="10" name="잉크 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95425" y="2454910"/>
                <a:ext cx="4335145" cy="314325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51297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E4A9E5-4AA5-C600-0FF4-6CBE4A09A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146050"/>
            <a:ext cx="7773035" cy="762635"/>
          </a:xfrm>
        </p:spPr>
        <p:txBody>
          <a:bodyPr/>
          <a:lstStyle/>
          <a:p>
            <a:r>
              <a:rPr lang="ko-KR" altLang="en-US" dirty="0"/>
              <a:t>박스모델과 응용</a:t>
            </a:r>
            <a:r>
              <a:rPr lang="en-US" altLang="ko-KR" dirty="0"/>
              <a:t>(18)</a:t>
            </a:r>
            <a:br>
              <a:rPr lang="en-US" altLang="ko-KR" dirty="0"/>
            </a:br>
            <a:r>
              <a:rPr lang="en-US" altLang="ko-KR" dirty="0"/>
              <a:t>					</a:t>
            </a:r>
            <a:r>
              <a:rPr lang="ko-KR" altLang="en-US" dirty="0"/>
              <a:t>효과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6F4B66-9F94-083F-28DA-CEE2145D1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772400" cy="1434465"/>
          </a:xfrm>
        </p:spPr>
        <p:txBody>
          <a:bodyPr>
            <a:normAutofit fontScale="55000" lnSpcReduction="20000"/>
          </a:bodyPr>
          <a:lstStyle/>
          <a:p>
            <a:r>
              <a:rPr lang="ko-KR" altLang="en-US" b="1" dirty="0"/>
              <a:t>전환</a:t>
            </a:r>
            <a:endParaRPr lang="en-US" altLang="ko-KR" b="1" dirty="0"/>
          </a:p>
          <a:p>
            <a:pPr lvl="1"/>
            <a:r>
              <a:rPr lang="en-US" altLang="ko-KR" dirty="0"/>
              <a:t>CSS</a:t>
            </a:r>
            <a:r>
              <a:rPr lang="ko-KR" altLang="en-US" dirty="0"/>
              <a:t>를 사용하면 하나의 형태에서 다른 형태로 변화되는 효과를 추가할 수 있다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예전에는 플래시나 자바스크립트에서 가능한 부분 이였으나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css</a:t>
            </a:r>
            <a:r>
              <a:rPr lang="ko-KR" altLang="en-US" dirty="0"/>
              <a:t>에서도 이제 쉽게 사용할 수 있다</a:t>
            </a:r>
            <a:r>
              <a:rPr lang="en-US" altLang="ko-KR" dirty="0"/>
              <a:t>.</a:t>
            </a:r>
          </a:p>
          <a:p>
            <a:pPr lvl="3"/>
            <a:r>
              <a:rPr lang="ko-KR" altLang="en-US" dirty="0"/>
              <a:t>효과를 추가하고 싶은 </a:t>
            </a:r>
            <a:r>
              <a:rPr lang="en-US" altLang="ko-KR" dirty="0"/>
              <a:t>css </a:t>
            </a:r>
            <a:r>
              <a:rPr lang="ko-KR" altLang="en-US" dirty="0"/>
              <a:t>속성을 지정한다</a:t>
            </a:r>
            <a:r>
              <a:rPr lang="en-US" altLang="ko-KR" dirty="0"/>
              <a:t>.</a:t>
            </a:r>
          </a:p>
          <a:p>
            <a:pPr lvl="3"/>
            <a:r>
              <a:rPr lang="ko-KR" altLang="en-US" dirty="0"/>
              <a:t>효과의 지속 시간을 지정한다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4133B4-0BBA-D2E4-A403-D744AEA37A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12000" y="6419850"/>
            <a:ext cx="1905635" cy="305435"/>
          </a:xfrm>
        </p:spPr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BC36D8-6424-CD02-936D-BD87C1501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255" y="6393180"/>
            <a:ext cx="3110230" cy="349885"/>
          </a:xfrm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D30666-9E55-10BD-EA3D-223FC7117FD2}"/>
              </a:ext>
            </a:extLst>
          </p:cNvPr>
          <p:cNvSpPr txBox="1"/>
          <p:nvPr/>
        </p:nvSpPr>
        <p:spPr>
          <a:xfrm>
            <a:off x="729615" y="2237740"/>
            <a:ext cx="4437380" cy="415734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en-US" altLang="ko-KR" sz="1200"/>
              <a:t>&lt;!DOCTYPE html&gt;</a:t>
            </a:r>
            <a:endParaRPr lang="ko-KR" altLang="en-US" sz="1200"/>
          </a:p>
          <a:p>
            <a:pPr marL="0" indent="0">
              <a:buFontTx/>
              <a:buNone/>
            </a:pPr>
            <a:r>
              <a:rPr lang="en-US" altLang="ko-KR" sz="1200"/>
              <a:t>&lt;html&gt;</a:t>
            </a:r>
            <a:endParaRPr lang="ko-KR" altLang="en-US" sz="1200"/>
          </a:p>
          <a:p>
            <a:pPr marL="0" indent="0">
              <a:buFontTx/>
              <a:buNone/>
            </a:pPr>
            <a:r>
              <a:rPr lang="en-US" altLang="ko-KR" sz="1200"/>
              <a:t>&lt;head&gt;</a:t>
            </a:r>
            <a:endParaRPr lang="ko-KR" altLang="en-US" sz="1200"/>
          </a:p>
          <a:p>
            <a:pPr marL="0" indent="0">
              <a:buFontTx/>
              <a:buNone/>
            </a:pPr>
            <a:r>
              <a:rPr lang="en-US" altLang="ko-KR" sz="1200"/>
              <a:t>  &lt;meta charset="UTF-8"&gt;</a:t>
            </a:r>
            <a:endParaRPr lang="ko-KR" altLang="en-US" sz="1200"/>
          </a:p>
          <a:p>
            <a:pPr marL="0" indent="0">
              <a:buFontTx/>
              <a:buNone/>
            </a:pPr>
            <a:r>
              <a:rPr lang="en-US" altLang="ko-KR" sz="1200"/>
              <a:t>  &lt;title&gt;</a:t>
            </a:r>
            <a:r>
              <a:rPr lang="ko-KR" altLang="en-US" sz="1200"/>
              <a:t>전환 예제</a:t>
            </a:r>
            <a:r>
              <a:rPr lang="en-US" altLang="ko-KR" sz="1200"/>
              <a:t>&lt;/title&gt;</a:t>
            </a:r>
            <a:endParaRPr lang="ko-KR" altLang="en-US" sz="1200"/>
          </a:p>
          <a:p>
            <a:pPr marL="0" indent="0">
              <a:buFontTx/>
              <a:buNone/>
            </a:pPr>
            <a:r>
              <a:rPr lang="en-US" altLang="ko-KR" sz="1200"/>
              <a:t>  &lt;style&gt;</a:t>
            </a:r>
            <a:endParaRPr lang="ko-KR" altLang="en-US" sz="1200"/>
          </a:p>
          <a:p>
            <a:pPr marL="0" indent="0">
              <a:buFontTx/>
              <a:buNone/>
            </a:pPr>
            <a:r>
              <a:rPr lang="en-US" altLang="ko-KR" sz="1200"/>
              <a:t>    </a:t>
            </a:r>
            <a:r>
              <a:rPr lang="en-US" altLang="ko-KR" sz="1200" b="1"/>
              <a:t>div {</a:t>
            </a:r>
            <a:endParaRPr lang="ko-KR" altLang="en-US" sz="1200" b="1"/>
          </a:p>
          <a:p>
            <a:pPr marL="0" indent="0">
              <a:buFontTx/>
              <a:buNone/>
            </a:pPr>
            <a:r>
              <a:rPr lang="en-US" altLang="ko-KR" sz="1200" b="1"/>
              <a:t>      width: 100px;</a:t>
            </a:r>
            <a:endParaRPr lang="ko-KR" altLang="en-US" sz="1200" b="1"/>
          </a:p>
          <a:p>
            <a:pPr marL="0" indent="0">
              <a:buFontTx/>
              <a:buNone/>
            </a:pPr>
            <a:r>
              <a:rPr lang="en-US" altLang="ko-KR" sz="1200" b="1"/>
              <a:t>      height: 100px;</a:t>
            </a:r>
            <a:endParaRPr lang="ko-KR" altLang="en-US" sz="1200" b="1"/>
          </a:p>
          <a:p>
            <a:pPr marL="0" indent="0">
              <a:buFontTx/>
              <a:buNone/>
            </a:pPr>
            <a:r>
              <a:rPr lang="en-US" altLang="ko-KR" sz="1200" b="1"/>
              <a:t>      border: 1px solid black;</a:t>
            </a:r>
            <a:endParaRPr lang="ko-KR" altLang="en-US" sz="1200" b="1"/>
          </a:p>
          <a:p>
            <a:pPr marL="0" indent="0">
              <a:buFontTx/>
              <a:buNone/>
            </a:pPr>
            <a:r>
              <a:rPr lang="en-US" altLang="ko-KR" sz="1200" b="1"/>
              <a:t>      background: yellow;</a:t>
            </a:r>
            <a:endParaRPr lang="ko-KR" altLang="en-US" sz="1200" b="1"/>
          </a:p>
          <a:p>
            <a:pPr marL="0" indent="0">
              <a:buFontTx/>
              <a:buNone/>
            </a:pPr>
            <a:r>
              <a:rPr lang="en-US" altLang="ko-KR" sz="1200" b="1"/>
              <a:t>      transition: width 5s;</a:t>
            </a:r>
            <a:endParaRPr lang="ko-KR" altLang="en-US" sz="1200" b="1"/>
          </a:p>
          <a:p>
            <a:pPr marL="0" indent="0">
              <a:buFontTx/>
              <a:buNone/>
            </a:pPr>
            <a:r>
              <a:rPr lang="en-US" altLang="ko-KR" sz="1200" b="1"/>
              <a:t>    }</a:t>
            </a:r>
            <a:endParaRPr lang="ko-KR" altLang="en-US" sz="1200" b="1"/>
          </a:p>
          <a:p>
            <a:pPr marL="0" indent="0">
              <a:buFontTx/>
              <a:buNone/>
            </a:pPr>
            <a:r>
              <a:rPr lang="en-US" altLang="ko-KR" sz="1200" b="1"/>
              <a:t>    div:hover {</a:t>
            </a:r>
            <a:endParaRPr lang="ko-KR" altLang="en-US" sz="1200" b="1"/>
          </a:p>
          <a:p>
            <a:pPr marL="0" indent="0">
              <a:buFontTx/>
              <a:buNone/>
            </a:pPr>
            <a:r>
              <a:rPr lang="en-US" altLang="ko-KR" sz="1200" b="1"/>
              <a:t>      width: 200px;</a:t>
            </a:r>
            <a:r>
              <a:rPr lang="ko-KR" altLang="ko-KR" sz="1200" b="1"/>
              <a:t> </a:t>
            </a:r>
            <a:r>
              <a:rPr lang="ko-KR" altLang="ko-KR" sz="1200" b="1"/>
              <a:t>  </a:t>
            </a:r>
            <a:endParaRPr lang="ko-KR" altLang="en-US" sz="1200" b="1"/>
          </a:p>
          <a:p>
            <a:pPr marL="0" indent="0">
              <a:buFontTx/>
              <a:buNone/>
            </a:pPr>
            <a:r>
              <a:rPr lang="en-US" altLang="ko-KR" sz="1200" b="1"/>
              <a:t>    }</a:t>
            </a:r>
            <a:endParaRPr lang="ko-KR" altLang="en-US" sz="1200" b="1"/>
          </a:p>
          <a:p>
            <a:pPr marL="0" indent="0">
              <a:buFontTx/>
              <a:buNone/>
            </a:pPr>
            <a:r>
              <a:rPr lang="en-US" altLang="ko-KR" sz="1200"/>
              <a:t>  &lt;/style&gt;</a:t>
            </a:r>
            <a:endParaRPr lang="ko-KR" altLang="en-US" sz="1200"/>
          </a:p>
          <a:p>
            <a:pPr marL="0" indent="0">
              <a:buFontTx/>
              <a:buNone/>
            </a:pPr>
            <a:r>
              <a:rPr lang="en-US" altLang="ko-KR" sz="1200"/>
              <a:t>&lt;/head&gt;</a:t>
            </a:r>
            <a:endParaRPr lang="ko-KR" altLang="en-US" sz="1200"/>
          </a:p>
          <a:p>
            <a:pPr marL="0" indent="0">
              <a:buFontTx/>
              <a:buNone/>
            </a:pPr>
            <a:r>
              <a:rPr lang="en-US" altLang="ko-KR" sz="1200"/>
              <a:t>&lt;body&gt;</a:t>
            </a:r>
            <a:endParaRPr lang="ko-KR" altLang="en-US" sz="1200"/>
          </a:p>
          <a:p>
            <a:pPr marL="0" indent="0">
              <a:buFontTx/>
              <a:buNone/>
            </a:pPr>
            <a:r>
              <a:rPr lang="en-US" altLang="ko-KR" sz="1200"/>
              <a:t>  &lt;div&gt;HELLO HTML5!!&lt;/div&gt;</a:t>
            </a:r>
            <a:endParaRPr lang="ko-KR" altLang="en-US" sz="1200"/>
          </a:p>
          <a:p>
            <a:pPr marL="0" indent="0">
              <a:buFontTx/>
              <a:buNone/>
            </a:pPr>
            <a:r>
              <a:rPr lang="en-US" altLang="ko-KR" sz="1200"/>
              <a:t>&lt;/body&gt;</a:t>
            </a:r>
            <a:endParaRPr lang="ko-KR" altLang="en-US" sz="1200"/>
          </a:p>
          <a:p>
            <a:pPr marL="0" indent="0">
              <a:buFontTx/>
              <a:buNone/>
            </a:pPr>
            <a:r>
              <a:rPr lang="en-US" altLang="ko-KR" sz="1200"/>
              <a:t>&lt;/html&gt;</a:t>
            </a:r>
            <a:endParaRPr lang="ko-KR" altLang="en-US" sz="12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A578D0A-907B-1931-7A75-6FBD1D79E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425" y="1988820"/>
            <a:ext cx="1981200" cy="206692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D525733-7223-B743-55CB-3739CC449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220" y="4421505"/>
            <a:ext cx="3590925" cy="1933575"/>
          </a:xfrm>
          <a:prstGeom prst="rect">
            <a:avLst/>
          </a:prstGeom>
        </p:spPr>
      </p:pic>
      <p:sp>
        <p:nvSpPr>
          <p:cNvPr id="11" name="텍스트 상자 3"/>
          <p:cNvSpPr txBox="1">
            <a:spLocks/>
          </p:cNvSpPr>
          <p:nvPr/>
        </p:nvSpPr>
        <p:spPr>
          <a:xfrm rot="0">
            <a:off x="2783205" y="4262755"/>
            <a:ext cx="1529080" cy="37020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>
                <a:latin typeface="맑은 고딕" charset="0"/>
                <a:ea typeface="맑은 고딕" charset="0"/>
              </a:rPr>
              <a:t>5</a:t>
            </a:r>
            <a:r>
              <a:rPr sz="1800">
                <a:latin typeface="맑은 고딕" charset="0"/>
                <a:ea typeface="맑은 고딕" charset="0"/>
              </a:rPr>
              <a:t>초간 </a:t>
            </a:r>
            <a:r>
              <a:rPr lang="ko-KR" sz="1800">
                <a:latin typeface="맑은 고딕" charset="0"/>
                <a:ea typeface="맑은 고딕" charset="0"/>
              </a:rPr>
              <a:t>넓어짐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5394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CC6974-9DD5-1C7E-F313-7FF11B153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146050"/>
            <a:ext cx="7773035" cy="762635"/>
          </a:xfrm>
        </p:spPr>
        <p:txBody>
          <a:bodyPr/>
          <a:lstStyle/>
          <a:p>
            <a:r>
              <a:rPr lang="ko-KR" altLang="en-US" dirty="0"/>
              <a:t>박스모델과 응용</a:t>
            </a:r>
            <a:r>
              <a:rPr lang="en-US" altLang="ko-KR" dirty="0"/>
              <a:t>(19)</a:t>
            </a:r>
            <a:br>
              <a:rPr lang="en-US" altLang="ko-KR" dirty="0"/>
            </a:br>
            <a:r>
              <a:rPr lang="en-US" altLang="ko-KR" dirty="0"/>
              <a:t>					CSS3 </a:t>
            </a:r>
            <a:r>
              <a:rPr lang="ko-KR" altLang="en-US" dirty="0"/>
              <a:t>변환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36A747-8F39-FC67-CAB6-E4E853469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8572500" cy="1268095"/>
          </a:xfrm>
        </p:spPr>
        <p:txBody>
          <a:bodyPr>
            <a:normAutofit fontScale="77500" lnSpcReduction="20000"/>
          </a:bodyPr>
          <a:lstStyle/>
          <a:p>
            <a:r>
              <a:rPr lang="ko-KR" altLang="en-US" dirty="0"/>
              <a:t>도형을 이동시키고</a:t>
            </a:r>
            <a:r>
              <a:rPr lang="en-US" altLang="ko-KR" dirty="0"/>
              <a:t>, </a:t>
            </a:r>
            <a:r>
              <a:rPr lang="ko-KR" altLang="en-US" dirty="0"/>
              <a:t>크기 변환 및 회전이 가능하도록 구현해본다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변환은 요소들의 크기나 형태</a:t>
            </a:r>
            <a:r>
              <a:rPr lang="en-US" altLang="ko-KR" dirty="0"/>
              <a:t>, </a:t>
            </a:r>
            <a:r>
              <a:rPr lang="ko-KR" altLang="en-US" dirty="0"/>
              <a:t>위치를 변환하는 효과로 </a:t>
            </a:r>
            <a:r>
              <a:rPr lang="en-US" altLang="ko-KR" dirty="0"/>
              <a:t>2</a:t>
            </a:r>
            <a:r>
              <a:rPr lang="ko-KR" altLang="en-US" dirty="0"/>
              <a:t>차원 또는 </a:t>
            </a:r>
            <a:r>
              <a:rPr lang="en-US" altLang="ko-KR" dirty="0"/>
              <a:t>3</a:t>
            </a:r>
            <a:r>
              <a:rPr lang="ko-KR" altLang="en-US" dirty="0"/>
              <a:t>차원으로 변환될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회전</a:t>
            </a:r>
            <a:r>
              <a:rPr lang="en-US" altLang="ko-KR" dirty="0"/>
              <a:t>, </a:t>
            </a:r>
            <a:r>
              <a:rPr lang="ko-KR" altLang="en-US" dirty="0"/>
              <a:t>비틀기</a:t>
            </a:r>
            <a:r>
              <a:rPr lang="en-US" altLang="ko-KR" dirty="0"/>
              <a:t>, </a:t>
            </a:r>
            <a:r>
              <a:rPr lang="ko-KR" altLang="en-US" dirty="0"/>
              <a:t>확대</a:t>
            </a:r>
            <a:r>
              <a:rPr lang="en-US" altLang="ko-KR" dirty="0"/>
              <a:t>/</a:t>
            </a:r>
            <a:r>
              <a:rPr lang="ko-KR" altLang="en-US" dirty="0"/>
              <a:t>축소</a:t>
            </a:r>
            <a:r>
              <a:rPr lang="en-US" altLang="ko-KR" dirty="0"/>
              <a:t>, </a:t>
            </a:r>
            <a:r>
              <a:rPr lang="ko-KR" altLang="en-US" dirty="0"/>
              <a:t>평행이동 등이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B42F43-02E3-2102-459D-71618EAC56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12000" y="6419850"/>
            <a:ext cx="1905635" cy="305435"/>
          </a:xfrm>
        </p:spPr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5EC56A-A4CF-5984-B0A8-CA05CACF2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255" y="6393180"/>
            <a:ext cx="3110230" cy="349885"/>
          </a:xfrm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594088-247D-50D9-D39E-A51737B7229A}"/>
              </a:ext>
            </a:extLst>
          </p:cNvPr>
          <p:cNvSpPr txBox="1"/>
          <p:nvPr/>
        </p:nvSpPr>
        <p:spPr>
          <a:xfrm>
            <a:off x="831850" y="2420620"/>
            <a:ext cx="4532630" cy="397002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/>
              <a:t>&lt;style&gt;</a:t>
            </a:r>
          </a:p>
          <a:p>
            <a:r>
              <a:rPr lang="ko-KR" altLang="en-US" sz="1200" dirty="0"/>
              <a:t>    </a:t>
            </a:r>
            <a:r>
              <a:rPr lang="ko-KR" altLang="en-US" sz="1200" b="1" dirty="0" err="1"/>
              <a:t>div</a:t>
            </a:r>
            <a:r>
              <a:rPr lang="ko-KR" altLang="en-US" sz="1200" dirty="0"/>
              <a:t>{</a:t>
            </a:r>
          </a:p>
          <a:p>
            <a:r>
              <a:rPr lang="ko-KR" altLang="en-US" sz="1200" dirty="0"/>
              <a:t>      </a:t>
            </a:r>
            <a:r>
              <a:rPr lang="ko-KR" altLang="en-US" sz="1200" dirty="0" err="1"/>
              <a:t>width</a:t>
            </a:r>
            <a:r>
              <a:rPr lang="ko-KR" altLang="en-US" sz="1200" dirty="0"/>
              <a:t>: 100px;</a:t>
            </a:r>
          </a:p>
          <a:p>
            <a:r>
              <a:rPr lang="ko-KR" altLang="en-US" sz="1200" dirty="0"/>
              <a:t>      </a:t>
            </a:r>
            <a:r>
              <a:rPr lang="ko-KR" altLang="en-US" sz="1200" dirty="0" err="1"/>
              <a:t>height</a:t>
            </a:r>
            <a:r>
              <a:rPr lang="ko-KR" altLang="en-US" sz="1200" dirty="0"/>
              <a:t>: 100px;</a:t>
            </a:r>
          </a:p>
          <a:p>
            <a:r>
              <a:rPr lang="ko-KR" altLang="en-US" sz="1200" dirty="0"/>
              <a:t>      background-color: </a:t>
            </a:r>
            <a:r>
              <a:rPr lang="ko-KR" altLang="en-US" sz="1200" dirty="0" err="1"/>
              <a:t>red</a:t>
            </a:r>
            <a:r>
              <a:rPr lang="ko-KR" altLang="en-US" sz="1200" dirty="0"/>
              <a:t>;</a:t>
            </a:r>
          </a:p>
          <a:p>
            <a:r>
              <a:rPr lang="ko-KR" altLang="en-US" sz="1200" dirty="0"/>
              <a:t>      </a:t>
            </a:r>
            <a:r>
              <a:rPr lang="ko-KR" altLang="en-US" sz="1200" dirty="0" err="1"/>
              <a:t>border</a:t>
            </a:r>
            <a:r>
              <a:rPr lang="ko-KR" altLang="en-US" sz="1200" dirty="0"/>
              <a:t>: 1px </a:t>
            </a:r>
            <a:r>
              <a:rPr lang="ko-KR" altLang="en-US" sz="1200" dirty="0" err="1"/>
              <a:t>solid</a:t>
            </a:r>
            <a:r>
              <a:rPr lang="ko-KR" altLang="en-US" sz="1200" dirty="0"/>
              <a:t> </a:t>
            </a:r>
            <a:r>
              <a:rPr lang="ko-KR" altLang="en-US" sz="1200" dirty="0" err="1"/>
              <a:t>black</a:t>
            </a:r>
            <a:r>
              <a:rPr lang="ko-KR" altLang="en-US" sz="1200" dirty="0"/>
              <a:t>;</a:t>
            </a:r>
          </a:p>
          <a:p>
            <a:r>
              <a:rPr lang="ko-KR" altLang="en-US" sz="1200" dirty="0"/>
              <a:t>      text-align: center;</a:t>
            </a:r>
          </a:p>
          <a:p>
            <a:r>
              <a:rPr lang="ko-KR" altLang="en-US" sz="1200" dirty="0"/>
              <a:t>    }</a:t>
            </a:r>
          </a:p>
          <a:p>
            <a:r>
              <a:rPr lang="ko-KR" altLang="en-US" sz="1200" dirty="0"/>
              <a:t>    </a:t>
            </a:r>
            <a:r>
              <a:rPr lang="ko-KR" altLang="en-US" sz="1200" b="1" dirty="0"/>
              <a:t>div#box2</a:t>
            </a:r>
            <a:r>
              <a:rPr lang="ko-KR" altLang="en-US" sz="1200" dirty="0"/>
              <a:t>{</a:t>
            </a:r>
          </a:p>
          <a:p>
            <a:r>
              <a:rPr lang="ko-KR" altLang="en-US" sz="1200" dirty="0"/>
              <a:t>      </a:t>
            </a:r>
            <a:r>
              <a:rPr lang="ko-KR" altLang="en-US" sz="1200" dirty="0" err="1"/>
              <a:t>transform</a:t>
            </a:r>
            <a:r>
              <a:rPr lang="ko-KR" altLang="en-US" sz="1200" dirty="0"/>
              <a:t>: </a:t>
            </a:r>
            <a:r>
              <a:rPr lang="ko-KR" altLang="en-US" sz="1200" dirty="0" err="1"/>
              <a:t>translate</a:t>
            </a:r>
            <a:r>
              <a:rPr lang="ko-KR" altLang="en-US" sz="1200" dirty="0"/>
              <a:t>(100px, 0px);</a:t>
            </a:r>
          </a:p>
          <a:p>
            <a:r>
              <a:rPr lang="ko-KR" altLang="en-US" sz="1200" dirty="0"/>
              <a:t>      background-color: </a:t>
            </a:r>
            <a:r>
              <a:rPr lang="ko-KR" altLang="en-US" sz="1200" dirty="0" err="1"/>
              <a:t>yellow</a:t>
            </a:r>
            <a:r>
              <a:rPr lang="ko-KR" altLang="en-US" sz="1200" dirty="0"/>
              <a:t>;</a:t>
            </a:r>
          </a:p>
          <a:p>
            <a:r>
              <a:rPr lang="ko-KR" altLang="en-US" sz="1200" dirty="0"/>
              <a:t>    }</a:t>
            </a:r>
          </a:p>
          <a:p>
            <a:r>
              <a:rPr lang="ko-KR" altLang="en-US" sz="1200" dirty="0"/>
              <a:t>    </a:t>
            </a:r>
            <a:r>
              <a:rPr lang="ko-KR" altLang="en-US" sz="1200" b="1" dirty="0"/>
              <a:t>div#box3</a:t>
            </a:r>
            <a:r>
              <a:rPr lang="ko-KR" altLang="en-US" sz="1200" dirty="0"/>
              <a:t>{</a:t>
            </a:r>
          </a:p>
          <a:p>
            <a:r>
              <a:rPr lang="ko-KR" altLang="en-US" sz="1200" dirty="0"/>
              <a:t>      </a:t>
            </a:r>
            <a:r>
              <a:rPr lang="ko-KR" altLang="en-US" sz="1200" dirty="0" err="1"/>
              <a:t>transform</a:t>
            </a:r>
            <a:r>
              <a:rPr lang="ko-KR" altLang="en-US" sz="1200" dirty="0"/>
              <a:t>: </a:t>
            </a:r>
            <a:r>
              <a:rPr lang="ko-KR" altLang="en-US" sz="1200" dirty="0" err="1"/>
              <a:t>scale</a:t>
            </a:r>
            <a:r>
              <a:rPr lang="ko-KR" altLang="en-US" sz="1200" dirty="0"/>
              <a:t>(1.2, 1.2);</a:t>
            </a:r>
          </a:p>
          <a:p>
            <a:r>
              <a:rPr lang="ko-KR" altLang="en-US" sz="1200" dirty="0"/>
              <a:t>      background-color: blue;</a:t>
            </a:r>
          </a:p>
          <a:p>
            <a:r>
              <a:rPr lang="ko-KR" altLang="en-US" sz="1200" dirty="0"/>
              <a:t>    }</a:t>
            </a:r>
          </a:p>
          <a:p>
            <a:r>
              <a:rPr lang="ko-KR" altLang="en-US" sz="1200" dirty="0"/>
              <a:t>    </a:t>
            </a:r>
            <a:r>
              <a:rPr lang="ko-KR" altLang="en-US" sz="1200" b="1" dirty="0"/>
              <a:t>div#box4</a:t>
            </a:r>
            <a:r>
              <a:rPr lang="ko-KR" altLang="en-US" sz="1200" dirty="0"/>
              <a:t>{</a:t>
            </a:r>
          </a:p>
          <a:p>
            <a:r>
              <a:rPr lang="ko-KR" altLang="en-US" sz="1200" dirty="0"/>
              <a:t>      </a:t>
            </a:r>
            <a:r>
              <a:rPr lang="ko-KR" altLang="en-US" sz="1200" dirty="0" err="1"/>
              <a:t>transform</a:t>
            </a:r>
            <a:r>
              <a:rPr lang="ko-KR" altLang="en-US" sz="1200" dirty="0"/>
              <a:t>: </a:t>
            </a:r>
            <a:r>
              <a:rPr lang="ko-KR" altLang="en-US" sz="1200" dirty="0" err="1"/>
              <a:t>rotate</a:t>
            </a:r>
            <a:r>
              <a:rPr lang="ko-KR" altLang="en-US" sz="1200" dirty="0"/>
              <a:t>(30deg);</a:t>
            </a:r>
          </a:p>
          <a:p>
            <a:r>
              <a:rPr lang="ko-KR" altLang="en-US" sz="1200" dirty="0"/>
              <a:t>      background-color: green;</a:t>
            </a:r>
          </a:p>
          <a:p>
            <a:r>
              <a:rPr lang="ko-KR" altLang="en-US" sz="1200" dirty="0"/>
              <a:t>    }</a:t>
            </a:r>
          </a:p>
          <a:p>
            <a:r>
              <a:rPr lang="ko-KR" altLang="en-US" sz="1200" dirty="0"/>
              <a:t>&lt;/style&gt;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10A3B0B-0FD2-268F-C7D9-683A262D0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100" y="2420620"/>
            <a:ext cx="2816225" cy="38512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잉크 4"/>
              <p14:cNvContentPartPr/>
              <p14:nvPr/>
            </p14:nvContentPartPr>
            <p14:xfrm>
              <a:off x="7078980" y="4625340"/>
              <a:ext cx="1196340" cy="1455420"/>
            </p14:xfrm>
          </p:contentPart>
        </mc:Choice>
        <mc:Fallback>
          <p:pic>
            <p:nvPicPr>
              <p:cNvPr id="10" name="잉크 4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78980" y="4625340"/>
                <a:ext cx="1196340" cy="14554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잉크 5"/>
              <p14:cNvContentPartPr/>
              <p14:nvPr/>
            </p14:nvContentPartPr>
            <p14:xfrm>
              <a:off x="7642860" y="5334000"/>
              <a:ext cx="251460" cy="175260"/>
            </p14:xfrm>
          </p:contentPart>
        </mc:Choice>
        <mc:Fallback>
          <p:pic>
            <p:nvPicPr>
              <p:cNvPr id="11" name="잉크 5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642860" y="5334000"/>
                <a:ext cx="251460" cy="1752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잉크 6"/>
              <p14:cNvContentPartPr/>
              <p14:nvPr/>
            </p14:nvContentPartPr>
            <p14:xfrm>
              <a:off x="7726680" y="5379720"/>
              <a:ext cx="60960" cy="563880"/>
            </p14:xfrm>
          </p:contentPart>
        </mc:Choice>
        <mc:Fallback>
          <p:pic>
            <p:nvPicPr>
              <p:cNvPr id="12" name="잉크 6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726680" y="5379720"/>
                <a:ext cx="60960" cy="5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3" name="잉크 7"/>
              <p14:cNvContentPartPr/>
              <p14:nvPr/>
            </p14:nvContentPartPr>
            <p14:xfrm>
              <a:off x="8359140" y="5448300"/>
              <a:ext cx="335280" cy="510540"/>
            </p14:xfrm>
          </p:contentPart>
        </mc:Choice>
        <mc:Fallback>
          <p:pic>
            <p:nvPicPr>
              <p:cNvPr id="13" name="잉크 7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359140" y="5448300"/>
                <a:ext cx="335280" cy="510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4" name="잉크 8"/>
              <p14:cNvContentPartPr/>
              <p14:nvPr/>
            </p14:nvContentPartPr>
            <p14:xfrm>
              <a:off x="7658100" y="5135880"/>
              <a:ext cx="845820" cy="990600"/>
            </p14:xfrm>
          </p:contentPart>
        </mc:Choice>
        <mc:Fallback>
          <p:pic>
            <p:nvPicPr>
              <p:cNvPr id="14" name="잉크 8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658100" y="5135880"/>
                <a:ext cx="845820" cy="9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5" name="잉크 4"/>
              <p14:cNvContentPartPr/>
              <p14:nvPr/>
            </p14:nvContentPartPr>
            <p14:xfrm>
              <a:off x="3566795" y="4006850"/>
              <a:ext cx="280035" cy="359410"/>
            </p14:xfrm>
          </p:contentPart>
        </mc:Choice>
        <mc:Fallback>
          <p:pic>
            <p:nvPicPr>
              <p:cNvPr id="15" name="잉크 4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566795" y="4006850"/>
                <a:ext cx="280035" cy="3594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6" name="잉크 5"/>
              <p14:cNvContentPartPr/>
              <p14:nvPr/>
            </p14:nvContentPartPr>
            <p14:xfrm>
              <a:off x="3014980" y="4566285"/>
              <a:ext cx="440055" cy="400050"/>
            </p14:xfrm>
          </p:contentPart>
        </mc:Choice>
        <mc:Fallback>
          <p:pic>
            <p:nvPicPr>
              <p:cNvPr id="16" name="잉크 5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014980" y="4566285"/>
                <a:ext cx="440055" cy="4000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7" name="잉크 6"/>
              <p14:cNvContentPartPr/>
              <p14:nvPr/>
            </p14:nvContentPartPr>
            <p14:xfrm>
              <a:off x="2959100" y="5566410"/>
              <a:ext cx="368300" cy="191770"/>
            </p14:xfrm>
          </p:contentPart>
        </mc:Choice>
        <mc:Fallback>
          <p:pic>
            <p:nvPicPr>
              <p:cNvPr id="17" name="잉크 6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959100" y="5566410"/>
                <a:ext cx="368300" cy="1917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8" name="잉크 7"/>
              <p14:cNvContentPartPr/>
              <p14:nvPr/>
            </p14:nvContentPartPr>
            <p14:xfrm>
              <a:off x="3966845" y="2303145"/>
              <a:ext cx="1447800" cy="1695450"/>
            </p14:xfrm>
          </p:contentPart>
        </mc:Choice>
        <mc:Fallback>
          <p:pic>
            <p:nvPicPr>
              <p:cNvPr id="18" name="잉크 7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966845" y="2303145"/>
                <a:ext cx="1447800" cy="169545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0411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AC38A5-5574-0F94-AF7C-9E3E801D0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146050"/>
            <a:ext cx="7773035" cy="762635"/>
          </a:xfrm>
        </p:spPr>
        <p:txBody>
          <a:bodyPr/>
          <a:lstStyle/>
          <a:p>
            <a:r>
              <a:rPr lang="ko-KR" altLang="en-US" dirty="0"/>
              <a:t>박스모델과 응용</a:t>
            </a:r>
            <a:r>
              <a:rPr lang="en-US" altLang="ko-KR" dirty="0"/>
              <a:t>(20)</a:t>
            </a:r>
            <a:br>
              <a:rPr lang="en-US" altLang="ko-KR" dirty="0"/>
            </a:br>
            <a:r>
              <a:rPr lang="en-US" altLang="ko-KR" dirty="0"/>
              <a:t>					CSS3</a:t>
            </a:r>
            <a:r>
              <a:rPr lang="ko-KR" altLang="en-US" dirty="0"/>
              <a:t> 변환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E138CE-5759-F525-D421-D2D43A251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772400" cy="1412240"/>
          </a:xfrm>
        </p:spPr>
        <p:txBody>
          <a:bodyPr/>
          <a:lstStyle/>
          <a:p>
            <a:r>
              <a:rPr lang="ko-KR" altLang="en-US" dirty="0"/>
              <a:t>비틀기</a:t>
            </a:r>
            <a:endParaRPr lang="en-US" altLang="ko-KR" dirty="0"/>
          </a:p>
          <a:p>
            <a:pPr lvl="1"/>
            <a:r>
              <a:rPr lang="ko-KR" altLang="en-US" dirty="0"/>
              <a:t>비틀기 변환은 </a:t>
            </a:r>
            <a:r>
              <a:rPr lang="en-US" altLang="ko-KR" dirty="0"/>
              <a:t>x</a:t>
            </a:r>
            <a:r>
              <a:rPr lang="ko-KR" altLang="en-US" dirty="0"/>
              <a:t>방향과 </a:t>
            </a:r>
            <a:r>
              <a:rPr lang="en-US" altLang="ko-KR" dirty="0"/>
              <a:t>y</a:t>
            </a:r>
            <a:r>
              <a:rPr lang="ko-KR" altLang="en-US" dirty="0"/>
              <a:t>방향으로 박스를 비틀어서 그리는 변환이다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46EFEA-1FC5-29BA-729F-657518A771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12000" y="6419850"/>
            <a:ext cx="1905635" cy="305435"/>
          </a:xfrm>
        </p:spPr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6F5CF1-8D66-B1B2-09DF-C52A1BF9A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255" y="6393180"/>
            <a:ext cx="3110230" cy="349885"/>
          </a:xfrm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1B690A-92EE-750B-A12D-115F117EC32F}"/>
              </a:ext>
            </a:extLst>
          </p:cNvPr>
          <p:cNvSpPr txBox="1"/>
          <p:nvPr/>
        </p:nvSpPr>
        <p:spPr>
          <a:xfrm>
            <a:off x="653415" y="2564765"/>
            <a:ext cx="3927475" cy="369316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&lt;style&gt;</a:t>
            </a:r>
          </a:p>
          <a:p>
            <a:r>
              <a:rPr lang="en-US" altLang="ko-KR" dirty="0"/>
              <a:t>    </a:t>
            </a:r>
            <a:r>
              <a:rPr lang="en-US" altLang="ko-KR" b="1" dirty="0"/>
              <a:t>div</a:t>
            </a:r>
            <a:r>
              <a:rPr lang="en-US" altLang="ko-KR" dirty="0"/>
              <a:t>{</a:t>
            </a:r>
          </a:p>
          <a:p>
            <a:r>
              <a:rPr lang="en-US" altLang="ko-KR" dirty="0"/>
              <a:t>      width: 100px;</a:t>
            </a:r>
          </a:p>
          <a:p>
            <a:r>
              <a:rPr lang="en-US" altLang="ko-KR" dirty="0"/>
              <a:t>      height: 100px;</a:t>
            </a:r>
          </a:p>
          <a:p>
            <a:r>
              <a:rPr lang="en-US" altLang="ko-KR" dirty="0"/>
              <a:t>      background-color: green;</a:t>
            </a:r>
          </a:p>
          <a:p>
            <a:r>
              <a:rPr lang="en-US" altLang="ko-KR" dirty="0"/>
              <a:t>      border: 1px solid black;</a:t>
            </a:r>
          </a:p>
          <a:p>
            <a:r>
              <a:rPr lang="en-US" altLang="ko-KR" dirty="0"/>
              <a:t>      text-align: center;</a:t>
            </a:r>
          </a:p>
          <a:p>
            <a:r>
              <a:rPr lang="en-US" altLang="ko-KR" dirty="0"/>
              <a:t>    }</a:t>
            </a:r>
          </a:p>
          <a:p>
            <a:r>
              <a:rPr lang="en-US" altLang="ko-KR" dirty="0"/>
              <a:t>    </a:t>
            </a:r>
            <a:r>
              <a:rPr lang="en-US" altLang="ko-KR" b="1" dirty="0"/>
              <a:t>div#box2</a:t>
            </a:r>
            <a:r>
              <a:rPr lang="en-US" altLang="ko-KR" dirty="0"/>
              <a:t>{</a:t>
            </a:r>
          </a:p>
          <a:p>
            <a:r>
              <a:rPr lang="en-US" altLang="ko-KR" dirty="0"/>
              <a:t>      transform: skew(30deg, 20deg);</a:t>
            </a:r>
          </a:p>
          <a:p>
            <a:r>
              <a:rPr lang="en-US" altLang="ko-KR" dirty="0"/>
              <a:t>      background-color: yellow;</a:t>
            </a:r>
          </a:p>
          <a:p>
            <a:r>
              <a:rPr lang="en-US" altLang="ko-KR" dirty="0"/>
              <a:t>    }</a:t>
            </a:r>
          </a:p>
          <a:p>
            <a:r>
              <a:rPr lang="en-US" altLang="ko-KR" dirty="0"/>
              <a:t>&lt;/style&gt;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7A3F1FC-3D44-9149-2A75-9D668C22D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355" y="2402840"/>
            <a:ext cx="2400300" cy="40481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잉크 8"/>
              <p14:cNvContentPartPr/>
              <p14:nvPr/>
            </p14:nvContentPartPr>
            <p14:xfrm>
              <a:off x="2455545" y="4830445"/>
              <a:ext cx="247650" cy="304165"/>
            </p14:xfrm>
          </p:contentPart>
        </mc:Choice>
        <mc:Fallback>
          <p:pic>
            <p:nvPicPr>
              <p:cNvPr id="11" name="잉크 8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55545" y="4830445"/>
                <a:ext cx="247650" cy="30416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8677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B91E10-CBF6-79C7-5D53-56C8A186B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146050"/>
            <a:ext cx="7773035" cy="762635"/>
          </a:xfrm>
        </p:spPr>
        <p:txBody>
          <a:bodyPr/>
          <a:lstStyle/>
          <a:p>
            <a:r>
              <a:rPr lang="ko-KR" altLang="en-US" dirty="0"/>
              <a:t>레이아웃 기초</a:t>
            </a:r>
            <a:br>
              <a:rPr lang="en-US" altLang="ko-KR" dirty="0"/>
            </a:br>
            <a:r>
              <a:rPr lang="en-US" altLang="ko-KR" dirty="0"/>
              <a:t>				</a:t>
            </a:r>
            <a:r>
              <a:rPr lang="ko-KR" altLang="en-US" dirty="0"/>
              <a:t>블록 요소와 인라인 요소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34B7B5-0308-EA67-C926-817B7D3E3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772400" cy="2247900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HTML</a:t>
            </a:r>
            <a:r>
              <a:rPr lang="ko-KR" altLang="en-US" dirty="0"/>
              <a:t> 요소들은 블록 요소이거나 인라인 요소 중의 하나에 속한다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블록 요소</a:t>
            </a:r>
            <a:endParaRPr lang="en-US" altLang="ko-KR" dirty="0"/>
          </a:p>
          <a:p>
            <a:pPr lvl="1"/>
            <a:r>
              <a:rPr lang="ko-KR" altLang="en-US" dirty="0"/>
              <a:t>블록 요소는 브라우저의 한 줄을 모두 차지한다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&lt;h1&gt;,&lt;p&gt;,&lt;ul&gt;,&lt;li&gt;,&lt;table&gt;,&lt;blockquote&gt;,&lt;pre&gt;,&lt;div&gt;,&lt;form&gt;,&lt;header&gt;,&lt;nav&gt; </a:t>
            </a:r>
            <a:r>
              <a:rPr lang="ko-KR" altLang="en-US" dirty="0"/>
              <a:t>요소들이 블록 요소이다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B4378A-842E-C587-4C33-EA03AA0B0F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12000" y="6419850"/>
            <a:ext cx="1905635" cy="305435"/>
          </a:xfrm>
        </p:spPr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ACCD7F-091B-387D-9CD6-3A0B34007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255" y="6393180"/>
            <a:ext cx="3110230" cy="349885"/>
          </a:xfrm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C93FE8-8418-95F3-213B-DF1DE4C145B3}"/>
              </a:ext>
            </a:extLst>
          </p:cNvPr>
          <p:cNvSpPr txBox="1"/>
          <p:nvPr/>
        </p:nvSpPr>
        <p:spPr>
          <a:xfrm>
            <a:off x="311150" y="3485515"/>
            <a:ext cx="8521700" cy="133985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ko-KR" sz="1400" dirty="0"/>
              <a:t>&lt;h1 style= "background-color: red"&gt;h1</a:t>
            </a:r>
            <a:r>
              <a:rPr lang="ko-KR" altLang="en-US" sz="1400" dirty="0"/>
              <a:t>으로 정의된 부분입니다</a:t>
            </a:r>
            <a:r>
              <a:rPr lang="en-US" altLang="ko-KR" sz="1400" dirty="0"/>
              <a:t>.&lt;/h1&gt;</a:t>
            </a:r>
          </a:p>
          <a:p>
            <a:pPr lvl="1">
              <a:lnSpc>
                <a:spcPct val="150000"/>
              </a:lnSpc>
            </a:pPr>
            <a:r>
              <a:rPr lang="en-US" altLang="ko-KR" sz="1400" dirty="0"/>
              <a:t>&lt;div style="background-color: aqua"&gt;div</a:t>
            </a:r>
            <a:r>
              <a:rPr lang="ko-KR" altLang="en-US" sz="1400" dirty="0"/>
              <a:t>로 정의된 부분입니다</a:t>
            </a:r>
            <a:r>
              <a:rPr lang="en-US" altLang="ko-KR" sz="1400" dirty="0"/>
              <a:t>.&lt;/div&gt;</a:t>
            </a:r>
          </a:p>
          <a:p>
            <a:pPr lvl="1">
              <a:lnSpc>
                <a:spcPct val="150000"/>
              </a:lnSpc>
            </a:pPr>
            <a:r>
              <a:rPr lang="en-US" altLang="ko-KR" sz="1400" dirty="0"/>
              <a:t>&lt;p style="background-color: yellow"&gt;p</a:t>
            </a:r>
            <a:r>
              <a:rPr lang="ko-KR" altLang="en-US" sz="1400" dirty="0"/>
              <a:t>로 정의된 부분입니다</a:t>
            </a:r>
            <a:r>
              <a:rPr lang="en-US" altLang="ko-KR" sz="1400" dirty="0"/>
              <a:t>.&lt;/p&gt;</a:t>
            </a:r>
          </a:p>
          <a:p>
            <a:pPr lvl="1">
              <a:lnSpc>
                <a:spcPct val="150000"/>
              </a:lnSpc>
            </a:pPr>
            <a:r>
              <a:rPr lang="en-US" altLang="ko-KR" sz="1400" dirty="0"/>
              <a:t>&lt;pre style="background-color:</a:t>
            </a:r>
            <a:r>
              <a:rPr lang="ko-KR" altLang="en-US" sz="1400" dirty="0"/>
              <a:t> </a:t>
            </a:r>
            <a:r>
              <a:rPr lang="en-US" altLang="ko-KR" sz="1400" dirty="0"/>
              <a:t>green"&gt;pre</a:t>
            </a:r>
            <a:r>
              <a:rPr lang="ko-KR" altLang="en-US" sz="1400" dirty="0"/>
              <a:t>로 정의된 부분입니다</a:t>
            </a:r>
            <a:r>
              <a:rPr lang="en-US" altLang="ko-KR" sz="1400" dirty="0"/>
              <a:t>.&lt;/pre&gt;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0822454-2364-698F-0AB8-57AE1A2AE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540" y="4910455"/>
            <a:ext cx="5017135" cy="1407795"/>
          </a:xfrm>
          <a:prstGeom prst="rect">
            <a:avLst/>
          </a:prstGeom>
          <a:ln>
            <a:solidFill>
              <a:srgbClr val="000000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잉크 9"/>
              <p14:cNvContentPartPr/>
              <p14:nvPr/>
            </p14:nvContentPartPr>
            <p14:xfrm>
              <a:off x="6462395" y="1775460"/>
              <a:ext cx="959485" cy="903605"/>
            </p14:xfrm>
          </p:contentPart>
        </mc:Choice>
        <mc:Fallback>
          <p:pic>
            <p:nvPicPr>
              <p:cNvPr id="11" name="잉크 9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62395" y="1775460"/>
                <a:ext cx="959485" cy="9036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잉크 10"/>
              <p14:cNvContentPartPr/>
              <p14:nvPr/>
            </p14:nvContentPartPr>
            <p14:xfrm>
              <a:off x="7589520" y="1703705"/>
              <a:ext cx="887730" cy="687705"/>
            </p14:xfrm>
          </p:contentPart>
        </mc:Choice>
        <mc:Fallback>
          <p:pic>
            <p:nvPicPr>
              <p:cNvPr id="12" name="잉크 10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89520" y="1703705"/>
                <a:ext cx="887730" cy="68770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59476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790AA7-7CA5-5558-0BBC-87437CB91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146050"/>
            <a:ext cx="7773035" cy="762635"/>
          </a:xfrm>
        </p:spPr>
        <p:txBody>
          <a:bodyPr/>
          <a:lstStyle/>
          <a:p>
            <a:r>
              <a:rPr lang="ko-KR" altLang="en-US" dirty="0"/>
              <a:t>레이아웃 기초</a:t>
            </a:r>
            <a:br>
              <a:rPr lang="en-US" altLang="ko-KR" dirty="0"/>
            </a:br>
            <a:r>
              <a:rPr lang="en-US" altLang="ko-KR" dirty="0"/>
              <a:t>				</a:t>
            </a:r>
            <a:r>
              <a:rPr lang="ko-KR" altLang="en-US" dirty="0"/>
              <a:t>블록 요소와 인라인 요소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B3534-7D1D-F719-C38F-8E099A930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773035" cy="5020310"/>
          </a:xfrm>
        </p:spPr>
        <p:txBody>
          <a:bodyPr/>
          <a:lstStyle/>
          <a:p>
            <a:r>
              <a:rPr lang="ko-KR" altLang="en-US" dirty="0"/>
              <a:t>인라인 요소들은 정상적으로는 한 줄 안에 차례대로 배치된다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&lt;a&gt;,&lt;img&gt;,&lt;strong&gt;,&lt;</a:t>
            </a:r>
            <a:r>
              <a:rPr lang="en-US" altLang="ko-KR" dirty="0" err="1"/>
              <a:t>em</a:t>
            </a:r>
            <a:r>
              <a:rPr lang="en-US" altLang="ko-KR" dirty="0"/>
              <a:t>&gt;,&lt;br&gt;,&lt;input&gt;,&lt;span&gt; </a:t>
            </a:r>
            <a:r>
              <a:rPr lang="ko-KR" altLang="en-US" dirty="0"/>
              <a:t>요소들이 인라인 요소이다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46B3CA-7E30-3FDA-AA56-CE02E35D11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12000" y="6419850"/>
            <a:ext cx="1905635" cy="305435"/>
          </a:xfrm>
        </p:spPr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09D4AC-B304-FA6B-C686-B1E85A469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255" y="6393180"/>
            <a:ext cx="3110230" cy="349885"/>
          </a:xfrm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0A7597-A331-7664-04A6-1516D3B35ACA}"/>
              </a:ext>
            </a:extLst>
          </p:cNvPr>
          <p:cNvSpPr txBox="1"/>
          <p:nvPr/>
        </p:nvSpPr>
        <p:spPr>
          <a:xfrm>
            <a:off x="419735" y="2966720"/>
            <a:ext cx="8521700" cy="134112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ko-KR" sz="1400" dirty="0"/>
              <a:t>&lt;</a:t>
            </a:r>
            <a:r>
              <a:rPr lang="en-US" altLang="ko-KR" sz="1400" dirty="0" err="1"/>
              <a:t>em</a:t>
            </a:r>
            <a:r>
              <a:rPr lang="en-US" altLang="ko-KR" sz="1400" dirty="0"/>
              <a:t> style= "background-color: red"&gt;</a:t>
            </a:r>
            <a:r>
              <a:rPr lang="en-US" altLang="ko-KR" sz="1400" dirty="0" err="1"/>
              <a:t>em</a:t>
            </a:r>
            <a:r>
              <a:rPr lang="en-US" altLang="ko-KR" sz="1400" dirty="0"/>
              <a:t> </a:t>
            </a:r>
            <a:r>
              <a:rPr lang="ko-KR" altLang="en-US" sz="1400" dirty="0"/>
              <a:t>요소</a:t>
            </a:r>
            <a:r>
              <a:rPr lang="en-US" altLang="ko-KR" sz="1400" dirty="0"/>
              <a:t>&lt;/</a:t>
            </a:r>
            <a:r>
              <a:rPr lang="en-US" altLang="ko-KR" sz="1400" dirty="0" err="1"/>
              <a:t>em</a:t>
            </a:r>
            <a:r>
              <a:rPr lang="en-US" altLang="ko-KR" sz="1400" dirty="0"/>
              <a:t>&gt;</a:t>
            </a:r>
          </a:p>
          <a:p>
            <a:pPr lvl="1">
              <a:lnSpc>
                <a:spcPct val="150000"/>
              </a:lnSpc>
            </a:pPr>
            <a:r>
              <a:rPr lang="en-US" altLang="ko-KR" sz="1400" dirty="0"/>
              <a:t>&lt;span style="background-color: aqua"&gt; span  </a:t>
            </a:r>
            <a:r>
              <a:rPr lang="ko-KR" altLang="en-US" sz="1400" dirty="0"/>
              <a:t>요소 </a:t>
            </a:r>
            <a:r>
              <a:rPr lang="en-US" altLang="ko-KR" sz="1400" dirty="0"/>
              <a:t>&lt;/span&gt;</a:t>
            </a:r>
          </a:p>
          <a:p>
            <a:pPr lvl="1">
              <a:lnSpc>
                <a:spcPct val="150000"/>
              </a:lnSpc>
            </a:pPr>
            <a:r>
              <a:rPr lang="en-US" altLang="ko-KR" sz="1400" dirty="0"/>
              <a:t>&lt;img src="pome.png" width="60" height="60"/&gt;</a:t>
            </a:r>
          </a:p>
          <a:p>
            <a:pPr lvl="1">
              <a:lnSpc>
                <a:spcPct val="150000"/>
              </a:lnSpc>
            </a:pPr>
            <a:r>
              <a:rPr lang="en-US" altLang="ko-KR" sz="1400" dirty="0"/>
              <a:t>&lt;a href="</a:t>
            </a:r>
            <a:r>
              <a:rPr lang="en-US" altLang="ko-KR" sz="1400" dirty="0"/>
              <a:t>http://www.w3c.org</a:t>
            </a:r>
            <a:r>
              <a:rPr lang="en-US" altLang="ko-KR" sz="1400" dirty="0"/>
              <a:t>"&gt;a</a:t>
            </a:r>
            <a:r>
              <a:rPr lang="ko-KR" altLang="en-US" sz="1400" dirty="0"/>
              <a:t> 요소</a:t>
            </a:r>
            <a:r>
              <a:rPr lang="en-US" altLang="ko-KR" sz="1400" dirty="0"/>
              <a:t>&lt;/a&gt;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CFE8854-3A9C-9E5D-737B-CEDDE5CD1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225" y="4763770"/>
            <a:ext cx="2495550" cy="923925"/>
          </a:xfrm>
          <a:prstGeom prst="rect">
            <a:avLst/>
          </a:prstGeom>
          <a:ln>
            <a:solidFill>
              <a:srgbClr val="000000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잉크 11"/>
              <p14:cNvContentPartPr/>
              <p14:nvPr/>
            </p14:nvContentPartPr>
            <p14:xfrm>
              <a:off x="7901940" y="927735"/>
              <a:ext cx="1087120" cy="879475"/>
            </p14:xfrm>
          </p:contentPart>
        </mc:Choice>
        <mc:Fallback>
          <p:pic>
            <p:nvPicPr>
              <p:cNvPr id="9" name="잉크 1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01940" y="927735"/>
                <a:ext cx="1087120" cy="87947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5059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6A0E0-F820-9658-321E-31549A294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레이아웃 기초</a:t>
            </a:r>
            <a:br>
              <a:rPr lang="en-US" altLang="ko-KR" dirty="0"/>
            </a:br>
            <a:r>
              <a:rPr lang="en-US" altLang="ko-KR" dirty="0"/>
              <a:t>				</a:t>
            </a:r>
            <a:r>
              <a:rPr lang="ko-KR" altLang="en-US" dirty="0"/>
              <a:t>블록 요소와 인라인 요소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C7E3E3-0F43-AD39-DEAB-616A8A195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772400" cy="1052339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dirty="0"/>
              <a:t>블록</a:t>
            </a:r>
            <a:r>
              <a:rPr lang="en-US" altLang="ko-KR" dirty="0"/>
              <a:t> </a:t>
            </a:r>
            <a:r>
              <a:rPr lang="ko-KR" altLang="en-US" dirty="0"/>
              <a:t>요소와 인라인 요소를 혼합하여 사용할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하나의 예로 인라인 요소인 </a:t>
            </a:r>
            <a:r>
              <a:rPr lang="en-US" altLang="ko-KR" dirty="0"/>
              <a:t>&lt;</a:t>
            </a:r>
            <a:r>
              <a:rPr lang="en-US" altLang="ko-KR" dirty="0" err="1"/>
              <a:t>em</a:t>
            </a:r>
            <a:r>
              <a:rPr lang="en-US" altLang="ko-KR" dirty="0"/>
              <a:t>&gt;,&lt;strong&gt;</a:t>
            </a:r>
            <a:r>
              <a:rPr lang="ko-KR" altLang="en-US" dirty="0"/>
              <a:t>과 블록 요소인 </a:t>
            </a:r>
            <a:r>
              <a:rPr lang="en-US" altLang="ko-KR" dirty="0"/>
              <a:t>&lt;p&gt;</a:t>
            </a:r>
            <a:r>
              <a:rPr lang="ko-KR" altLang="en-US" dirty="0"/>
              <a:t>를 혼합하여 웹페이지를 완성시킬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92804-DB2A-65E9-E83B-EBC0EB018D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FE80BE-E365-A0AF-6B01-B693A1241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92B9C6-1894-5659-6979-70D6976D3B1F}"/>
              </a:ext>
            </a:extLst>
          </p:cNvPr>
          <p:cNvSpPr txBox="1"/>
          <p:nvPr/>
        </p:nvSpPr>
        <p:spPr>
          <a:xfrm>
            <a:off x="311213" y="2307077"/>
            <a:ext cx="5772956" cy="398513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ko-KR" sz="1000" dirty="0"/>
              <a:t>&lt;!DOCTYPE html&gt;</a:t>
            </a:r>
          </a:p>
          <a:p>
            <a:pPr lvl="1">
              <a:lnSpc>
                <a:spcPct val="150000"/>
              </a:lnSpc>
            </a:pPr>
            <a:r>
              <a:rPr lang="en-US" altLang="ko-KR" sz="1000" dirty="0"/>
              <a:t>&lt;html&gt;</a:t>
            </a:r>
          </a:p>
          <a:p>
            <a:pPr lvl="1">
              <a:lnSpc>
                <a:spcPct val="150000"/>
              </a:lnSpc>
            </a:pPr>
            <a:r>
              <a:rPr lang="en-US" altLang="ko-KR" sz="1000" dirty="0"/>
              <a:t>&lt;meta charset="UTF-8"&gt;</a:t>
            </a:r>
          </a:p>
          <a:p>
            <a:pPr lvl="1">
              <a:lnSpc>
                <a:spcPct val="150000"/>
              </a:lnSpc>
            </a:pPr>
            <a:r>
              <a:rPr lang="en-US" altLang="ko-KR" sz="1000" dirty="0"/>
              <a:t>&lt;head&gt;</a:t>
            </a:r>
          </a:p>
          <a:p>
            <a:pPr lvl="1">
              <a:lnSpc>
                <a:spcPct val="150000"/>
              </a:lnSpc>
            </a:pPr>
            <a:r>
              <a:rPr lang="en-US" altLang="ko-KR" sz="1000" dirty="0"/>
              <a:t>	&lt;title&gt;</a:t>
            </a:r>
            <a:r>
              <a:rPr lang="ko-KR" altLang="en-US" sz="1000" dirty="0"/>
              <a:t>블록 요소와 인라인 요소</a:t>
            </a:r>
            <a:r>
              <a:rPr lang="en-US" altLang="ko-KR" sz="1000" dirty="0"/>
              <a:t>&lt;/title&gt;</a:t>
            </a:r>
          </a:p>
          <a:p>
            <a:pPr lvl="1">
              <a:lnSpc>
                <a:spcPct val="150000"/>
              </a:lnSpc>
            </a:pPr>
            <a:r>
              <a:rPr lang="en-US" altLang="ko-KR" sz="1000" dirty="0"/>
              <a:t>	&lt;style&gt;</a:t>
            </a:r>
          </a:p>
          <a:p>
            <a:pPr lvl="1">
              <a:lnSpc>
                <a:spcPct val="150000"/>
              </a:lnSpc>
            </a:pPr>
            <a:r>
              <a:rPr lang="en-US" altLang="ko-KR" sz="1000" dirty="0"/>
              <a:t>		</a:t>
            </a:r>
            <a:r>
              <a:rPr lang="en-US" altLang="ko-KR" sz="1000" b="1" dirty="0"/>
              <a:t>p, </a:t>
            </a:r>
            <a:r>
              <a:rPr lang="en-US" altLang="ko-KR" sz="1000" b="1" dirty="0" err="1"/>
              <a:t>em</a:t>
            </a:r>
            <a:r>
              <a:rPr lang="en-US" altLang="ko-KR" sz="1000" b="1" dirty="0"/>
              <a:t>, strong</a:t>
            </a:r>
            <a:r>
              <a:rPr lang="en-US" altLang="ko-KR" sz="1000" dirty="0"/>
              <a:t>{</a:t>
            </a:r>
          </a:p>
          <a:p>
            <a:pPr lvl="1">
              <a:lnSpc>
                <a:spcPct val="150000"/>
              </a:lnSpc>
            </a:pPr>
            <a:r>
              <a:rPr lang="en-US" altLang="ko-KR" sz="1000" b="1" dirty="0"/>
              <a:t>			border: dotted 3px red;</a:t>
            </a:r>
          </a:p>
          <a:p>
            <a:pPr lvl="1">
              <a:lnSpc>
                <a:spcPct val="150000"/>
              </a:lnSpc>
            </a:pPr>
            <a:r>
              <a:rPr lang="en-US" altLang="ko-KR" sz="1000" dirty="0"/>
              <a:t>		}</a:t>
            </a:r>
          </a:p>
          <a:p>
            <a:pPr lvl="1">
              <a:lnSpc>
                <a:spcPct val="150000"/>
              </a:lnSpc>
            </a:pPr>
            <a:r>
              <a:rPr lang="en-US" altLang="ko-KR" sz="1000" dirty="0"/>
              <a:t>	&lt;/style&gt;</a:t>
            </a:r>
          </a:p>
          <a:p>
            <a:pPr lvl="1">
              <a:lnSpc>
                <a:spcPct val="150000"/>
              </a:lnSpc>
            </a:pPr>
            <a:r>
              <a:rPr lang="en-US" altLang="ko-KR" sz="1000" dirty="0"/>
              <a:t>&lt;/head&gt;</a:t>
            </a:r>
          </a:p>
          <a:p>
            <a:pPr lvl="1">
              <a:lnSpc>
                <a:spcPct val="150000"/>
              </a:lnSpc>
            </a:pPr>
            <a:r>
              <a:rPr lang="en-US" altLang="ko-KR" sz="1000" dirty="0"/>
              <a:t>&lt;body&gt;</a:t>
            </a:r>
          </a:p>
          <a:p>
            <a:pPr lvl="1">
              <a:lnSpc>
                <a:spcPct val="150000"/>
              </a:lnSpc>
            </a:pPr>
            <a:r>
              <a:rPr lang="en-US" altLang="ko-KR" sz="1000" dirty="0"/>
              <a:t>	body </a:t>
            </a:r>
            <a:r>
              <a:rPr lang="ko-KR" altLang="en-US" sz="1000" dirty="0"/>
              <a:t>안에</a:t>
            </a:r>
          </a:p>
          <a:p>
            <a:pPr lvl="1">
              <a:lnSpc>
                <a:spcPct val="150000"/>
              </a:lnSpc>
            </a:pPr>
            <a:r>
              <a:rPr lang="ko-KR" altLang="en-US" sz="1000" dirty="0"/>
              <a:t>	</a:t>
            </a:r>
            <a:r>
              <a:rPr lang="en-US" altLang="ko-KR" sz="1000" b="1" dirty="0"/>
              <a:t>&lt;</a:t>
            </a:r>
            <a:r>
              <a:rPr lang="en-US" altLang="ko-KR" sz="1000" b="1" dirty="0" err="1"/>
              <a:t>em</a:t>
            </a:r>
            <a:r>
              <a:rPr lang="en-US" altLang="ko-KR" sz="1000" b="1" dirty="0"/>
              <a:t>&gt;</a:t>
            </a:r>
            <a:r>
              <a:rPr lang="ko-KR" altLang="en-US" sz="1000" dirty="0"/>
              <a:t>강조 문자</a:t>
            </a:r>
            <a:r>
              <a:rPr lang="en-US" altLang="ko-KR" sz="1000" b="1" dirty="0"/>
              <a:t>&lt;/</a:t>
            </a:r>
            <a:r>
              <a:rPr lang="en-US" altLang="ko-KR" sz="1000" b="1" dirty="0" err="1"/>
              <a:t>em</a:t>
            </a:r>
            <a:r>
              <a:rPr lang="en-US" altLang="ko-KR" sz="1000" b="1" dirty="0"/>
              <a:t>&gt;</a:t>
            </a:r>
            <a:r>
              <a:rPr lang="ko-KR" altLang="en-US" sz="1000" dirty="0"/>
              <a:t>와 </a:t>
            </a:r>
            <a:r>
              <a:rPr lang="en-US" altLang="ko-KR" sz="1000" b="1" dirty="0"/>
              <a:t>&lt;strong&gt;</a:t>
            </a:r>
            <a:r>
              <a:rPr lang="ko-KR" altLang="en-US" sz="1000" dirty="0"/>
              <a:t>강한 문자</a:t>
            </a:r>
            <a:r>
              <a:rPr lang="en-US" altLang="ko-KR" sz="1000" b="1" dirty="0"/>
              <a:t>&lt;/strong&gt;</a:t>
            </a:r>
            <a:r>
              <a:rPr lang="ko-KR" altLang="en-US" sz="1000" dirty="0"/>
              <a:t>를 가지고 있습니다</a:t>
            </a:r>
            <a:r>
              <a:rPr lang="en-US" altLang="ko-KR" sz="1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000" dirty="0"/>
              <a:t>	&lt;p&gt;</a:t>
            </a:r>
            <a:r>
              <a:rPr lang="ko-KR" altLang="en-US" sz="1000" dirty="0"/>
              <a:t>여기는 다른 단락입니다</a:t>
            </a:r>
            <a:r>
              <a:rPr lang="en-US" altLang="ko-KR" sz="1000" dirty="0"/>
              <a:t>.&lt;/p&gt;</a:t>
            </a:r>
          </a:p>
          <a:p>
            <a:pPr lvl="1">
              <a:lnSpc>
                <a:spcPct val="150000"/>
              </a:lnSpc>
            </a:pPr>
            <a:r>
              <a:rPr lang="en-US" altLang="ko-KR" sz="1000" dirty="0"/>
              <a:t>&lt;/body&gt;</a:t>
            </a:r>
          </a:p>
          <a:p>
            <a:pPr lvl="1">
              <a:lnSpc>
                <a:spcPct val="150000"/>
              </a:lnSpc>
            </a:pPr>
            <a:r>
              <a:rPr lang="en-US" altLang="ko-KR" sz="1000" dirty="0"/>
              <a:t>&lt;/html&gt;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D67AFE3-E423-8240-89C9-BCAE745BB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113" y="2574148"/>
            <a:ext cx="4298950" cy="923925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83667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A6F339-C817-93F5-A73D-DFB26FB54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595" y="146050"/>
            <a:ext cx="7945755" cy="762000"/>
          </a:xfrm>
        </p:spPr>
        <p:txBody>
          <a:bodyPr/>
          <a:lstStyle/>
          <a:p>
            <a:r>
              <a:rPr lang="ko-KR" altLang="en-US" dirty="0"/>
              <a:t>레이아웃 기초</a:t>
            </a:r>
            <a:br>
              <a:rPr lang="en-US" altLang="ko-KR" dirty="0"/>
            </a:br>
            <a:r>
              <a:rPr lang="en-US" altLang="ko-KR" dirty="0"/>
              <a:t>				CSS</a:t>
            </a:r>
            <a:r>
              <a:rPr lang="ko-KR" altLang="en-US" dirty="0"/>
              <a:t>로 </a:t>
            </a:r>
            <a:r>
              <a:rPr lang="en-US" altLang="ko-KR" dirty="0"/>
              <a:t>display </a:t>
            </a:r>
            <a:r>
              <a:rPr lang="ko-KR" altLang="en-US" dirty="0"/>
              <a:t>속성 변경하기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B208E5-22FA-D4D9-5B18-6CC5399C0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943850" cy="1052195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/>
              <a:t>&lt;div&gt; </a:t>
            </a:r>
            <a:r>
              <a:rPr lang="ko-KR" altLang="en-US" dirty="0"/>
              <a:t>요소를 </a:t>
            </a:r>
            <a:r>
              <a:rPr lang="en-US" altLang="ko-KR" dirty="0"/>
              <a:t>display </a:t>
            </a:r>
            <a:r>
              <a:rPr lang="ko-KR" altLang="en-US" dirty="0"/>
              <a:t>속성으로 </a:t>
            </a:r>
            <a:r>
              <a:rPr lang="en-US" altLang="ko-KR" dirty="0"/>
              <a:t>inline</a:t>
            </a:r>
            <a:r>
              <a:rPr lang="ko-KR" altLang="en-US" dirty="0"/>
              <a:t>으로 변경하면 인라인 요소로 만들 수 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div { display; inline; }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FEDC25-F554-E793-EA69-F27CD5238C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12000" y="6419850"/>
            <a:ext cx="1905635" cy="305435"/>
          </a:xfrm>
        </p:spPr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0E6D65-CDA0-5020-DA06-0FFE548EC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255" y="6393180"/>
            <a:ext cx="3110230" cy="349885"/>
          </a:xfrm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 rot="0">
            <a:off x="908050" y="2277110"/>
            <a:ext cx="6560185" cy="4124325"/>
          </a:xfrm>
          <a:prstGeom prst="rect"/>
          <a:noFill/>
          <a:ln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050"/>
              <a:t>&lt;!DOCTYPE html&gt;</a:t>
            </a:r>
            <a:endParaRPr lang="ko-KR" altLang="en-US" sz="1050"/>
          </a:p>
          <a:p>
            <a:pPr marL="0" indent="0">
              <a:buFontTx/>
              <a:buNone/>
            </a:pPr>
            <a:r>
              <a:rPr lang="ko-KR" altLang="en-US" sz="1050"/>
              <a:t>&lt;html&gt;</a:t>
            </a:r>
            <a:endParaRPr lang="ko-KR" altLang="en-US" sz="1050"/>
          </a:p>
          <a:p>
            <a:pPr marL="0" indent="0">
              <a:buFontTx/>
              <a:buNone/>
            </a:pPr>
            <a:r>
              <a:rPr lang="ko-KR" altLang="en-US" sz="1050"/>
              <a:t>	&lt;head&gt;</a:t>
            </a:r>
            <a:endParaRPr lang="ko-KR" altLang="en-US" sz="1050"/>
          </a:p>
          <a:p>
            <a:pPr marL="0" indent="0">
              <a:buFontTx/>
              <a:buNone/>
            </a:pPr>
            <a:r>
              <a:rPr lang="ko-KR" altLang="en-US" sz="1050"/>
              <a:t>		&lt;title&gt;display 속성&lt;/title&gt;</a:t>
            </a:r>
            <a:endParaRPr lang="ko-KR" altLang="en-US" sz="1050"/>
          </a:p>
          <a:p>
            <a:pPr marL="0" indent="0">
              <a:buFontTx/>
              <a:buNone/>
            </a:pPr>
            <a:r>
              <a:rPr lang="ko-KR" altLang="en-US" sz="1050"/>
              <a:t>		&lt;style&gt;</a:t>
            </a:r>
            <a:endParaRPr lang="ko-KR" altLang="en-US" sz="1050"/>
          </a:p>
          <a:p>
            <a:pPr marL="0" indent="0">
              <a:buFontTx/>
              <a:buNone/>
            </a:pPr>
            <a:r>
              <a:rPr lang="ko-KR" altLang="en-US" sz="1050"/>
              <a:t>		</a:t>
            </a:r>
            <a:r>
              <a:rPr lang="ko-KR" altLang="en-US" sz="1050"/>
              <a:t> </a:t>
            </a:r>
            <a:r>
              <a:rPr lang="ko-KR" altLang="en-US" sz="1050"/>
              <a:t>             </a:t>
            </a:r>
            <a:r>
              <a:rPr lang="ko-KR" altLang="en-US" sz="1050"/>
              <a:t>l</a:t>
            </a:r>
            <a:r>
              <a:rPr lang="ko-KR" altLang="en-US" sz="1050"/>
              <a:t>i</a:t>
            </a:r>
            <a:r>
              <a:rPr lang="ko-KR" altLang="en-US" sz="1050"/>
              <a:t> </a:t>
            </a:r>
            <a:r>
              <a:rPr lang="ko-KR" altLang="en-US" sz="1050"/>
              <a:t>  {</a:t>
            </a:r>
            <a:r>
              <a:rPr lang="ko-KR" altLang="en-US" sz="1050"/>
              <a:t> </a:t>
            </a:r>
            <a:endParaRPr lang="ko-KR" altLang="en-US" sz="1050"/>
          </a:p>
          <a:p>
            <a:pPr marL="0" indent="0">
              <a:buFontTx/>
              <a:buNone/>
            </a:pPr>
            <a:r>
              <a:rPr lang="ko-KR" altLang="en-US" sz="1050"/>
              <a:t>			</a:t>
            </a:r>
            <a:r>
              <a:rPr lang="ko-KR" altLang="en-US" sz="1050"/>
              <a:t>display: inline;</a:t>
            </a:r>
            <a:endParaRPr lang="ko-KR" altLang="en-US" sz="1050"/>
          </a:p>
          <a:p>
            <a:pPr marL="0" indent="0">
              <a:buFontTx/>
              <a:buNone/>
            </a:pPr>
            <a:r>
              <a:rPr lang="ko-KR" altLang="en-US" sz="1050"/>
              <a:t>			background-color: yellow;</a:t>
            </a:r>
            <a:endParaRPr lang="ko-KR" altLang="en-US" sz="1050"/>
          </a:p>
          <a:p>
            <a:pPr marL="0" indent="0">
              <a:buFontTx/>
              <a:buNone/>
            </a:pPr>
            <a:r>
              <a:rPr lang="ko-KR" altLang="en-US" sz="1050"/>
              <a:t>			border: 1px solid;</a:t>
            </a:r>
            <a:endParaRPr lang="ko-KR" altLang="en-US" sz="1050"/>
          </a:p>
          <a:p>
            <a:pPr marL="0" indent="0">
              <a:buFontTx/>
              <a:buNone/>
            </a:pPr>
            <a:r>
              <a:rPr lang="ko-KR" altLang="en-US" sz="1050"/>
              <a:t>			border-color: red;</a:t>
            </a:r>
            <a:endParaRPr lang="ko-KR" altLang="en-US" sz="1050"/>
          </a:p>
          <a:p>
            <a:pPr marL="0" indent="0">
              <a:buFontTx/>
              <a:buNone/>
            </a:pPr>
            <a:r>
              <a:rPr lang="ko-KR" altLang="en-US" sz="1050"/>
              <a:t>			margin: 0;</a:t>
            </a:r>
            <a:endParaRPr lang="ko-KR" altLang="en-US" sz="1050"/>
          </a:p>
          <a:p>
            <a:pPr marL="0" indent="0">
              <a:buFontTx/>
              <a:buNone/>
            </a:pPr>
            <a:r>
              <a:rPr lang="ko-KR" altLang="en-US" sz="1050"/>
              <a:t>			padding: .5em;</a:t>
            </a:r>
            <a:endParaRPr lang="ko-KR" altLang="en-US" sz="1050"/>
          </a:p>
          <a:p>
            <a:pPr marL="0" indent="0">
              <a:buFontTx/>
              <a:buNone/>
            </a:pPr>
            <a:r>
              <a:rPr lang="ko-KR" altLang="en-US" sz="1050"/>
              <a:t>			}</a:t>
            </a:r>
            <a:endParaRPr lang="ko-KR" altLang="en-US" sz="1050"/>
          </a:p>
          <a:p>
            <a:pPr marL="0" indent="0">
              <a:buFontTx/>
              <a:buNone/>
            </a:pPr>
            <a:r>
              <a:rPr lang="ko-KR" altLang="en-US" sz="1050"/>
              <a:t>		&lt;/style&gt;</a:t>
            </a:r>
            <a:endParaRPr lang="ko-KR" altLang="en-US" sz="1050"/>
          </a:p>
          <a:p>
            <a:pPr marL="0" indent="0">
              <a:buFontTx/>
              <a:buNone/>
            </a:pPr>
            <a:r>
              <a:rPr lang="ko-KR" altLang="en-US" sz="1050"/>
              <a:t>	&lt;/head&gt;</a:t>
            </a:r>
            <a:endParaRPr lang="ko-KR" altLang="en-US" sz="1050"/>
          </a:p>
          <a:p>
            <a:pPr marL="0" indent="0">
              <a:buFontTx/>
              <a:buNone/>
            </a:pPr>
            <a:r>
              <a:rPr lang="ko-KR" altLang="en-US" sz="1050"/>
              <a:t>	&lt;body&gt;</a:t>
            </a:r>
            <a:endParaRPr lang="ko-KR" altLang="en-US" sz="1050"/>
          </a:p>
          <a:p>
            <a:pPr marL="0" indent="0">
              <a:buFontTx/>
              <a:buNone/>
            </a:pPr>
            <a:r>
              <a:rPr lang="ko-KR" altLang="en-US" sz="1050"/>
              <a:t>		&lt;ul&gt;</a:t>
            </a:r>
            <a:endParaRPr lang="ko-KR" altLang="en-US" sz="1050"/>
          </a:p>
          <a:p>
            <a:pPr marL="0" indent="0">
              <a:buFontTx/>
              <a:buNone/>
            </a:pPr>
            <a:r>
              <a:rPr lang="ko-KR" altLang="en-US" sz="1050"/>
              <a:t>			&lt;li</a:t>
            </a:r>
            <a:r>
              <a:rPr lang="ko-KR" altLang="en-US" sz="1050"/>
              <a:t> </a:t>
            </a:r>
            <a:r>
              <a:rPr lang="ko-KR" altLang="en-US" sz="1050"/>
              <a:t>&gt;&lt;a href="#"&gt;홈으로&lt;/a&gt;&lt;/li&gt;</a:t>
            </a:r>
            <a:endParaRPr lang="ko-KR" altLang="en-US" sz="1050"/>
          </a:p>
          <a:p>
            <a:pPr marL="0" indent="0">
              <a:buFontTx/>
              <a:buNone/>
            </a:pPr>
            <a:r>
              <a:rPr lang="ko-KR" altLang="en-US" sz="1050"/>
              <a:t>			&lt;li</a:t>
            </a:r>
            <a:r>
              <a:rPr lang="ko-KR" altLang="en-US" sz="1050"/>
              <a:t> </a:t>
            </a:r>
            <a:r>
              <a:rPr lang="ko-KR" altLang="en-US" sz="1050"/>
              <a:t>&gt;&lt;a href="#"&gt;회사 소개&lt;/a&gt;&lt;/li&gt;</a:t>
            </a:r>
            <a:endParaRPr lang="ko-KR" altLang="en-US" sz="1050"/>
          </a:p>
          <a:p>
            <a:pPr marL="0" indent="0">
              <a:buFontTx/>
              <a:buNone/>
            </a:pPr>
            <a:r>
              <a:rPr lang="ko-KR" altLang="en-US" sz="1050"/>
              <a:t>			&lt;li</a:t>
            </a:r>
            <a:r>
              <a:rPr lang="ko-KR" altLang="en-US" sz="1050"/>
              <a:t> </a:t>
            </a:r>
            <a:r>
              <a:rPr lang="ko-KR" altLang="en-US" sz="1050"/>
              <a:t>&gt;&lt;a href="#"&gt;제품 소개&lt;/a&gt;&lt;/li&gt;</a:t>
            </a:r>
            <a:endParaRPr lang="ko-KR" altLang="en-US" sz="1050"/>
          </a:p>
          <a:p>
            <a:pPr marL="0" indent="0">
              <a:buFontTx/>
              <a:buNone/>
            </a:pPr>
            <a:r>
              <a:rPr lang="ko-KR" altLang="en-US" sz="1050"/>
              <a:t>			&lt;li</a:t>
            </a:r>
            <a:r>
              <a:rPr lang="ko-KR" altLang="en-US" sz="1050"/>
              <a:t> </a:t>
            </a:r>
            <a:r>
              <a:rPr lang="ko-KR" altLang="en-US" sz="1050"/>
              <a:t>&gt;&lt;a href="#"&gt;질문과 대답&lt;/a&gt;&lt;/li&gt;</a:t>
            </a:r>
            <a:endParaRPr lang="ko-KR" altLang="en-US" sz="1050"/>
          </a:p>
          <a:p>
            <a:pPr marL="0" indent="0">
              <a:buFontTx/>
              <a:buNone/>
            </a:pPr>
            <a:r>
              <a:rPr lang="ko-KR" altLang="en-US" sz="1050"/>
              <a:t>			&lt;li</a:t>
            </a:r>
            <a:r>
              <a:rPr lang="ko-KR" altLang="en-US" sz="1050"/>
              <a:t> </a:t>
            </a:r>
            <a:r>
              <a:rPr lang="ko-KR" altLang="en-US" sz="1050"/>
              <a:t>&gt;&lt;a href="#"&gt;연락처&lt;/a&gt;&lt;/li&gt;</a:t>
            </a:r>
            <a:endParaRPr lang="ko-KR" altLang="en-US" sz="1050"/>
          </a:p>
          <a:p>
            <a:pPr marL="0" indent="0">
              <a:buFontTx/>
              <a:buNone/>
            </a:pPr>
            <a:r>
              <a:rPr lang="ko-KR" altLang="en-US" sz="1050"/>
              <a:t>		&lt;/ul&gt;</a:t>
            </a:r>
            <a:endParaRPr lang="ko-KR" altLang="en-US" sz="1050"/>
          </a:p>
          <a:p>
            <a:pPr marL="0" indent="0">
              <a:buFontTx/>
              <a:buNone/>
            </a:pPr>
            <a:r>
              <a:rPr lang="ko-KR" altLang="en-US" sz="1050"/>
              <a:t>	&lt;/body&gt;</a:t>
            </a:r>
            <a:endParaRPr lang="ko-KR" altLang="en-US" sz="1050"/>
          </a:p>
          <a:p>
            <a:pPr marL="0" indent="0">
              <a:buFontTx/>
              <a:buNone/>
            </a:pPr>
            <a:r>
              <a:rPr lang="ko-KR" altLang="en-US" sz="1050"/>
              <a:t>&lt;/html&gt;</a:t>
            </a:r>
            <a:endParaRPr lang="ko-KR" altLang="en-US" sz="105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398DA41-D796-8D25-50BA-398269A12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850" y="1619885"/>
            <a:ext cx="4067175" cy="6572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잉크 13"/>
              <p14:cNvContentPartPr/>
              <p14:nvPr/>
            </p14:nvContentPartPr>
            <p14:xfrm>
              <a:off x="3412490" y="3154045"/>
              <a:ext cx="3810" cy="4445"/>
            </p14:xfrm>
          </p:contentPart>
        </mc:Choice>
        <mc:Fallback>
          <p:pic>
            <p:nvPicPr>
              <p:cNvPr id="11" name="잉크 1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12490" y="3154045"/>
                <a:ext cx="3810" cy="444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2923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5D0689-5558-81BF-4632-A898DB392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레이아웃 기초</a:t>
            </a:r>
            <a:br>
              <a:rPr lang="en-US" altLang="ko-KR" dirty="0"/>
            </a:br>
            <a:r>
              <a:rPr lang="en-US" altLang="ko-KR" dirty="0"/>
              <a:t>				</a:t>
            </a:r>
            <a:r>
              <a:rPr lang="ko-KR" altLang="en-US" dirty="0"/>
              <a:t>인라인 블록 요소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B99FF6-3628-D765-36E9-1C1E5474F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772400" cy="548283"/>
          </a:xfrm>
        </p:spPr>
        <p:txBody>
          <a:bodyPr>
            <a:normAutofit/>
          </a:bodyPr>
          <a:lstStyle/>
          <a:p>
            <a:r>
              <a:rPr lang="ko-KR" altLang="en-US" b="1" dirty="0"/>
              <a:t>인라인 요소와 블록 요소의 특징을 혼합 한 것이다</a:t>
            </a:r>
            <a:r>
              <a:rPr lang="en-US" altLang="ko-KR" b="1" dirty="0"/>
              <a:t>.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1A8737-C12B-394C-A531-A86F61AD69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961305-28C3-DC17-F587-57B6ECE25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CAD869-2453-CDC9-4D4A-2626BC7E9AC3}"/>
              </a:ext>
            </a:extLst>
          </p:cNvPr>
          <p:cNvSpPr txBox="1"/>
          <p:nvPr/>
        </p:nvSpPr>
        <p:spPr>
          <a:xfrm>
            <a:off x="35496" y="1700808"/>
            <a:ext cx="4345111" cy="461664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&lt;style&gt;</a:t>
            </a:r>
          </a:p>
          <a:p>
            <a:r>
              <a:rPr lang="en-US" altLang="ko-KR" sz="1050" dirty="0"/>
              <a:t>	</a:t>
            </a:r>
            <a:r>
              <a:rPr lang="en-US" altLang="ko-KR" sz="1050" b="1" dirty="0" err="1"/>
              <a:t>span.a</a:t>
            </a:r>
            <a:r>
              <a:rPr lang="en-US" altLang="ko-KR" sz="1050" b="1" dirty="0"/>
              <a:t> </a:t>
            </a:r>
            <a:r>
              <a:rPr lang="en-US" altLang="ko-KR" sz="1050" dirty="0"/>
              <a:t>{</a:t>
            </a:r>
          </a:p>
          <a:p>
            <a:r>
              <a:rPr lang="en-US" altLang="ko-KR" sz="1050" dirty="0"/>
              <a:t>		</a:t>
            </a:r>
            <a:r>
              <a:rPr lang="en-US" altLang="ko-KR" sz="1050" dirty="0" err="1"/>
              <a:t>display:inline</a:t>
            </a:r>
            <a:r>
              <a:rPr lang="en-US" altLang="ko-KR" sz="1050" dirty="0"/>
              <a:t>;</a:t>
            </a:r>
          </a:p>
          <a:p>
            <a:r>
              <a:rPr lang="en-US" altLang="ko-KR" sz="1050" dirty="0"/>
              <a:t>		width:100px;</a:t>
            </a:r>
          </a:p>
          <a:p>
            <a:r>
              <a:rPr lang="en-US" altLang="ko-KR" sz="1050" dirty="0"/>
              <a:t>		height: 60px;</a:t>
            </a:r>
          </a:p>
          <a:p>
            <a:r>
              <a:rPr lang="en-US" altLang="ko-KR" sz="1050" dirty="0"/>
              <a:t>		padding: 5px;</a:t>
            </a:r>
          </a:p>
          <a:p>
            <a:r>
              <a:rPr lang="en-US" altLang="ko-KR" sz="1050" dirty="0"/>
              <a:t>		border: 1px solid </a:t>
            </a:r>
            <a:r>
              <a:rPr lang="en-US" altLang="ko-KR" sz="1050" dirty="0" err="1"/>
              <a:t>rgb</a:t>
            </a:r>
            <a:r>
              <a:rPr lang="en-US" altLang="ko-KR" sz="1050" dirty="0"/>
              <a:t>(136, 230, 152);</a:t>
            </a:r>
          </a:p>
          <a:p>
            <a:r>
              <a:rPr lang="en-US" altLang="ko-KR" sz="1050" dirty="0"/>
              <a:t>		background-color: </a:t>
            </a:r>
            <a:r>
              <a:rPr lang="en-US" altLang="ko-KR" sz="1050" dirty="0" err="1"/>
              <a:t>rgb</a:t>
            </a:r>
            <a:r>
              <a:rPr lang="en-US" altLang="ko-KR" sz="1050" dirty="0"/>
              <a:t>(123, 214, 146);</a:t>
            </a:r>
          </a:p>
          <a:p>
            <a:r>
              <a:rPr lang="en-US" altLang="ko-KR" sz="1050" dirty="0"/>
              <a:t>	}</a:t>
            </a:r>
          </a:p>
          <a:p>
            <a:r>
              <a:rPr lang="en-US" altLang="ko-KR" sz="1050" dirty="0"/>
              <a:t>			</a:t>
            </a:r>
          </a:p>
          <a:p>
            <a:r>
              <a:rPr lang="en-US" altLang="ko-KR" sz="1050" dirty="0"/>
              <a:t>	</a:t>
            </a:r>
            <a:r>
              <a:rPr lang="en-US" altLang="ko-KR" sz="1050" b="1" dirty="0" err="1"/>
              <a:t>span.b</a:t>
            </a:r>
            <a:r>
              <a:rPr lang="en-US" altLang="ko-KR" sz="1050" b="1" dirty="0"/>
              <a:t> </a:t>
            </a:r>
            <a:r>
              <a:rPr lang="en-US" altLang="ko-KR" sz="1050" dirty="0"/>
              <a:t>{</a:t>
            </a:r>
          </a:p>
          <a:p>
            <a:r>
              <a:rPr lang="en-US" altLang="ko-KR" sz="1050" dirty="0"/>
              <a:t>		</a:t>
            </a:r>
            <a:r>
              <a:rPr lang="en-US" altLang="ko-KR" sz="1050" dirty="0" err="1"/>
              <a:t>display:inline-block</a:t>
            </a:r>
            <a:r>
              <a:rPr lang="en-US" altLang="ko-KR" sz="1050" dirty="0"/>
              <a:t>;</a:t>
            </a:r>
          </a:p>
          <a:p>
            <a:r>
              <a:rPr lang="en-US" altLang="ko-KR" sz="1050" dirty="0"/>
              <a:t>		width:100px;</a:t>
            </a:r>
          </a:p>
          <a:p>
            <a:r>
              <a:rPr lang="en-US" altLang="ko-KR" sz="1050" dirty="0"/>
              <a:t>		height: 60px;</a:t>
            </a:r>
          </a:p>
          <a:p>
            <a:r>
              <a:rPr lang="en-US" altLang="ko-KR" sz="1050" dirty="0"/>
              <a:t>		padding: 5px;</a:t>
            </a:r>
          </a:p>
          <a:p>
            <a:r>
              <a:rPr lang="en-US" altLang="ko-KR" sz="1050" dirty="0"/>
              <a:t>		border: 1px solid blue;</a:t>
            </a:r>
          </a:p>
          <a:p>
            <a:r>
              <a:rPr lang="en-US" altLang="ko-KR" sz="1050" dirty="0"/>
              <a:t>		background-color: </a:t>
            </a:r>
            <a:r>
              <a:rPr lang="en-US" altLang="ko-KR" sz="1050" dirty="0" err="1"/>
              <a:t>rgb</a:t>
            </a:r>
            <a:r>
              <a:rPr lang="en-US" altLang="ko-KR" sz="1050" dirty="0"/>
              <a:t>(224, 166, 176);</a:t>
            </a:r>
          </a:p>
          <a:p>
            <a:r>
              <a:rPr lang="en-US" altLang="ko-KR" sz="1050" dirty="0"/>
              <a:t>	}</a:t>
            </a:r>
          </a:p>
          <a:p>
            <a:endParaRPr lang="en-US" altLang="ko-KR" sz="1050" dirty="0"/>
          </a:p>
          <a:p>
            <a:r>
              <a:rPr lang="en-US" altLang="ko-KR" sz="1050" dirty="0"/>
              <a:t>	</a:t>
            </a:r>
            <a:r>
              <a:rPr lang="en-US" altLang="ko-KR" sz="1050" b="1" dirty="0" err="1"/>
              <a:t>span.c</a:t>
            </a:r>
            <a:r>
              <a:rPr lang="en-US" altLang="ko-KR" sz="1050" b="1" dirty="0"/>
              <a:t> </a:t>
            </a:r>
            <a:r>
              <a:rPr lang="en-US" altLang="ko-KR" sz="1050" dirty="0"/>
              <a:t>{</a:t>
            </a:r>
          </a:p>
          <a:p>
            <a:r>
              <a:rPr lang="en-US" altLang="ko-KR" sz="1050" dirty="0"/>
              <a:t>		</a:t>
            </a:r>
            <a:r>
              <a:rPr lang="en-US" altLang="ko-KR" sz="1050" dirty="0" err="1"/>
              <a:t>display:block</a:t>
            </a:r>
            <a:r>
              <a:rPr lang="en-US" altLang="ko-KR" sz="1050" dirty="0"/>
              <a:t>;</a:t>
            </a:r>
          </a:p>
          <a:p>
            <a:r>
              <a:rPr lang="en-US" altLang="ko-KR" sz="1050" dirty="0"/>
              <a:t>		width:100px;</a:t>
            </a:r>
          </a:p>
          <a:p>
            <a:r>
              <a:rPr lang="en-US" altLang="ko-KR" sz="1050" dirty="0"/>
              <a:t>		height: 60px;</a:t>
            </a:r>
          </a:p>
          <a:p>
            <a:r>
              <a:rPr lang="en-US" altLang="ko-KR" sz="1050" dirty="0"/>
              <a:t>		padding: 5px;</a:t>
            </a:r>
          </a:p>
          <a:p>
            <a:r>
              <a:rPr lang="en-US" altLang="ko-KR" sz="1050" dirty="0"/>
              <a:t>		border: 1px solid blue;</a:t>
            </a:r>
          </a:p>
          <a:p>
            <a:r>
              <a:rPr lang="en-US" altLang="ko-KR" sz="1050" dirty="0"/>
              <a:t>		background-color: </a:t>
            </a:r>
            <a:r>
              <a:rPr lang="en-US" altLang="ko-KR" sz="1050" dirty="0" err="1"/>
              <a:t>rgb</a:t>
            </a:r>
            <a:r>
              <a:rPr lang="en-US" altLang="ko-KR" sz="1050" dirty="0"/>
              <a:t>(224, 166, 176);</a:t>
            </a:r>
          </a:p>
          <a:p>
            <a:r>
              <a:rPr lang="en-US" altLang="ko-KR" sz="1050" dirty="0"/>
              <a:t>	}</a:t>
            </a:r>
          </a:p>
          <a:p>
            <a:r>
              <a:rPr lang="en-US" altLang="ko-KR" sz="1050" dirty="0"/>
              <a:t>&lt;/style&gt;</a:t>
            </a:r>
            <a:endParaRPr lang="ko-KR" altLang="en-US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223129-5EFF-C2E6-71FC-CF6D2092DC29}"/>
              </a:ext>
            </a:extLst>
          </p:cNvPr>
          <p:cNvSpPr txBox="1"/>
          <p:nvPr/>
        </p:nvSpPr>
        <p:spPr>
          <a:xfrm>
            <a:off x="4427984" y="1700808"/>
            <a:ext cx="4680521" cy="332398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&lt;!DOCTYPE html&gt;</a:t>
            </a:r>
          </a:p>
          <a:p>
            <a:r>
              <a:rPr lang="en-US" altLang="ko-KR" sz="1050" dirty="0"/>
              <a:t>&lt;html&gt;</a:t>
            </a:r>
          </a:p>
          <a:p>
            <a:r>
              <a:rPr lang="en-US" altLang="ko-KR" sz="1050" dirty="0"/>
              <a:t>&lt;head&gt;</a:t>
            </a:r>
          </a:p>
          <a:p>
            <a:r>
              <a:rPr lang="en-US" altLang="ko-KR" sz="1050" dirty="0"/>
              <a:t>	&lt;title&gt;</a:t>
            </a:r>
            <a:r>
              <a:rPr lang="ko-KR" altLang="en-US" sz="1050" dirty="0"/>
              <a:t>인라인</a:t>
            </a:r>
            <a:r>
              <a:rPr lang="en-US" altLang="ko-KR" sz="1050" dirty="0"/>
              <a:t>-</a:t>
            </a:r>
            <a:r>
              <a:rPr lang="ko-KR" altLang="en-US" sz="1050" dirty="0"/>
              <a:t>블록</a:t>
            </a:r>
            <a:r>
              <a:rPr lang="en-US" altLang="ko-KR" sz="1050" dirty="0"/>
              <a:t>&lt;/title&gt;</a:t>
            </a:r>
          </a:p>
          <a:p>
            <a:r>
              <a:rPr lang="en-US" altLang="ko-KR" sz="1050" dirty="0"/>
              <a:t>&lt;/head&gt;</a:t>
            </a:r>
          </a:p>
          <a:p>
            <a:r>
              <a:rPr lang="en-US" altLang="ko-KR" sz="1050" dirty="0"/>
              <a:t>&lt;body&gt;</a:t>
            </a:r>
          </a:p>
          <a:p>
            <a:r>
              <a:rPr lang="en-US" altLang="ko-KR" sz="1050" dirty="0"/>
              <a:t>	&lt;p&gt;</a:t>
            </a:r>
          </a:p>
          <a:p>
            <a:r>
              <a:rPr lang="en-US" altLang="ko-KR" sz="1050" dirty="0"/>
              <a:t>		&lt;span class="a"&gt;INLINE&lt;/span&gt;</a:t>
            </a:r>
          </a:p>
          <a:p>
            <a:r>
              <a:rPr lang="en-US" altLang="ko-KR" sz="1050" dirty="0"/>
              <a:t>		&lt;span class="a"&gt;INLINE&lt;/span&gt;</a:t>
            </a:r>
          </a:p>
          <a:p>
            <a:r>
              <a:rPr lang="en-US" altLang="ko-KR" sz="1050" dirty="0"/>
              <a:t>	&lt;/p&gt;</a:t>
            </a:r>
          </a:p>
          <a:p>
            <a:r>
              <a:rPr lang="en-US" altLang="ko-KR" sz="1050" dirty="0"/>
              <a:t>	&lt;p&gt;</a:t>
            </a:r>
          </a:p>
          <a:p>
            <a:r>
              <a:rPr lang="en-US" altLang="ko-KR" sz="1050" dirty="0"/>
              <a:t>		&lt;span class="b"&gt;INLINE_BLOCK&lt;/span&gt;</a:t>
            </a:r>
          </a:p>
          <a:p>
            <a:r>
              <a:rPr lang="en-US" altLang="ko-KR" sz="1050" dirty="0"/>
              <a:t>		&lt;span class="b"&gt;INLINE_BLOCK&lt;/span&gt;</a:t>
            </a:r>
          </a:p>
          <a:p>
            <a:r>
              <a:rPr lang="en-US" altLang="ko-KR" sz="1050" dirty="0"/>
              <a:t>	&lt;/p&gt;</a:t>
            </a:r>
          </a:p>
          <a:p>
            <a:r>
              <a:rPr lang="en-US" altLang="ko-KR" sz="1050" dirty="0"/>
              <a:t>	&lt;p&gt;</a:t>
            </a:r>
          </a:p>
          <a:p>
            <a:r>
              <a:rPr lang="en-US" altLang="ko-KR" sz="1050" dirty="0"/>
              <a:t>		&lt;span class="c"&gt;BLOCK&lt;/span&gt;</a:t>
            </a:r>
          </a:p>
          <a:p>
            <a:r>
              <a:rPr lang="en-US" altLang="ko-KR" sz="1050" dirty="0"/>
              <a:t>		&lt;span class="c"&gt;BLOCK&lt;/span&gt;</a:t>
            </a:r>
          </a:p>
          <a:p>
            <a:r>
              <a:rPr lang="en-US" altLang="ko-KR" sz="1050" dirty="0"/>
              <a:t>	&lt;/p&gt;</a:t>
            </a:r>
          </a:p>
          <a:p>
            <a:r>
              <a:rPr lang="en-US" altLang="ko-KR" sz="1050" dirty="0"/>
              <a:t>&lt;/body&gt;</a:t>
            </a:r>
          </a:p>
          <a:p>
            <a:r>
              <a:rPr lang="en-US" altLang="ko-KR" sz="1050" dirty="0"/>
              <a:t>&lt;/html&gt;</a:t>
            </a:r>
            <a:endParaRPr lang="ko-KR" altLang="en-US" sz="105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3BCEF06-4537-27A5-023C-4622DDEEE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408" y="4712866"/>
            <a:ext cx="1656184" cy="1650945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35095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318687-03CC-E742-AED9-5DFB409E0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요소의 크기와 위치 정하기</a:t>
            </a:r>
            <a:br>
              <a:rPr lang="en-US" altLang="ko-KR" dirty="0"/>
            </a:br>
            <a:r>
              <a:rPr lang="en-US" altLang="ko-KR" dirty="0"/>
              <a:t>					</a:t>
            </a:r>
            <a:r>
              <a:rPr lang="ko-KR" altLang="en-US" dirty="0"/>
              <a:t>요소의 위치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607F95-9147-4301-5551-8117E2926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6"/>
            <a:ext cx="7772400" cy="762000"/>
          </a:xfrm>
        </p:spPr>
        <p:txBody>
          <a:bodyPr>
            <a:normAutofit fontScale="70000" lnSpcReduction="20000"/>
          </a:bodyPr>
          <a:lstStyle/>
          <a:p>
            <a:r>
              <a:rPr lang="ko-KR" altLang="en-US" dirty="0"/>
              <a:t>요소의 위치는 </a:t>
            </a:r>
            <a:r>
              <a:rPr lang="en-US" altLang="ko-KR" dirty="0"/>
              <a:t>top, bottom, left, right </a:t>
            </a:r>
            <a:r>
              <a:rPr lang="ko-KR" altLang="en-US" dirty="0"/>
              <a:t>속성으로 지정한다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&lt;div&gt; </a:t>
            </a:r>
            <a:r>
              <a:rPr lang="ko-KR" altLang="en-US" dirty="0"/>
              <a:t>태그로 요소를 만들어서 </a:t>
            </a:r>
            <a:r>
              <a:rPr lang="en-US" altLang="ko-KR" dirty="0"/>
              <a:t>(100, 200) </a:t>
            </a:r>
            <a:r>
              <a:rPr lang="ko-KR" altLang="en-US" dirty="0"/>
              <a:t>만큼 떨어진 곳에 요소를 배치해본다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A04F9E-1873-42AC-1829-1ACD27542A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C7C35D-08E2-E9C0-1A43-1DA85BF91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D9BA10-5845-DC16-F320-8162A180AC46}"/>
              </a:ext>
            </a:extLst>
          </p:cNvPr>
          <p:cNvSpPr txBox="1"/>
          <p:nvPr/>
        </p:nvSpPr>
        <p:spPr>
          <a:xfrm>
            <a:off x="896938" y="1844824"/>
            <a:ext cx="4107110" cy="440120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&lt;!DOCTYPE html&gt;</a:t>
            </a:r>
          </a:p>
          <a:p>
            <a:r>
              <a:rPr lang="en-US" altLang="ko-KR" sz="1400" dirty="0"/>
              <a:t>&lt;html&gt;</a:t>
            </a:r>
          </a:p>
          <a:p>
            <a:r>
              <a:rPr lang="en-US" altLang="ko-KR" sz="1400" dirty="0"/>
              <a:t>&lt;head&gt;</a:t>
            </a:r>
          </a:p>
          <a:p>
            <a:r>
              <a:rPr lang="en-US" altLang="ko-KR" sz="1400" dirty="0"/>
              <a:t>  &lt;meta charset="UTF-8"&gt;</a:t>
            </a:r>
          </a:p>
          <a:p>
            <a:r>
              <a:rPr lang="en-US" altLang="ko-KR" sz="1400" dirty="0"/>
              <a:t>  &lt;title&gt;</a:t>
            </a:r>
            <a:r>
              <a:rPr lang="ko-KR" altLang="en-US" sz="1400" dirty="0"/>
              <a:t>요소 크기와 위치 정하기</a:t>
            </a:r>
            <a:r>
              <a:rPr lang="en-US" altLang="ko-KR" sz="1400" dirty="0"/>
              <a:t>&lt;/title&gt;</a:t>
            </a:r>
          </a:p>
          <a:p>
            <a:r>
              <a:rPr lang="en-US" altLang="ko-KR" sz="1400" dirty="0"/>
              <a:t>  &lt;style&gt;</a:t>
            </a:r>
          </a:p>
          <a:p>
            <a:r>
              <a:rPr lang="en-US" altLang="ko-KR" sz="1400" dirty="0"/>
              <a:t>    </a:t>
            </a:r>
            <a:r>
              <a:rPr lang="en-US" altLang="ko-KR" sz="1400" b="1" dirty="0"/>
              <a:t>#target{</a:t>
            </a:r>
          </a:p>
          <a:p>
            <a:r>
              <a:rPr lang="en-US" altLang="ko-KR" sz="1400" b="1" dirty="0"/>
              <a:t>      position: absolute; /*</a:t>
            </a:r>
            <a:r>
              <a:rPr lang="ko-KR" altLang="en-US" sz="1400" b="1" dirty="0"/>
              <a:t>절대 위치 설정</a:t>
            </a:r>
            <a:r>
              <a:rPr lang="en-US" altLang="ko-KR" sz="1400" b="1" dirty="0"/>
              <a:t>*/</a:t>
            </a:r>
          </a:p>
          <a:p>
            <a:r>
              <a:rPr lang="en-US" altLang="ko-KR" sz="1400" b="1" dirty="0"/>
              <a:t>      border: 1px solid red;</a:t>
            </a:r>
          </a:p>
          <a:p>
            <a:r>
              <a:rPr lang="en-US" altLang="ko-KR" sz="1400" b="1" dirty="0"/>
              <a:t>      width: 200px;</a:t>
            </a:r>
          </a:p>
          <a:p>
            <a:r>
              <a:rPr lang="en-US" altLang="ko-KR" sz="1400" b="1" dirty="0"/>
              <a:t>      height: 200px;</a:t>
            </a:r>
          </a:p>
          <a:p>
            <a:r>
              <a:rPr lang="en-US" altLang="ko-KR" sz="1400" b="1" dirty="0"/>
              <a:t>      top: 100px; left: 200px;</a:t>
            </a:r>
          </a:p>
          <a:p>
            <a:r>
              <a:rPr lang="en-US" altLang="ko-KR" sz="1400" b="1" dirty="0"/>
              <a:t>    }</a:t>
            </a:r>
          </a:p>
          <a:p>
            <a:r>
              <a:rPr lang="en-US" altLang="ko-KR" sz="1400" dirty="0"/>
              <a:t>  &lt;/style&gt;</a:t>
            </a:r>
          </a:p>
          <a:p>
            <a:r>
              <a:rPr lang="en-US" altLang="ko-KR" sz="1400" dirty="0"/>
              <a:t>&lt;/head&gt;</a:t>
            </a:r>
          </a:p>
          <a:p>
            <a:r>
              <a:rPr lang="en-US" altLang="ko-KR" sz="1400" dirty="0"/>
              <a:t>&lt;body&gt;</a:t>
            </a:r>
          </a:p>
          <a:p>
            <a:r>
              <a:rPr lang="en-US" altLang="ko-KR" sz="1400" dirty="0"/>
              <a:t>    </a:t>
            </a:r>
            <a:r>
              <a:rPr lang="en-US" altLang="ko-KR" sz="1400" b="1" dirty="0"/>
              <a:t>&lt;div id="target"&gt;</a:t>
            </a:r>
            <a:r>
              <a:rPr lang="ko-KR" altLang="en-US" sz="1400" b="1" dirty="0"/>
              <a:t>요소</a:t>
            </a:r>
            <a:r>
              <a:rPr lang="en-US" altLang="ko-KR" sz="1400" b="1" dirty="0"/>
              <a:t>1&lt;/div&gt;</a:t>
            </a:r>
          </a:p>
          <a:p>
            <a:r>
              <a:rPr lang="en-US" altLang="ko-KR" sz="1400" dirty="0"/>
              <a:t>&lt;/body&gt;</a:t>
            </a:r>
          </a:p>
          <a:p>
            <a:r>
              <a:rPr lang="en-US" altLang="ko-KR" sz="1400" dirty="0"/>
              <a:t>&lt;/html&gt;</a:t>
            </a:r>
          </a:p>
          <a:p>
            <a:endParaRPr lang="ko-KR" altLang="en-US" sz="1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4FE646C-B95C-FDF7-1E0D-EDD074FA5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500" y="3685433"/>
            <a:ext cx="4700500" cy="2634013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64015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9F0D32-5936-E2DC-D9DD-550338C11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146050"/>
            <a:ext cx="7773035" cy="762635"/>
          </a:xfrm>
        </p:spPr>
        <p:txBody>
          <a:bodyPr/>
          <a:lstStyle/>
          <a:p>
            <a:r>
              <a:rPr lang="ko-KR" altLang="en-US" dirty="0"/>
              <a:t>요소의 크기와 위치 정하기</a:t>
            </a:r>
            <a:br>
              <a:rPr lang="en-US" altLang="ko-KR" dirty="0"/>
            </a:br>
            <a:r>
              <a:rPr lang="en-US" altLang="ko-KR" dirty="0"/>
              <a:t>					</a:t>
            </a:r>
            <a:r>
              <a:rPr lang="ko-KR" altLang="en-US" dirty="0"/>
              <a:t>요소의 위치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C7B063-3294-7BF1-FE10-945828ED5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773035" cy="5020310"/>
          </a:xfrm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342900" indent="-342900">
              <a:buFont typeface="Wingdings"/>
              <a:buChar char="n"/>
            </a:pPr>
            <a:r>
              <a:rPr lang="ko-KR" altLang="en-US"/>
              <a:t>기준 위치는 </a:t>
            </a:r>
            <a:r>
              <a:rPr lang="en-US" altLang="ko-KR"/>
              <a:t>position </a:t>
            </a:r>
            <a:r>
              <a:rPr lang="ko-KR" altLang="en-US"/>
              <a:t>속</a:t>
            </a:r>
            <a:r>
              <a:rPr lang="ko-KR" altLang="en-US"/>
              <a:t>성</a:t>
            </a:r>
            <a:r>
              <a:rPr lang="ko-KR" altLang="en-US"/>
              <a:t>으로 결정된다</a:t>
            </a:r>
            <a:r>
              <a:rPr lang="en-US" altLang="ko-KR"/>
              <a:t>.</a:t>
            </a:r>
            <a:endParaRPr lang="ko-KR" altLang="en-US"/>
          </a:p>
          <a:p>
            <a:pPr marL="742950" indent="-285750" lvl="1">
              <a:buFont typeface="Wingdings"/>
              <a:buChar char="w"/>
            </a:pPr>
            <a:r>
              <a:rPr lang="ko-KR" altLang="en-US"/>
              <a:t>정적 위치 설정 </a:t>
            </a:r>
            <a:r>
              <a:rPr lang="en-US" altLang="ko-KR"/>
              <a:t>: static</a:t>
            </a:r>
            <a:endParaRPr lang="ko-KR" altLang="en-US"/>
          </a:p>
          <a:p>
            <a:pPr marL="742950" indent="-285750" lvl="1">
              <a:buFont typeface="Wingdings"/>
              <a:buChar char="w"/>
            </a:pPr>
            <a:r>
              <a:rPr lang="ko-KR" altLang="en-US"/>
              <a:t>상대 위치 설정 </a:t>
            </a:r>
            <a:r>
              <a:rPr lang="en-US" altLang="ko-KR"/>
              <a:t>: relative</a:t>
            </a:r>
            <a:endParaRPr lang="ko-KR" altLang="en-US"/>
          </a:p>
          <a:p>
            <a:pPr marL="742950" indent="-285750" lvl="1">
              <a:buFont typeface="Wingdings"/>
              <a:buChar char="w"/>
            </a:pPr>
            <a:r>
              <a:rPr lang="ko-KR" altLang="en-US"/>
              <a:t>절대 위치 설정 </a:t>
            </a:r>
            <a:r>
              <a:rPr lang="en-US" altLang="ko-KR"/>
              <a:t>: absolute</a:t>
            </a:r>
            <a:endParaRPr lang="ko-KR" altLang="en-US"/>
          </a:p>
          <a:p>
            <a:pPr marL="742950" indent="-285750" lvl="1">
              <a:buFont typeface="Wingdings"/>
              <a:buChar char="w"/>
            </a:pPr>
            <a:r>
              <a:rPr lang="ko-KR" altLang="en-US"/>
              <a:t>고정 위치 설정 </a:t>
            </a:r>
            <a:r>
              <a:rPr lang="en-US" altLang="ko-KR"/>
              <a:t>: fixed</a:t>
            </a:r>
            <a:endParaRPr lang="ko-KR" altLang="en-US"/>
          </a:p>
          <a:p>
            <a:pPr marL="342900" indent="-342900">
              <a:buFont typeface="Wingdings"/>
              <a:buChar char="n"/>
            </a:pPr>
            <a:r>
              <a:rPr lang="ko-KR" altLang="en-US"/>
              <a:t>정적 위치</a:t>
            </a:r>
            <a:endParaRPr lang="ko-KR" altLang="en-US"/>
          </a:p>
          <a:p>
            <a:pPr marL="742950" indent="-285750" lvl="1">
              <a:buFont typeface="Wingdings"/>
              <a:buChar char="w"/>
            </a:pPr>
            <a:r>
              <a:rPr lang="ko-KR" altLang="en-US"/>
              <a:t>정적 위치 설정을 사용하면 요소의 위치는 </a:t>
            </a:r>
            <a:r>
              <a:rPr lang="en-US" altLang="ko-KR" b="1"/>
              <a:t>top, bottom, left, right </a:t>
            </a:r>
            <a:r>
              <a:rPr lang="ko-KR" altLang="en-US" b="1"/>
              <a:t>속성의 영향을 받지 않는다</a:t>
            </a:r>
            <a:r>
              <a:rPr lang="en-US" altLang="ko-KR" b="1"/>
              <a:t>.</a:t>
            </a:r>
            <a:endParaRPr lang="ko-KR" altLang="en-US" b="1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C3D791-699D-2008-ACD2-9484215DB7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12000" y="6419850"/>
            <a:ext cx="1905635" cy="305435"/>
          </a:xfrm>
        </p:spPr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001264-7410-2BCA-A1B5-A5B1CE019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255" y="6393180"/>
            <a:ext cx="3110230" cy="349885"/>
          </a:xfrm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2675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0CFFF6-DFC9-4F75-14AB-A0C9E8A58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요소의 크기와 위치 정하기</a:t>
            </a:r>
            <a:br>
              <a:rPr lang="en-US" altLang="ko-KR" dirty="0"/>
            </a:br>
            <a:r>
              <a:rPr lang="en-US" altLang="ko-KR" dirty="0"/>
              <a:t>					</a:t>
            </a:r>
            <a:r>
              <a:rPr lang="ko-KR" altLang="en-US" dirty="0"/>
              <a:t>요소의 위치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519718-D0AE-2E14-D1EE-1839D7F7B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008509"/>
            <a:ext cx="7772400" cy="476275"/>
          </a:xfrm>
        </p:spPr>
        <p:txBody>
          <a:bodyPr/>
          <a:lstStyle/>
          <a:p>
            <a:r>
              <a:rPr lang="ko-KR" altLang="en-US" b="1" dirty="0"/>
              <a:t>정적 위치</a:t>
            </a:r>
            <a:endParaRPr lang="en-US" altLang="ko-KR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33A4B0-297B-E32C-DC48-E479F2D2F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75B75C-19CD-84DC-21B1-E928A8E5A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D95FEB-0667-88DD-ADDD-710AB7C2DA1B}"/>
              </a:ext>
            </a:extLst>
          </p:cNvPr>
          <p:cNvSpPr txBox="1"/>
          <p:nvPr/>
        </p:nvSpPr>
        <p:spPr>
          <a:xfrm>
            <a:off x="872729" y="1484784"/>
            <a:ext cx="3699271" cy="486287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&lt;!DOCTYPE html&gt;</a:t>
            </a:r>
          </a:p>
          <a:p>
            <a:r>
              <a:rPr lang="en-US" altLang="ko-KR" sz="1000" dirty="0"/>
              <a:t>&lt;html&gt;</a:t>
            </a:r>
          </a:p>
          <a:p>
            <a:r>
              <a:rPr lang="en-US" altLang="ko-KR" sz="1000" dirty="0"/>
              <a:t>&lt;head&gt;</a:t>
            </a:r>
          </a:p>
          <a:p>
            <a:r>
              <a:rPr lang="en-US" altLang="ko-KR" sz="1000" dirty="0"/>
              <a:t>  &lt;meta charset="UTF-8"&gt;</a:t>
            </a:r>
          </a:p>
          <a:p>
            <a:r>
              <a:rPr lang="en-US" altLang="ko-KR" sz="1000" dirty="0"/>
              <a:t>  &lt;title&gt;</a:t>
            </a:r>
            <a:r>
              <a:rPr lang="ko-KR" altLang="en-US" sz="1000" dirty="0"/>
              <a:t>요소 크기와 위치 정하기</a:t>
            </a:r>
            <a:r>
              <a:rPr lang="en-US" altLang="ko-KR" sz="1000" dirty="0"/>
              <a:t>&lt;/title&gt;</a:t>
            </a:r>
          </a:p>
          <a:p>
            <a:r>
              <a:rPr lang="en-US" altLang="ko-KR" sz="1000" dirty="0"/>
              <a:t>  &lt;style&gt;</a:t>
            </a:r>
          </a:p>
          <a:p>
            <a:r>
              <a:rPr lang="en-US" altLang="ko-KR" sz="1000" b="1" dirty="0"/>
              <a:t>    #one {</a:t>
            </a:r>
          </a:p>
          <a:p>
            <a:r>
              <a:rPr lang="en-US" altLang="ko-KR" sz="1000" b="1" dirty="0"/>
              <a:t>	background-color: cyan;</a:t>
            </a:r>
          </a:p>
          <a:p>
            <a:r>
              <a:rPr lang="en-US" altLang="ko-KR" sz="1000" b="1" dirty="0"/>
              <a:t>	width: 200px;</a:t>
            </a:r>
          </a:p>
          <a:p>
            <a:r>
              <a:rPr lang="en-US" altLang="ko-KR" sz="1000" b="1" dirty="0"/>
              <a:t>	height: 50px;</a:t>
            </a:r>
          </a:p>
          <a:p>
            <a:r>
              <a:rPr lang="en-US" altLang="ko-KR" sz="1000" b="1" dirty="0"/>
              <a:t>    }</a:t>
            </a:r>
          </a:p>
          <a:p>
            <a:r>
              <a:rPr lang="en-US" altLang="ko-KR" sz="1000" b="1" dirty="0"/>
              <a:t>    #two {</a:t>
            </a:r>
          </a:p>
          <a:p>
            <a:r>
              <a:rPr lang="en-US" altLang="ko-KR" sz="1000" b="1" dirty="0"/>
              <a:t>	position: static;</a:t>
            </a:r>
          </a:p>
          <a:p>
            <a:r>
              <a:rPr lang="en-US" altLang="ko-KR" sz="1000" b="1" dirty="0"/>
              <a:t>	background-color: yellow;</a:t>
            </a:r>
          </a:p>
          <a:p>
            <a:r>
              <a:rPr lang="en-US" altLang="ko-KR" sz="1000" b="1" dirty="0"/>
              <a:t>	width: 200px;</a:t>
            </a:r>
          </a:p>
          <a:p>
            <a:r>
              <a:rPr lang="en-US" altLang="ko-KR" sz="1000" b="1" dirty="0"/>
              <a:t>	height: 50px;</a:t>
            </a:r>
          </a:p>
          <a:p>
            <a:r>
              <a:rPr lang="en-US" altLang="ko-KR" sz="1000" b="1" dirty="0"/>
              <a:t>    }</a:t>
            </a:r>
          </a:p>
          <a:p>
            <a:r>
              <a:rPr lang="en-US" altLang="ko-KR" sz="1000" b="1" dirty="0"/>
              <a:t>    #three {</a:t>
            </a:r>
          </a:p>
          <a:p>
            <a:r>
              <a:rPr lang="en-US" altLang="ko-KR" sz="1000" b="1" dirty="0"/>
              <a:t>	background-color: lightgreen;</a:t>
            </a:r>
          </a:p>
          <a:p>
            <a:r>
              <a:rPr lang="en-US" altLang="ko-KR" sz="1000" b="1" dirty="0"/>
              <a:t>	width: 200px;</a:t>
            </a:r>
          </a:p>
          <a:p>
            <a:r>
              <a:rPr lang="en-US" altLang="ko-KR" sz="1000" b="1" dirty="0"/>
              <a:t>	height: 50px;</a:t>
            </a:r>
          </a:p>
          <a:p>
            <a:r>
              <a:rPr lang="en-US" altLang="ko-KR" sz="1000" b="1" dirty="0"/>
              <a:t>    }</a:t>
            </a:r>
          </a:p>
          <a:p>
            <a:r>
              <a:rPr lang="en-US" altLang="ko-KR" sz="1000" dirty="0"/>
              <a:t>  &lt;/style&gt;</a:t>
            </a:r>
          </a:p>
          <a:p>
            <a:r>
              <a:rPr lang="en-US" altLang="ko-KR" sz="1000" dirty="0"/>
              <a:t>&lt;/head&gt;</a:t>
            </a:r>
          </a:p>
          <a:p>
            <a:r>
              <a:rPr lang="en-US" altLang="ko-KR" sz="1000" dirty="0"/>
              <a:t>&lt;body&gt;</a:t>
            </a:r>
          </a:p>
          <a:p>
            <a:r>
              <a:rPr lang="en-US" altLang="ko-KR" sz="1000" dirty="0"/>
              <a:t>    &lt;div id="one"&gt;</a:t>
            </a:r>
            <a:r>
              <a:rPr lang="ko-KR" altLang="en-US" sz="1000" dirty="0"/>
              <a:t>요소</a:t>
            </a:r>
            <a:r>
              <a:rPr lang="en-US" altLang="ko-KR" sz="1000" dirty="0"/>
              <a:t>1&lt;/div&gt;</a:t>
            </a:r>
          </a:p>
          <a:p>
            <a:r>
              <a:rPr lang="en-US" altLang="ko-KR" sz="1000" dirty="0"/>
              <a:t>    &lt;div id="two"&gt;</a:t>
            </a:r>
            <a:r>
              <a:rPr lang="ko-KR" altLang="en-US" sz="1000" dirty="0"/>
              <a:t>요소</a:t>
            </a:r>
            <a:r>
              <a:rPr lang="en-US" altLang="ko-KR" sz="1000" dirty="0"/>
              <a:t>2&lt;/div&gt;</a:t>
            </a:r>
          </a:p>
          <a:p>
            <a:r>
              <a:rPr lang="en-US" altLang="ko-KR" sz="1000" dirty="0"/>
              <a:t>    &lt;div id="three"&gt;</a:t>
            </a:r>
            <a:r>
              <a:rPr lang="ko-KR" altLang="en-US" sz="1000" dirty="0"/>
              <a:t>요소</a:t>
            </a:r>
            <a:r>
              <a:rPr lang="en-US" altLang="ko-KR" sz="1000" dirty="0"/>
              <a:t>3&lt;/div&gt;</a:t>
            </a:r>
          </a:p>
          <a:p>
            <a:r>
              <a:rPr lang="en-US" altLang="ko-KR" sz="1000" dirty="0"/>
              <a:t>&lt;/body&gt;</a:t>
            </a:r>
          </a:p>
          <a:p>
            <a:r>
              <a:rPr lang="en-US" altLang="ko-KR" sz="1000" dirty="0"/>
              <a:t>&lt;/html&gt;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838847A-4EF8-61ED-7F64-C515CD759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2647950"/>
            <a:ext cx="20859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384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EC6796-31EF-C499-7CE1-0D5F08324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요소의 크기와 위치 정하기</a:t>
            </a:r>
            <a:br>
              <a:rPr lang="en-US" altLang="ko-KR" dirty="0"/>
            </a:br>
            <a:r>
              <a:rPr lang="en-US" altLang="ko-KR" dirty="0"/>
              <a:t>					</a:t>
            </a:r>
            <a:r>
              <a:rPr lang="ko-KR" altLang="en-US" dirty="0"/>
              <a:t>요소의 위치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5E25AC-AD72-98DD-70A9-169525E43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017588"/>
            <a:ext cx="7772400" cy="645690"/>
          </a:xfrm>
        </p:spPr>
        <p:txBody>
          <a:bodyPr>
            <a:normAutofit/>
          </a:bodyPr>
          <a:lstStyle/>
          <a:p>
            <a:r>
              <a:rPr lang="ko-KR" altLang="en-US" sz="1400" b="1" dirty="0"/>
              <a:t>상대위치</a:t>
            </a:r>
            <a:endParaRPr lang="en-US" altLang="ko-KR" sz="1400" b="1" dirty="0"/>
          </a:p>
          <a:p>
            <a:pPr lvl="1"/>
            <a:r>
              <a:rPr lang="ko-KR" altLang="en-US" sz="1400" dirty="0"/>
              <a:t>정상적인 위치에서 상대적으로 요소가 배치되는 방법이다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B4E58A-B07D-F3DC-DA05-05DC221439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8AC11C-E1D2-C57E-7E8A-9D450D601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6F8D81-715F-431E-95FB-334DBD631730}"/>
              </a:ext>
            </a:extLst>
          </p:cNvPr>
          <p:cNvSpPr txBox="1"/>
          <p:nvPr/>
        </p:nvSpPr>
        <p:spPr>
          <a:xfrm>
            <a:off x="442912" y="1663278"/>
            <a:ext cx="3769047" cy="452431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&lt;!DOCTYPE html&gt;</a:t>
            </a:r>
          </a:p>
          <a:p>
            <a:r>
              <a:rPr lang="en-US" altLang="ko-KR" sz="900" dirty="0"/>
              <a:t>&lt;html&gt;</a:t>
            </a:r>
          </a:p>
          <a:p>
            <a:r>
              <a:rPr lang="en-US" altLang="ko-KR" sz="900" dirty="0"/>
              <a:t>&lt;head&gt;</a:t>
            </a:r>
          </a:p>
          <a:p>
            <a:r>
              <a:rPr lang="en-US" altLang="ko-KR" sz="900" dirty="0"/>
              <a:t>  &lt;meta charset="UTF-8"&gt;</a:t>
            </a:r>
          </a:p>
          <a:p>
            <a:r>
              <a:rPr lang="en-US" altLang="ko-KR" sz="900" dirty="0"/>
              <a:t>  &lt;title&gt;</a:t>
            </a:r>
            <a:r>
              <a:rPr lang="ko-KR" altLang="en-US" sz="900" dirty="0"/>
              <a:t>요소 크기와 위치 정하기</a:t>
            </a:r>
            <a:r>
              <a:rPr lang="en-US" altLang="ko-KR" sz="900" dirty="0"/>
              <a:t>&lt;/title&gt;</a:t>
            </a:r>
          </a:p>
          <a:p>
            <a:r>
              <a:rPr lang="en-US" altLang="ko-KR" sz="900" dirty="0"/>
              <a:t>  &lt;style&gt;</a:t>
            </a:r>
          </a:p>
          <a:p>
            <a:r>
              <a:rPr lang="en-US" altLang="ko-KR" sz="900" dirty="0"/>
              <a:t>    </a:t>
            </a:r>
            <a:r>
              <a:rPr lang="en-US" altLang="ko-KR" sz="900" b="1" dirty="0"/>
              <a:t>#one {</a:t>
            </a:r>
          </a:p>
          <a:p>
            <a:r>
              <a:rPr lang="en-US" altLang="ko-KR" sz="900" b="1" dirty="0"/>
              <a:t>	background-color: cyan;</a:t>
            </a:r>
          </a:p>
          <a:p>
            <a:r>
              <a:rPr lang="en-US" altLang="ko-KR" sz="900" b="1" dirty="0"/>
              <a:t>	width: 200px;</a:t>
            </a:r>
          </a:p>
          <a:p>
            <a:r>
              <a:rPr lang="en-US" altLang="ko-KR" sz="900" b="1" dirty="0"/>
              <a:t>	height: 50px;</a:t>
            </a:r>
          </a:p>
          <a:p>
            <a:r>
              <a:rPr lang="en-US" altLang="ko-KR" sz="900" b="1" dirty="0"/>
              <a:t>    }</a:t>
            </a:r>
          </a:p>
          <a:p>
            <a:r>
              <a:rPr lang="en-US" altLang="ko-KR" sz="900" b="1" dirty="0"/>
              <a:t>    #two {</a:t>
            </a:r>
            <a:endParaRPr lang="en-US" altLang="ko-KR" sz="900" b="1" dirty="0">
              <a:solidFill>
                <a:srgbClr val="FF0000"/>
              </a:solidFill>
            </a:endParaRPr>
          </a:p>
          <a:p>
            <a:r>
              <a:rPr lang="en-US" altLang="ko-KR" sz="900" b="1" dirty="0">
                <a:solidFill>
                  <a:srgbClr val="FF0000"/>
                </a:solidFill>
              </a:rPr>
              <a:t>	position: relative;</a:t>
            </a:r>
          </a:p>
          <a:p>
            <a:r>
              <a:rPr lang="en-US" altLang="ko-KR" sz="900" b="1" dirty="0">
                <a:solidFill>
                  <a:srgbClr val="FF0000"/>
                </a:solidFill>
              </a:rPr>
              <a:t>	left: 30px;</a:t>
            </a:r>
          </a:p>
          <a:p>
            <a:r>
              <a:rPr lang="en-US" altLang="ko-KR" sz="900" b="1" dirty="0"/>
              <a:t>	background-color: yellow;</a:t>
            </a:r>
          </a:p>
          <a:p>
            <a:r>
              <a:rPr lang="en-US" altLang="ko-KR" sz="900" b="1" dirty="0"/>
              <a:t>	width: 200px;</a:t>
            </a:r>
          </a:p>
          <a:p>
            <a:r>
              <a:rPr lang="en-US" altLang="ko-KR" sz="900" b="1" dirty="0"/>
              <a:t>	height: 50px;</a:t>
            </a:r>
          </a:p>
          <a:p>
            <a:r>
              <a:rPr lang="en-US" altLang="ko-KR" sz="900" b="1" dirty="0"/>
              <a:t>    }</a:t>
            </a:r>
          </a:p>
          <a:p>
            <a:r>
              <a:rPr lang="en-US" altLang="ko-KR" sz="900" b="1" dirty="0"/>
              <a:t>    #three {</a:t>
            </a:r>
          </a:p>
          <a:p>
            <a:r>
              <a:rPr lang="en-US" altLang="ko-KR" sz="900" b="1" dirty="0"/>
              <a:t>	background-color: lightgreen;</a:t>
            </a:r>
          </a:p>
          <a:p>
            <a:r>
              <a:rPr lang="en-US" altLang="ko-KR" sz="900" b="1" dirty="0"/>
              <a:t>	width: 200px;</a:t>
            </a:r>
          </a:p>
          <a:p>
            <a:r>
              <a:rPr lang="en-US" altLang="ko-KR" sz="900" b="1" dirty="0"/>
              <a:t>	height: 50px;</a:t>
            </a:r>
          </a:p>
          <a:p>
            <a:r>
              <a:rPr lang="en-US" altLang="ko-KR" sz="900" b="1" dirty="0"/>
              <a:t>    }</a:t>
            </a:r>
          </a:p>
          <a:p>
            <a:r>
              <a:rPr lang="en-US" altLang="ko-KR" sz="900" dirty="0"/>
              <a:t>  &lt;/style&gt;</a:t>
            </a:r>
          </a:p>
          <a:p>
            <a:r>
              <a:rPr lang="en-US" altLang="ko-KR" sz="900" dirty="0"/>
              <a:t>&lt;/head&gt;</a:t>
            </a:r>
          </a:p>
          <a:p>
            <a:r>
              <a:rPr lang="en-US" altLang="ko-KR" sz="900" dirty="0"/>
              <a:t>&lt;body&gt;</a:t>
            </a:r>
          </a:p>
          <a:p>
            <a:r>
              <a:rPr lang="en-US" altLang="ko-KR" sz="900" dirty="0"/>
              <a:t>    &lt;div id="one"&gt;</a:t>
            </a:r>
            <a:r>
              <a:rPr lang="ko-KR" altLang="en-US" sz="900" dirty="0"/>
              <a:t>요소</a:t>
            </a:r>
            <a:r>
              <a:rPr lang="en-US" altLang="ko-KR" sz="900" dirty="0"/>
              <a:t>1&lt;/div&gt;</a:t>
            </a:r>
          </a:p>
          <a:p>
            <a:r>
              <a:rPr lang="en-US" altLang="ko-KR" sz="900" dirty="0"/>
              <a:t>    &lt;div id="two"&gt;</a:t>
            </a:r>
            <a:r>
              <a:rPr lang="ko-KR" altLang="en-US" sz="900" dirty="0"/>
              <a:t>요소</a:t>
            </a:r>
            <a:r>
              <a:rPr lang="en-US" altLang="ko-KR" sz="900" dirty="0"/>
              <a:t>2&lt;/div&gt;</a:t>
            </a:r>
          </a:p>
          <a:p>
            <a:r>
              <a:rPr lang="en-US" altLang="ko-KR" sz="900" dirty="0"/>
              <a:t>    &lt;div id="three"&gt;</a:t>
            </a:r>
            <a:r>
              <a:rPr lang="ko-KR" altLang="en-US" sz="900" dirty="0"/>
              <a:t>요소</a:t>
            </a:r>
            <a:r>
              <a:rPr lang="en-US" altLang="ko-KR" sz="900" dirty="0"/>
              <a:t>3&lt;/div&gt;</a:t>
            </a:r>
          </a:p>
          <a:p>
            <a:r>
              <a:rPr lang="en-US" altLang="ko-KR" sz="900" dirty="0"/>
              <a:t>&lt;/body&gt;</a:t>
            </a:r>
          </a:p>
          <a:p>
            <a:r>
              <a:rPr lang="en-US" altLang="ko-KR" sz="900" dirty="0"/>
              <a:t>&lt;/html&gt;</a:t>
            </a:r>
          </a:p>
          <a:p>
            <a:endParaRPr lang="ko-KR" altLang="en-US" sz="9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EAAB546-09EF-127B-8A21-F6AFB3B2E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879" y="2633662"/>
            <a:ext cx="207645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35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EE1764-75DF-91A6-889E-B0A607340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요소의 크기와 위치 정하기</a:t>
            </a:r>
            <a:br>
              <a:rPr lang="en-US" altLang="ko-KR" dirty="0"/>
            </a:br>
            <a:r>
              <a:rPr lang="en-US" altLang="ko-KR" dirty="0"/>
              <a:t>					</a:t>
            </a:r>
            <a:r>
              <a:rPr lang="ko-KR" altLang="en-US" dirty="0"/>
              <a:t>요소의 위치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20CDD8-ED6B-B45E-BA92-128C8B54B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052736"/>
            <a:ext cx="7772400" cy="620291"/>
          </a:xfrm>
        </p:spPr>
        <p:txBody>
          <a:bodyPr>
            <a:normAutofit fontScale="70000" lnSpcReduction="20000"/>
          </a:bodyPr>
          <a:lstStyle/>
          <a:p>
            <a:r>
              <a:rPr lang="ko-KR" altLang="en-US" b="1" dirty="0"/>
              <a:t>절대 위치</a:t>
            </a:r>
            <a:endParaRPr lang="en-US" altLang="ko-KR" b="1" dirty="0"/>
          </a:p>
          <a:p>
            <a:pPr lvl="1"/>
            <a:r>
              <a:rPr lang="ko-KR" altLang="en-US" dirty="0"/>
              <a:t>페이지의 시작 위치에서 </a:t>
            </a:r>
            <a:r>
              <a:rPr lang="en-US" altLang="ko-KR" dirty="0"/>
              <a:t>top, left, bottom, right </a:t>
            </a:r>
            <a:r>
              <a:rPr lang="ko-KR" altLang="en-US" dirty="0"/>
              <a:t>만큼 떨어진 위치에 배치된다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B745A9-63D1-6446-9CD3-46E76752D2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244C98-38FE-6D34-9FE8-1D12E8D7E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869509-1D00-59BA-2F37-8863350C0882}"/>
              </a:ext>
            </a:extLst>
          </p:cNvPr>
          <p:cNvSpPr txBox="1"/>
          <p:nvPr/>
        </p:nvSpPr>
        <p:spPr>
          <a:xfrm>
            <a:off x="442913" y="1772816"/>
            <a:ext cx="5137199" cy="466281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&lt;!DOCTYPE html&gt;</a:t>
            </a:r>
          </a:p>
          <a:p>
            <a:r>
              <a:rPr lang="en-US" altLang="ko-KR" sz="900" dirty="0"/>
              <a:t>&lt;html&gt;</a:t>
            </a:r>
          </a:p>
          <a:p>
            <a:r>
              <a:rPr lang="en-US" altLang="ko-KR" sz="900" dirty="0"/>
              <a:t>&lt;head&gt;</a:t>
            </a:r>
          </a:p>
          <a:p>
            <a:r>
              <a:rPr lang="en-US" altLang="ko-KR" sz="900" dirty="0"/>
              <a:t>  &lt;meta charset="UTF-8"&gt;</a:t>
            </a:r>
          </a:p>
          <a:p>
            <a:r>
              <a:rPr lang="en-US" altLang="ko-KR" sz="900" dirty="0"/>
              <a:t>  &lt;title&gt;</a:t>
            </a:r>
            <a:r>
              <a:rPr lang="ko-KR" altLang="en-US" sz="900" dirty="0"/>
              <a:t>요소 크기와 위치 정하기</a:t>
            </a:r>
            <a:r>
              <a:rPr lang="en-US" altLang="ko-KR" sz="900" dirty="0"/>
              <a:t>&lt;/title&gt;</a:t>
            </a:r>
          </a:p>
          <a:p>
            <a:r>
              <a:rPr lang="en-US" altLang="ko-KR" sz="900" dirty="0"/>
              <a:t>  &lt;style&gt;</a:t>
            </a:r>
          </a:p>
          <a:p>
            <a:r>
              <a:rPr lang="en-US" altLang="ko-KR" sz="900" dirty="0"/>
              <a:t>    </a:t>
            </a:r>
            <a:r>
              <a:rPr lang="en-US" altLang="ko-KR" sz="900" b="1" dirty="0"/>
              <a:t>#one {</a:t>
            </a:r>
          </a:p>
          <a:p>
            <a:r>
              <a:rPr lang="en-US" altLang="ko-KR" sz="900" b="1" dirty="0"/>
              <a:t>	background-color: cyan;</a:t>
            </a:r>
          </a:p>
          <a:p>
            <a:r>
              <a:rPr lang="en-US" altLang="ko-KR" sz="900" b="1" dirty="0"/>
              <a:t>	width: 200px;</a:t>
            </a:r>
          </a:p>
          <a:p>
            <a:r>
              <a:rPr lang="en-US" altLang="ko-KR" sz="900" b="1" dirty="0"/>
              <a:t>	height: 50px;</a:t>
            </a:r>
          </a:p>
          <a:p>
            <a:r>
              <a:rPr lang="en-US" altLang="ko-KR" sz="900" b="1" dirty="0"/>
              <a:t>    }</a:t>
            </a:r>
          </a:p>
          <a:p>
            <a:r>
              <a:rPr lang="en-US" altLang="ko-KR" sz="900" b="1" dirty="0"/>
              <a:t>    #two {</a:t>
            </a:r>
          </a:p>
          <a:p>
            <a:r>
              <a:rPr lang="en-US" altLang="ko-KR" sz="900" b="1" dirty="0"/>
              <a:t>	</a:t>
            </a:r>
            <a:r>
              <a:rPr lang="en-US" altLang="ko-KR" sz="900" b="1" dirty="0">
                <a:solidFill>
                  <a:srgbClr val="FF0000"/>
                </a:solidFill>
              </a:rPr>
              <a:t>position: absolute;</a:t>
            </a:r>
          </a:p>
          <a:p>
            <a:r>
              <a:rPr lang="en-US" altLang="ko-KR" sz="900" b="1" dirty="0">
                <a:solidFill>
                  <a:srgbClr val="FF0000"/>
                </a:solidFill>
              </a:rPr>
              <a:t>	top: 30px;</a:t>
            </a:r>
          </a:p>
          <a:p>
            <a:r>
              <a:rPr lang="en-US" altLang="ko-KR" sz="900" b="1" dirty="0">
                <a:solidFill>
                  <a:srgbClr val="FF0000"/>
                </a:solidFill>
              </a:rPr>
              <a:t>	left: 30px;</a:t>
            </a:r>
          </a:p>
          <a:p>
            <a:r>
              <a:rPr lang="en-US" altLang="ko-KR" sz="900" b="1" dirty="0"/>
              <a:t>	background-color: yellow;</a:t>
            </a:r>
          </a:p>
          <a:p>
            <a:r>
              <a:rPr lang="en-US" altLang="ko-KR" sz="900" b="1" dirty="0"/>
              <a:t>	width: 200px;</a:t>
            </a:r>
          </a:p>
          <a:p>
            <a:r>
              <a:rPr lang="en-US" altLang="ko-KR" sz="900" b="1" dirty="0"/>
              <a:t>	height: 50px;</a:t>
            </a:r>
          </a:p>
          <a:p>
            <a:r>
              <a:rPr lang="en-US" altLang="ko-KR" sz="900" b="1" dirty="0"/>
              <a:t>    }</a:t>
            </a:r>
          </a:p>
          <a:p>
            <a:r>
              <a:rPr lang="en-US" altLang="ko-KR" sz="900" b="1" dirty="0"/>
              <a:t>    #three {</a:t>
            </a:r>
          </a:p>
          <a:p>
            <a:r>
              <a:rPr lang="en-US" altLang="ko-KR" sz="900" b="1" dirty="0"/>
              <a:t>	background-color: lightgreen;</a:t>
            </a:r>
          </a:p>
          <a:p>
            <a:r>
              <a:rPr lang="en-US" altLang="ko-KR" sz="900" b="1" dirty="0"/>
              <a:t>	width: 200px;</a:t>
            </a:r>
          </a:p>
          <a:p>
            <a:r>
              <a:rPr lang="en-US" altLang="ko-KR" sz="900" b="1" dirty="0"/>
              <a:t>	height: 50px;</a:t>
            </a:r>
          </a:p>
          <a:p>
            <a:r>
              <a:rPr lang="en-US" altLang="ko-KR" sz="900" b="1" dirty="0"/>
              <a:t>    }</a:t>
            </a:r>
          </a:p>
          <a:p>
            <a:r>
              <a:rPr lang="en-US" altLang="ko-KR" sz="900" dirty="0"/>
              <a:t>  &lt;/style&gt;</a:t>
            </a:r>
          </a:p>
          <a:p>
            <a:r>
              <a:rPr lang="en-US" altLang="ko-KR" sz="900" dirty="0"/>
              <a:t>&lt;/head&gt;</a:t>
            </a:r>
          </a:p>
          <a:p>
            <a:r>
              <a:rPr lang="en-US" altLang="ko-KR" sz="900" dirty="0"/>
              <a:t>&lt;body&gt;</a:t>
            </a:r>
          </a:p>
          <a:p>
            <a:r>
              <a:rPr lang="en-US" altLang="ko-KR" sz="900" dirty="0"/>
              <a:t>    &lt;div id="one"&gt;</a:t>
            </a:r>
            <a:r>
              <a:rPr lang="ko-KR" altLang="en-US" sz="900" dirty="0"/>
              <a:t>요소</a:t>
            </a:r>
            <a:r>
              <a:rPr lang="en-US" altLang="ko-KR" sz="900" dirty="0"/>
              <a:t>1&lt;/div&gt;</a:t>
            </a:r>
          </a:p>
          <a:p>
            <a:r>
              <a:rPr lang="en-US" altLang="ko-KR" sz="900" dirty="0"/>
              <a:t>    &lt;div id="two"&gt;</a:t>
            </a:r>
            <a:r>
              <a:rPr lang="ko-KR" altLang="en-US" sz="900" dirty="0"/>
              <a:t>요소</a:t>
            </a:r>
            <a:r>
              <a:rPr lang="en-US" altLang="ko-KR" sz="900" dirty="0"/>
              <a:t>2&lt;/div&gt;</a:t>
            </a:r>
          </a:p>
          <a:p>
            <a:r>
              <a:rPr lang="en-US" altLang="ko-KR" sz="900" dirty="0"/>
              <a:t>    &lt;div id="three"&gt;</a:t>
            </a:r>
            <a:r>
              <a:rPr lang="ko-KR" altLang="en-US" sz="900" dirty="0"/>
              <a:t>요소</a:t>
            </a:r>
            <a:r>
              <a:rPr lang="en-US" altLang="ko-KR" sz="900" dirty="0"/>
              <a:t>3&lt;/div&gt;</a:t>
            </a:r>
          </a:p>
          <a:p>
            <a:r>
              <a:rPr lang="en-US" altLang="ko-KR" sz="900" dirty="0"/>
              <a:t>&lt;/body&gt;</a:t>
            </a:r>
          </a:p>
          <a:p>
            <a:r>
              <a:rPr lang="en-US" altLang="ko-KR" sz="900" dirty="0"/>
              <a:t>&lt;/html&gt;</a:t>
            </a:r>
          </a:p>
          <a:p>
            <a:endParaRPr lang="ko-KR" altLang="en-US" sz="9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A183AC4-951D-9381-FED5-9CAD9BACF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176" y="2924944"/>
            <a:ext cx="228600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354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43BA92-1DA6-73D9-9B55-ED52C24F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146050"/>
            <a:ext cx="7773035" cy="762635"/>
          </a:xfrm>
        </p:spPr>
        <p:txBody>
          <a:bodyPr/>
          <a:lstStyle/>
          <a:p>
            <a:r>
              <a:rPr lang="ko-KR" altLang="en-US" dirty="0"/>
              <a:t>요소의 크기와 위치 정하기</a:t>
            </a:r>
            <a:br>
              <a:rPr lang="en-US" altLang="ko-KR" dirty="0"/>
            </a:br>
            <a:r>
              <a:rPr lang="en-US" altLang="ko-KR" dirty="0"/>
              <a:t>					</a:t>
            </a:r>
            <a:r>
              <a:rPr lang="ko-KR" altLang="en-US" dirty="0"/>
              <a:t>요소의 위치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07AE0E-796F-63BB-E45C-51E28A345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772400" cy="1412240"/>
          </a:xfrm>
        </p:spPr>
        <p:txBody>
          <a:bodyPr>
            <a:normAutofit fontScale="77500" lnSpcReduction="20000"/>
          </a:bodyPr>
          <a:lstStyle/>
          <a:p>
            <a:r>
              <a:rPr lang="ko-KR" altLang="en-US" b="1" dirty="0"/>
              <a:t>고정 위치</a:t>
            </a:r>
            <a:endParaRPr lang="en-US" altLang="ko-KR" b="1" dirty="0"/>
          </a:p>
          <a:p>
            <a:pPr lvl="1"/>
            <a:r>
              <a:rPr lang="ko-KR" altLang="en-US" dirty="0"/>
              <a:t>고정 위치란 브라우저 윈도우에 상대적으로 요소의 위치를 잡는 것이다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b="1" dirty="0"/>
              <a:t>예</a:t>
            </a:r>
            <a:r>
              <a:rPr lang="en-US" altLang="ko-KR" b="1" dirty="0"/>
              <a:t>) </a:t>
            </a:r>
            <a:r>
              <a:rPr lang="ko-KR" altLang="en-US" b="1" dirty="0"/>
              <a:t>웹 브라우저에서 화면을 스크롤 해도</a:t>
            </a:r>
            <a:r>
              <a:rPr lang="en-US" altLang="ko-KR" b="1" dirty="0"/>
              <a:t>,</a:t>
            </a:r>
            <a:r>
              <a:rPr lang="ko-KR" altLang="en-US" b="1" dirty="0"/>
              <a:t> 같은 위치에서 광고가 계속 보이는 것</a:t>
            </a:r>
            <a:endParaRPr lang="en-US" altLang="ko-KR" b="1" dirty="0"/>
          </a:p>
          <a:p>
            <a:pPr lvl="2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8AD92D-2B0B-AAE3-88C5-FC4BCDEC42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12000" y="6419850"/>
            <a:ext cx="1905635" cy="305435"/>
          </a:xfrm>
        </p:spPr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D9A7E1-0DEF-1651-B0AB-71500B359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255" y="6393180"/>
            <a:ext cx="3110230" cy="349885"/>
          </a:xfrm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0C2467-6879-917B-3C08-306FB630F2D3}"/>
              </a:ext>
            </a:extLst>
          </p:cNvPr>
          <p:cNvSpPr txBox="1"/>
          <p:nvPr/>
        </p:nvSpPr>
        <p:spPr>
          <a:xfrm>
            <a:off x="381635" y="2348865"/>
            <a:ext cx="2493010" cy="249301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&lt;style&gt;</a:t>
            </a:r>
          </a:p>
          <a:p>
            <a:r>
              <a:rPr lang="en-US" altLang="ko-KR" sz="1200" dirty="0"/>
              <a:t>    p {</a:t>
            </a:r>
          </a:p>
          <a:p>
            <a:r>
              <a:rPr lang="en-US" altLang="ko-KR" sz="1200" dirty="0"/>
              <a:t>      background-color: lightgreen;</a:t>
            </a:r>
          </a:p>
          <a:p>
            <a:r>
              <a:rPr lang="en-US" altLang="ko-KR" sz="1200" dirty="0"/>
              <a:t>      width: 200px;</a:t>
            </a:r>
          </a:p>
          <a:p>
            <a:r>
              <a:rPr lang="en-US" altLang="ko-KR" sz="1200" dirty="0"/>
              <a:t>      height: 50px;</a:t>
            </a:r>
          </a:p>
          <a:p>
            <a:r>
              <a:rPr lang="en-US" altLang="ko-KR" sz="1200" dirty="0"/>
              <a:t>    }</a:t>
            </a:r>
          </a:p>
          <a:p>
            <a:r>
              <a:rPr lang="en-US" altLang="ko-KR" sz="1200" dirty="0"/>
              <a:t>    #two {</a:t>
            </a:r>
          </a:p>
          <a:p>
            <a:r>
              <a:rPr lang="en-US" altLang="ko-KR" sz="1200" dirty="0"/>
              <a:t>      background-color: yellow;</a:t>
            </a:r>
          </a:p>
          <a:p>
            <a:r>
              <a:rPr lang="en-US" altLang="ko-KR" sz="1200" dirty="0"/>
              <a:t>      position: fixed;</a:t>
            </a:r>
          </a:p>
          <a:p>
            <a:r>
              <a:rPr lang="en-US" altLang="ko-KR" sz="1200" dirty="0"/>
              <a:t>      top: 20px;</a:t>
            </a:r>
          </a:p>
          <a:p>
            <a:r>
              <a:rPr lang="en-US" altLang="ko-KR" sz="1200" dirty="0"/>
              <a:t>      right: 50px;</a:t>
            </a:r>
          </a:p>
          <a:p>
            <a:r>
              <a:rPr lang="en-US" altLang="ko-KR" sz="1200" dirty="0"/>
              <a:t>    }</a:t>
            </a:r>
          </a:p>
          <a:p>
            <a:r>
              <a:rPr lang="en-US" altLang="ko-KR" sz="1200" dirty="0"/>
              <a:t>&lt;/style&gt;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216712-1B1B-80AF-6863-F6DEAA22B642}"/>
              </a:ext>
            </a:extLst>
          </p:cNvPr>
          <p:cNvSpPr txBox="1"/>
          <p:nvPr/>
        </p:nvSpPr>
        <p:spPr>
          <a:xfrm>
            <a:off x="3066415" y="2348865"/>
            <a:ext cx="3010535" cy="378587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&lt;!DOCTYPE html&gt;</a:t>
            </a:r>
          </a:p>
          <a:p>
            <a:r>
              <a:rPr lang="en-US" altLang="ko-KR" sz="1200" dirty="0"/>
              <a:t>&lt;html&gt;</a:t>
            </a:r>
          </a:p>
          <a:p>
            <a:r>
              <a:rPr lang="en-US" altLang="ko-KR" sz="1200" dirty="0"/>
              <a:t>&lt;head&gt;</a:t>
            </a:r>
          </a:p>
          <a:p>
            <a:r>
              <a:rPr lang="en-US" altLang="ko-KR" sz="1200" dirty="0"/>
              <a:t>  &lt;meta charset="UTF-8"&gt;</a:t>
            </a:r>
          </a:p>
          <a:p>
            <a:r>
              <a:rPr lang="en-US" altLang="ko-KR" sz="1200" dirty="0"/>
              <a:t>  &lt;title&gt;</a:t>
            </a:r>
            <a:r>
              <a:rPr lang="ko-KR" altLang="en-US" sz="1200" dirty="0"/>
              <a:t>고정 위치 예제</a:t>
            </a:r>
            <a:r>
              <a:rPr lang="en-US" altLang="ko-KR" sz="1200" dirty="0"/>
              <a:t>&lt;/title&gt;</a:t>
            </a:r>
          </a:p>
          <a:p>
            <a:r>
              <a:rPr lang="en-US" altLang="ko-KR" sz="1200" dirty="0"/>
              <a:t>&lt;/head&gt;</a:t>
            </a:r>
          </a:p>
          <a:p>
            <a:r>
              <a:rPr lang="en-US" altLang="ko-KR" sz="1200" dirty="0"/>
              <a:t>&lt;body&gt;</a:t>
            </a:r>
          </a:p>
          <a:p>
            <a:r>
              <a:rPr lang="en-US" altLang="ko-KR" sz="1200" dirty="0"/>
              <a:t>  &lt;p&gt;block #1&lt;/p&gt;</a:t>
            </a:r>
          </a:p>
          <a:p>
            <a:r>
              <a:rPr lang="en-US" altLang="ko-KR" sz="1200" dirty="0"/>
              <a:t>  &lt;p id="two"&gt;block #2&lt;/p&gt;</a:t>
            </a:r>
          </a:p>
          <a:p>
            <a:r>
              <a:rPr lang="en-US" altLang="ko-KR" sz="1200" dirty="0"/>
              <a:t>  &lt;p&gt;block #3&lt;/p&gt;</a:t>
            </a:r>
          </a:p>
          <a:p>
            <a:r>
              <a:rPr lang="en-US" altLang="ko-KR" sz="1200" dirty="0"/>
              <a:t>  &lt;p&gt;block #4&lt;/p&gt;</a:t>
            </a:r>
          </a:p>
          <a:p>
            <a:r>
              <a:rPr lang="en-US" altLang="ko-KR" sz="1200" dirty="0"/>
              <a:t>  &lt;p&gt;block #4&lt;/p&gt;</a:t>
            </a:r>
          </a:p>
          <a:p>
            <a:r>
              <a:rPr lang="en-US" altLang="ko-KR" sz="1200" dirty="0"/>
              <a:t>  &lt;p&gt;block #5&lt;/p&gt;</a:t>
            </a:r>
          </a:p>
          <a:p>
            <a:r>
              <a:rPr lang="en-US" altLang="ko-KR" sz="1200" dirty="0"/>
              <a:t>  &lt;p&gt;block #6&lt;/p&gt;</a:t>
            </a:r>
          </a:p>
          <a:p>
            <a:r>
              <a:rPr lang="en-US" altLang="ko-KR" sz="1200" dirty="0"/>
              <a:t>  &lt;p&gt;block #7&lt;/p&gt;</a:t>
            </a:r>
          </a:p>
          <a:p>
            <a:r>
              <a:rPr lang="en-US" altLang="ko-KR" sz="1200" dirty="0"/>
              <a:t>  &lt;p&gt;block #8&lt;/p&gt;</a:t>
            </a:r>
          </a:p>
          <a:p>
            <a:r>
              <a:rPr lang="en-US" altLang="ko-KR" sz="1200" dirty="0"/>
              <a:t>  &lt;p&gt;block #9&lt;/p&gt;</a:t>
            </a:r>
          </a:p>
          <a:p>
            <a:r>
              <a:rPr lang="en-US" altLang="ko-KR" sz="1200" dirty="0"/>
              <a:t>  &lt;p&gt;block #10&lt;/p&gt;</a:t>
            </a:r>
          </a:p>
          <a:p>
            <a:r>
              <a:rPr lang="en-US" altLang="ko-KR" sz="1200" dirty="0"/>
              <a:t>&lt;/body&gt;</a:t>
            </a:r>
          </a:p>
          <a:p>
            <a:r>
              <a:rPr lang="en-US" altLang="ko-KR" sz="1200" dirty="0"/>
              <a:t>&lt;/html&gt;</a:t>
            </a:r>
            <a:endParaRPr lang="ko-KR" altLang="en-US" sz="12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DFF025E-9410-B52D-BE14-BDC93D8A8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355" y="2348865"/>
            <a:ext cx="2762885" cy="2414270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7051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475A8-6F97-9E82-2660-493C2485E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83828C-BDF5-442C-4470-0C418DA1A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772400" cy="2276475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b="1" dirty="0"/>
              <a:t>다음에서 요구하는 메뉴를 넣어서 네비게이션 바를 만들어보자</a:t>
            </a:r>
            <a:r>
              <a:rPr lang="en-US" altLang="ko-KR" b="1" dirty="0"/>
              <a:t>.</a:t>
            </a:r>
          </a:p>
          <a:p>
            <a:pPr lvl="1"/>
            <a:r>
              <a:rPr lang="en-US" altLang="ko-KR" dirty="0"/>
              <a:t>Home</a:t>
            </a:r>
          </a:p>
          <a:p>
            <a:pPr lvl="1"/>
            <a:r>
              <a:rPr lang="en-US" altLang="ko-KR" dirty="0"/>
              <a:t>About Us</a:t>
            </a:r>
          </a:p>
          <a:p>
            <a:pPr lvl="1"/>
            <a:r>
              <a:rPr lang="en-US" altLang="ko-KR" dirty="0"/>
              <a:t>News</a:t>
            </a:r>
          </a:p>
          <a:p>
            <a:pPr lvl="1"/>
            <a:r>
              <a:rPr lang="en-US" altLang="ko-KR" dirty="0"/>
              <a:t>My Account</a:t>
            </a:r>
          </a:p>
          <a:p>
            <a:pPr lvl="1"/>
            <a:r>
              <a:rPr lang="en-US" altLang="ko-KR" dirty="0"/>
              <a:t>Contacts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AA9FB9-21B3-6A9D-3F08-9A4D764860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F91F64-D204-A4F3-337A-9842041EB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AE9818-D5AC-5726-4A1D-CB3BE4CDB694}"/>
              </a:ext>
            </a:extLst>
          </p:cNvPr>
          <p:cNvSpPr txBox="1"/>
          <p:nvPr/>
        </p:nvSpPr>
        <p:spPr>
          <a:xfrm>
            <a:off x="2051720" y="4293096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842C17-AAEC-7DC4-9BBA-392AE3177C64}"/>
              </a:ext>
            </a:extLst>
          </p:cNvPr>
          <p:cNvSpPr txBox="1"/>
          <p:nvPr/>
        </p:nvSpPr>
        <p:spPr>
          <a:xfrm>
            <a:off x="179512" y="3789040"/>
            <a:ext cx="5260030" cy="203132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it-IT" altLang="ko-KR" dirty="0"/>
              <a:t>&lt;ul&gt;</a:t>
            </a:r>
          </a:p>
          <a:p>
            <a:r>
              <a:rPr lang="it-IT" altLang="ko-KR" dirty="0"/>
              <a:t>	&lt;li&gt;&lt;a href="#"&gt;Home&lt;/a&gt;&lt;/li&gt;</a:t>
            </a:r>
          </a:p>
          <a:p>
            <a:r>
              <a:rPr lang="it-IT" altLang="ko-KR" dirty="0"/>
              <a:t>	&lt;li&gt;&lt;a href="#"&gt;About Us&lt;/a&gt;&lt;/li&gt;</a:t>
            </a:r>
          </a:p>
          <a:p>
            <a:r>
              <a:rPr lang="it-IT" altLang="ko-KR" dirty="0"/>
              <a:t>	&lt;li&gt;&lt;a href="#"&gt;News&lt;/a&gt;&lt;/li&gt;</a:t>
            </a:r>
          </a:p>
          <a:p>
            <a:r>
              <a:rPr lang="it-IT" altLang="ko-KR" dirty="0"/>
              <a:t>	&lt;li&gt;&lt;a href="#"&gt;My Account&lt;/a&gt;&lt;/li&gt;</a:t>
            </a:r>
          </a:p>
          <a:p>
            <a:r>
              <a:rPr lang="it-IT" altLang="ko-KR" dirty="0"/>
              <a:t>	&lt;li&gt;&lt;a href="#"&gt;Contacts&lt;/a&gt;&lt;/li&gt;</a:t>
            </a:r>
          </a:p>
          <a:p>
            <a:r>
              <a:rPr lang="it-IT" altLang="ko-KR" dirty="0"/>
              <a:t>&lt;/ul&gt;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8ED989A-ECD8-24D6-78B0-7A369F3CA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814" y="2969890"/>
            <a:ext cx="6276186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6513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443230" y="161925"/>
            <a:ext cx="7773035" cy="762635"/>
          </a:xfrm>
          <a:prstGeom prst="rect"/>
          <a:noFill/>
          <a:ln>
            <a:noFill/>
            <a:prstDash/>
          </a:ln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  <a:r>
              <a:rPr lang="ko-KR" altLang="en-US"/>
              <a:t>실습 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FF082-D6F5-AF80-DA60-A29275C38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052830"/>
            <a:ext cx="7772400" cy="476250"/>
          </a:xfrm>
        </p:spPr>
        <p:txBody>
          <a:bodyPr/>
          <a:lstStyle/>
          <a:p>
            <a:r>
              <a:rPr lang="ko-KR" altLang="en-US" dirty="0"/>
              <a:t>회원가입 페이지 작성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2C8516-74B1-943C-7938-317DE040E8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12000" y="6419850"/>
            <a:ext cx="1905635" cy="305435"/>
          </a:xfrm>
        </p:spPr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B75A27-DDDF-3BA1-3B08-58CD10A5D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255" y="6393180"/>
            <a:ext cx="3110230" cy="349885"/>
          </a:xfrm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BE76DE-F33F-692F-8118-514F1C54A828}"/>
              </a:ext>
            </a:extLst>
          </p:cNvPr>
          <p:cNvSpPr txBox="1"/>
          <p:nvPr/>
        </p:nvSpPr>
        <p:spPr>
          <a:xfrm>
            <a:off x="443230" y="1590040"/>
            <a:ext cx="3985260" cy="464756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   </a:t>
            </a:r>
            <a:r>
              <a:rPr lang="en-US" altLang="ko-KR" sz="800" b="1" dirty="0"/>
              <a:t>body</a:t>
            </a:r>
            <a:r>
              <a:rPr lang="en-US" altLang="ko-KR" sz="800" dirty="0"/>
              <a:t> {</a:t>
            </a:r>
          </a:p>
          <a:p>
            <a:r>
              <a:rPr lang="en-US" altLang="ko-KR" sz="800" dirty="0"/>
              <a:t>      font-family: Arial, sans-serif;</a:t>
            </a:r>
          </a:p>
          <a:p>
            <a:r>
              <a:rPr lang="en-US" altLang="ko-KR" sz="800" dirty="0"/>
              <a:t>      background-color: #f0f0f0;</a:t>
            </a:r>
          </a:p>
          <a:p>
            <a:r>
              <a:rPr lang="en-US" altLang="ko-KR" sz="800" dirty="0"/>
              <a:t>      padding: 20px;</a:t>
            </a:r>
          </a:p>
          <a:p>
            <a:r>
              <a:rPr lang="en-US" altLang="ko-KR" sz="800" dirty="0"/>
              <a:t>    }</a:t>
            </a:r>
          </a:p>
          <a:p>
            <a:endParaRPr lang="en-US" altLang="ko-KR" sz="800" dirty="0"/>
          </a:p>
          <a:p>
            <a:r>
              <a:rPr lang="en-US" altLang="ko-KR" sz="800" dirty="0"/>
              <a:t>   </a:t>
            </a:r>
            <a:r>
              <a:rPr lang="en-US" altLang="ko-KR" sz="800" b="1" dirty="0"/>
              <a:t> .signup-container </a:t>
            </a:r>
            <a:r>
              <a:rPr lang="en-US" altLang="ko-KR" sz="800" dirty="0"/>
              <a:t>{</a:t>
            </a:r>
          </a:p>
          <a:p>
            <a:r>
              <a:rPr lang="en-US" altLang="ko-KR" sz="800" dirty="0"/>
              <a:t>      background-color: white;</a:t>
            </a:r>
          </a:p>
          <a:p>
            <a:r>
              <a:rPr lang="en-US" altLang="ko-KR" sz="800" dirty="0"/>
              <a:t>      padding: 20px;</a:t>
            </a:r>
          </a:p>
          <a:p>
            <a:r>
              <a:rPr lang="en-US" altLang="ko-KR" sz="800" dirty="0"/>
              <a:t>      width: 320px;</a:t>
            </a:r>
          </a:p>
          <a:p>
            <a:r>
              <a:rPr lang="en-US" altLang="ko-KR" sz="800" dirty="0"/>
              <a:t>      margin: 0 auto;</a:t>
            </a:r>
          </a:p>
          <a:p>
            <a:r>
              <a:rPr lang="en-US" altLang="ko-KR" sz="800" dirty="0"/>
              <a:t>      border: 1px solid #ccc;</a:t>
            </a:r>
          </a:p>
          <a:p>
            <a:r>
              <a:rPr lang="en-US" altLang="ko-KR" sz="800" dirty="0"/>
              <a:t>    }</a:t>
            </a:r>
          </a:p>
          <a:p>
            <a:endParaRPr lang="en-US" altLang="ko-KR" sz="800" dirty="0"/>
          </a:p>
          <a:p>
            <a:r>
              <a:rPr lang="en-US" altLang="ko-KR" sz="800" dirty="0"/>
              <a:t>    input[type="text"],</a:t>
            </a:r>
          </a:p>
          <a:p>
            <a:r>
              <a:rPr lang="en-US" altLang="ko-KR" sz="800" dirty="0"/>
              <a:t>    input[type="email"],</a:t>
            </a:r>
          </a:p>
          <a:p>
            <a:r>
              <a:rPr lang="en-US" altLang="ko-KR" sz="800" dirty="0"/>
              <a:t>    input[type="password"],</a:t>
            </a:r>
          </a:p>
          <a:p>
            <a:r>
              <a:rPr lang="en-US" altLang="ko-KR" sz="800" dirty="0"/>
              <a:t>    input[type="date"] {</a:t>
            </a:r>
          </a:p>
          <a:p>
            <a:r>
              <a:rPr lang="en-US" altLang="ko-KR" sz="800" dirty="0"/>
              <a:t>      width: 100%;</a:t>
            </a:r>
          </a:p>
          <a:p>
            <a:r>
              <a:rPr lang="en-US" altLang="ko-KR" sz="800" dirty="0"/>
              <a:t>      padding: 2px;</a:t>
            </a:r>
          </a:p>
          <a:p>
            <a:r>
              <a:rPr lang="en-US" altLang="ko-KR" sz="800" dirty="0"/>
              <a:t>      border: 1px solid #ccc;</a:t>
            </a:r>
          </a:p>
          <a:p>
            <a:r>
              <a:rPr lang="en-US" altLang="ko-KR" sz="800" dirty="0"/>
              <a:t>    }</a:t>
            </a:r>
          </a:p>
          <a:p>
            <a:endParaRPr lang="en-US" altLang="ko-KR" sz="800" dirty="0"/>
          </a:p>
          <a:p>
            <a:r>
              <a:rPr lang="en-US" altLang="ko-KR" sz="800" dirty="0"/>
              <a:t>    </a:t>
            </a:r>
            <a:r>
              <a:rPr lang="en-US" altLang="ko-KR" sz="800" b="1" dirty="0"/>
              <a:t>button</a:t>
            </a:r>
            <a:r>
              <a:rPr lang="en-US" altLang="ko-KR" sz="800" dirty="0"/>
              <a:t> {</a:t>
            </a:r>
          </a:p>
          <a:p>
            <a:r>
              <a:rPr lang="en-US" altLang="ko-KR" sz="800" dirty="0"/>
              <a:t>      margin-top: 15px;</a:t>
            </a:r>
          </a:p>
          <a:p>
            <a:r>
              <a:rPr lang="en-US" altLang="ko-KR" sz="800" dirty="0"/>
              <a:t>      width: 100%;</a:t>
            </a:r>
          </a:p>
          <a:p>
            <a:r>
              <a:rPr lang="en-US" altLang="ko-KR" sz="800" dirty="0"/>
              <a:t>      padding: 10px;</a:t>
            </a:r>
          </a:p>
          <a:p>
            <a:r>
              <a:rPr lang="en-US" altLang="ko-KR" sz="800" dirty="0"/>
              <a:t>      background-color: #4285f4;</a:t>
            </a:r>
          </a:p>
          <a:p>
            <a:r>
              <a:rPr lang="en-US" altLang="ko-KR" sz="800" dirty="0"/>
              <a:t>      color: white;</a:t>
            </a:r>
          </a:p>
          <a:p>
            <a:r>
              <a:rPr lang="en-US" altLang="ko-KR" sz="800" dirty="0"/>
              <a:t>      border: none;</a:t>
            </a:r>
          </a:p>
          <a:p>
            <a:r>
              <a:rPr lang="en-US" altLang="ko-KR" sz="800" dirty="0"/>
              <a:t>    }</a:t>
            </a:r>
          </a:p>
          <a:p>
            <a:endParaRPr lang="en-US" altLang="ko-KR" sz="800" dirty="0"/>
          </a:p>
          <a:p>
            <a:r>
              <a:rPr lang="en-US" altLang="ko-KR" sz="800" b="1" dirty="0"/>
              <a:t>    .footer-text </a:t>
            </a:r>
            <a:r>
              <a:rPr lang="en-US" altLang="ko-KR" sz="800" dirty="0"/>
              <a:t>{</a:t>
            </a:r>
          </a:p>
          <a:p>
            <a:r>
              <a:rPr lang="en-US" altLang="ko-KR" sz="800" dirty="0"/>
              <a:t>      text-align: center;</a:t>
            </a:r>
          </a:p>
          <a:p>
            <a:r>
              <a:rPr lang="en-US" altLang="ko-KR" sz="800" dirty="0"/>
              <a:t>      font-size: 12px;</a:t>
            </a:r>
          </a:p>
          <a:p>
            <a:r>
              <a:rPr lang="en-US" altLang="ko-KR" sz="800" dirty="0"/>
              <a:t>      margin-top: 10px;</a:t>
            </a:r>
          </a:p>
          <a:p>
            <a:r>
              <a:rPr lang="en-US" altLang="ko-KR" sz="800" dirty="0"/>
              <a:t>   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72549B-5409-CB09-2FAC-DCE674B0D72E}"/>
              </a:ext>
            </a:extLst>
          </p:cNvPr>
          <p:cNvSpPr txBox="1"/>
          <p:nvPr/>
        </p:nvSpPr>
        <p:spPr>
          <a:xfrm>
            <a:off x="4572000" y="1189990"/>
            <a:ext cx="4311015" cy="504761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&lt;!DOCTYPE html&gt;</a:t>
            </a:r>
          </a:p>
          <a:p>
            <a:r>
              <a:rPr lang="en-US" altLang="ko-KR" sz="700" dirty="0"/>
              <a:t>&lt;html&gt;</a:t>
            </a:r>
          </a:p>
          <a:p>
            <a:r>
              <a:rPr lang="en-US" altLang="ko-KR" sz="700" dirty="0"/>
              <a:t>&lt;head&gt;</a:t>
            </a:r>
          </a:p>
          <a:p>
            <a:r>
              <a:rPr lang="en-US" altLang="ko-KR" sz="700" dirty="0"/>
              <a:t>  &lt;meta charset="UTF-8"&gt;</a:t>
            </a:r>
          </a:p>
          <a:p>
            <a:r>
              <a:rPr lang="en-US" altLang="ko-KR" sz="700" dirty="0"/>
              <a:t>  &lt;title&gt;</a:t>
            </a:r>
            <a:r>
              <a:rPr lang="ko-KR" altLang="en-US" sz="700" dirty="0"/>
              <a:t>회원가입</a:t>
            </a:r>
            <a:r>
              <a:rPr lang="en-US" altLang="ko-KR" sz="700" dirty="0"/>
              <a:t>&lt;/title&gt;</a:t>
            </a:r>
          </a:p>
          <a:p>
            <a:r>
              <a:rPr lang="en-US" altLang="ko-KR" sz="700" dirty="0"/>
              <a:t>&lt;/head&gt;</a:t>
            </a:r>
          </a:p>
          <a:p>
            <a:r>
              <a:rPr lang="en-US" altLang="ko-KR" sz="700" dirty="0"/>
              <a:t>&lt;body&gt;</a:t>
            </a:r>
          </a:p>
          <a:p>
            <a:r>
              <a:rPr lang="en-US" altLang="ko-KR" sz="700" dirty="0"/>
              <a:t>  &lt;div class="signup-container"&gt;</a:t>
            </a:r>
          </a:p>
          <a:p>
            <a:r>
              <a:rPr lang="en-US" altLang="ko-KR" sz="700" dirty="0"/>
              <a:t>    &lt;h2&gt;</a:t>
            </a:r>
            <a:r>
              <a:rPr lang="ko-KR" altLang="en-US" sz="700" dirty="0"/>
              <a:t>회원가입</a:t>
            </a:r>
            <a:r>
              <a:rPr lang="en-US" altLang="ko-KR" sz="700" dirty="0"/>
              <a:t>&lt;/h2&gt;</a:t>
            </a:r>
          </a:p>
          <a:p>
            <a:r>
              <a:rPr lang="en-US" altLang="ko-KR" sz="700" b="1" dirty="0"/>
              <a:t>    &lt;form&gt;</a:t>
            </a:r>
          </a:p>
          <a:p>
            <a:r>
              <a:rPr lang="en-US" altLang="ko-KR" sz="700" b="1" dirty="0"/>
              <a:t>      &lt;label for="username"&gt;</a:t>
            </a:r>
            <a:r>
              <a:rPr lang="ko-KR" altLang="en-US" sz="700" b="1" dirty="0"/>
              <a:t>아이디</a:t>
            </a:r>
            <a:r>
              <a:rPr lang="en-US" altLang="ko-KR" sz="700" b="1" dirty="0"/>
              <a:t>&lt;/label&gt;</a:t>
            </a:r>
          </a:p>
          <a:p>
            <a:r>
              <a:rPr lang="en-US" altLang="ko-KR" sz="700" b="1" dirty="0"/>
              <a:t>      &lt;input type="text" id="username" name="username" required&gt;</a:t>
            </a:r>
          </a:p>
          <a:p>
            <a:endParaRPr lang="en-US" altLang="ko-KR" sz="700" b="1" dirty="0"/>
          </a:p>
          <a:p>
            <a:r>
              <a:rPr lang="en-US" altLang="ko-KR" sz="700" b="1" dirty="0"/>
              <a:t>      &lt;label for="</a:t>
            </a:r>
            <a:r>
              <a:rPr lang="en-US" altLang="ko-KR" sz="700" b="1" dirty="0" err="1"/>
              <a:t>fullname</a:t>
            </a:r>
            <a:r>
              <a:rPr lang="en-US" altLang="ko-KR" sz="700" b="1" dirty="0"/>
              <a:t>"&gt;</a:t>
            </a:r>
            <a:r>
              <a:rPr lang="ko-KR" altLang="en-US" sz="700" b="1" dirty="0"/>
              <a:t>성명</a:t>
            </a:r>
            <a:r>
              <a:rPr lang="en-US" altLang="ko-KR" sz="700" b="1" dirty="0"/>
              <a:t>&lt;/label&gt;</a:t>
            </a:r>
          </a:p>
          <a:p>
            <a:r>
              <a:rPr lang="en-US" altLang="ko-KR" sz="700" b="1" dirty="0"/>
              <a:t>      &lt;input type="text" id="</a:t>
            </a:r>
            <a:r>
              <a:rPr lang="en-US" altLang="ko-KR" sz="700" b="1" dirty="0" err="1"/>
              <a:t>fullname</a:t>
            </a:r>
            <a:r>
              <a:rPr lang="en-US" altLang="ko-KR" sz="700" b="1" dirty="0"/>
              <a:t>" name="</a:t>
            </a:r>
            <a:r>
              <a:rPr lang="en-US" altLang="ko-KR" sz="700" b="1" dirty="0" err="1"/>
              <a:t>fullname</a:t>
            </a:r>
            <a:r>
              <a:rPr lang="en-US" altLang="ko-KR" sz="700" b="1" dirty="0"/>
              <a:t>" required&gt;</a:t>
            </a:r>
          </a:p>
          <a:p>
            <a:endParaRPr lang="en-US" altLang="ko-KR" sz="700" b="1" dirty="0"/>
          </a:p>
          <a:p>
            <a:r>
              <a:rPr lang="en-US" altLang="ko-KR" sz="700" b="1" dirty="0"/>
              <a:t>      &lt;label for="email"&gt;</a:t>
            </a:r>
            <a:r>
              <a:rPr lang="ko-KR" altLang="en-US" sz="700" b="1" dirty="0"/>
              <a:t>이메일</a:t>
            </a:r>
            <a:r>
              <a:rPr lang="en-US" altLang="ko-KR" sz="700" b="1" dirty="0"/>
              <a:t>&lt;/label&gt;</a:t>
            </a:r>
          </a:p>
          <a:p>
            <a:r>
              <a:rPr lang="en-US" altLang="ko-KR" sz="700" b="1" dirty="0"/>
              <a:t>      &lt;input type="email" id="email" name="email" required&gt;</a:t>
            </a:r>
          </a:p>
          <a:p>
            <a:endParaRPr lang="en-US" altLang="ko-KR" sz="700" b="1" dirty="0"/>
          </a:p>
          <a:p>
            <a:r>
              <a:rPr lang="en-US" altLang="ko-KR" sz="700" b="1" dirty="0"/>
              <a:t>      &lt;label for="password"&gt;</a:t>
            </a:r>
            <a:r>
              <a:rPr lang="ko-KR" altLang="en-US" sz="700" b="1" dirty="0"/>
              <a:t>비밀번호</a:t>
            </a:r>
            <a:r>
              <a:rPr lang="en-US" altLang="ko-KR" sz="700" b="1" dirty="0"/>
              <a:t>&lt;/label&gt;</a:t>
            </a:r>
          </a:p>
          <a:p>
            <a:r>
              <a:rPr lang="en-US" altLang="ko-KR" sz="700" b="1" dirty="0"/>
              <a:t>      &lt;input type="password" id="password" name="password" required&gt;</a:t>
            </a:r>
          </a:p>
          <a:p>
            <a:endParaRPr lang="en-US" altLang="ko-KR" sz="700" b="1" dirty="0"/>
          </a:p>
          <a:p>
            <a:r>
              <a:rPr lang="en-US" altLang="ko-KR" sz="700" b="1" dirty="0"/>
              <a:t>      &lt;label for="confirm-password"&gt;</a:t>
            </a:r>
            <a:r>
              <a:rPr lang="ko-KR" altLang="en-US" sz="700" b="1" dirty="0"/>
              <a:t>비밀번호 확인</a:t>
            </a:r>
            <a:r>
              <a:rPr lang="en-US" altLang="ko-KR" sz="700" b="1" dirty="0"/>
              <a:t>&lt;/label&gt;</a:t>
            </a:r>
          </a:p>
          <a:p>
            <a:r>
              <a:rPr lang="en-US" altLang="ko-KR" sz="700" b="1" dirty="0"/>
              <a:t>      &lt;input type="password" id="confirm-password" name="confirm-password" required&gt;</a:t>
            </a:r>
          </a:p>
          <a:p>
            <a:endParaRPr lang="en-US" altLang="ko-KR" sz="700" b="1" dirty="0"/>
          </a:p>
          <a:p>
            <a:r>
              <a:rPr lang="en-US" altLang="ko-KR" sz="700" b="1" dirty="0"/>
              <a:t>      &lt;label&gt;</a:t>
            </a:r>
            <a:r>
              <a:rPr lang="ko-KR" altLang="en-US" sz="700" b="1" dirty="0"/>
              <a:t>성별</a:t>
            </a:r>
            <a:r>
              <a:rPr lang="en-US" altLang="ko-KR" sz="700" b="1" dirty="0"/>
              <a:t>&lt;/label&gt;</a:t>
            </a:r>
          </a:p>
          <a:p>
            <a:r>
              <a:rPr lang="en-US" altLang="ko-KR" sz="700" b="1" dirty="0"/>
              <a:t>      &lt;div class="gender-group"&gt;</a:t>
            </a:r>
          </a:p>
          <a:p>
            <a:r>
              <a:rPr lang="en-US" altLang="ko-KR" sz="700" b="1" dirty="0"/>
              <a:t>        &lt;input type="radio" id="male" name="gender" value="male" required&gt;</a:t>
            </a:r>
          </a:p>
          <a:p>
            <a:r>
              <a:rPr lang="en-US" altLang="ko-KR" sz="700" b="1" dirty="0"/>
              <a:t>        &lt;label for="male" style="</a:t>
            </a:r>
            <a:r>
              <a:rPr lang="en-US" altLang="ko-KR" sz="700" b="1" dirty="0" err="1"/>
              <a:t>display:inline</a:t>
            </a:r>
            <a:r>
              <a:rPr lang="en-US" altLang="ko-KR" sz="700" b="1" dirty="0"/>
              <a:t>;"&gt;</a:t>
            </a:r>
            <a:r>
              <a:rPr lang="ko-KR" altLang="en-US" sz="700" b="1" dirty="0"/>
              <a:t>남성</a:t>
            </a:r>
            <a:r>
              <a:rPr lang="en-US" altLang="ko-KR" sz="700" b="1" dirty="0"/>
              <a:t>&lt;/label&gt;</a:t>
            </a:r>
          </a:p>
          <a:p>
            <a:r>
              <a:rPr lang="en-US" altLang="ko-KR" sz="700" b="1" dirty="0"/>
              <a:t>        &lt;input type="radio" id="female" name="gender" value="female"&gt;</a:t>
            </a:r>
          </a:p>
          <a:p>
            <a:r>
              <a:rPr lang="en-US" altLang="ko-KR" sz="700" b="1" dirty="0"/>
              <a:t>        &lt;label for="female" style="</a:t>
            </a:r>
            <a:r>
              <a:rPr lang="en-US" altLang="ko-KR" sz="700" b="1" dirty="0" err="1"/>
              <a:t>display:inline</a:t>
            </a:r>
            <a:r>
              <a:rPr lang="en-US" altLang="ko-KR" sz="700" b="1" dirty="0"/>
              <a:t>;"&gt;</a:t>
            </a:r>
            <a:r>
              <a:rPr lang="ko-KR" altLang="en-US" sz="700" b="1" dirty="0"/>
              <a:t>여성</a:t>
            </a:r>
            <a:r>
              <a:rPr lang="en-US" altLang="ko-KR" sz="700" b="1" dirty="0"/>
              <a:t>&lt;/label&gt;</a:t>
            </a:r>
          </a:p>
          <a:p>
            <a:r>
              <a:rPr lang="en-US" altLang="ko-KR" sz="700" b="1" dirty="0"/>
              <a:t>      &lt;/div&gt;</a:t>
            </a:r>
          </a:p>
          <a:p>
            <a:endParaRPr lang="en-US" altLang="ko-KR" sz="700" b="1" dirty="0"/>
          </a:p>
          <a:p>
            <a:r>
              <a:rPr lang="en-US" altLang="ko-KR" sz="700" b="1" dirty="0"/>
              <a:t>      &lt;label for="birthdate"&gt;</a:t>
            </a:r>
            <a:r>
              <a:rPr lang="ko-KR" altLang="en-US" sz="700" b="1" dirty="0"/>
              <a:t>생일</a:t>
            </a:r>
            <a:r>
              <a:rPr lang="en-US" altLang="ko-KR" sz="700" b="1" dirty="0"/>
              <a:t>&lt;/label&gt;</a:t>
            </a:r>
          </a:p>
          <a:p>
            <a:r>
              <a:rPr lang="en-US" altLang="ko-KR" sz="700" b="1" dirty="0"/>
              <a:t>      &lt;input type="date" id="birthdate" name="birthdate" required&gt;</a:t>
            </a:r>
          </a:p>
          <a:p>
            <a:endParaRPr lang="en-US" altLang="ko-KR" sz="700" b="1" dirty="0"/>
          </a:p>
          <a:p>
            <a:r>
              <a:rPr lang="en-US" altLang="ko-KR" sz="700" b="1" dirty="0"/>
              <a:t>      &lt;button type="submit"&gt;</a:t>
            </a:r>
            <a:r>
              <a:rPr lang="ko-KR" altLang="en-US" sz="700" b="1" dirty="0"/>
              <a:t>가입하기</a:t>
            </a:r>
            <a:r>
              <a:rPr lang="en-US" altLang="ko-KR" sz="700" b="1" dirty="0"/>
              <a:t>&lt;/button&gt;</a:t>
            </a:r>
          </a:p>
          <a:p>
            <a:r>
              <a:rPr lang="en-US" altLang="ko-KR" sz="700" b="1" dirty="0"/>
              <a:t>    &lt;/form&gt;</a:t>
            </a:r>
          </a:p>
          <a:p>
            <a:r>
              <a:rPr lang="en-US" altLang="ko-KR" sz="700" dirty="0"/>
              <a:t>    &lt;div class="footer-text"&gt;</a:t>
            </a:r>
          </a:p>
          <a:p>
            <a:r>
              <a:rPr lang="en-US" altLang="ko-KR" sz="700" dirty="0"/>
              <a:t>      </a:t>
            </a:r>
            <a:r>
              <a:rPr lang="ko-KR" altLang="en-US" sz="700" dirty="0"/>
              <a:t>이미 계정이 </a:t>
            </a:r>
            <a:r>
              <a:rPr lang="ko-KR" altLang="en-US" sz="700" dirty="0" err="1"/>
              <a:t>있으신가요</a:t>
            </a:r>
            <a:r>
              <a:rPr lang="en-US" altLang="ko-KR" sz="700" dirty="0"/>
              <a:t>? &lt;a href="#"&gt;</a:t>
            </a:r>
            <a:r>
              <a:rPr lang="ko-KR" altLang="en-US" sz="700" dirty="0"/>
              <a:t>로그인</a:t>
            </a:r>
            <a:r>
              <a:rPr lang="en-US" altLang="ko-KR" sz="700" dirty="0"/>
              <a:t>&lt;/a&gt;</a:t>
            </a:r>
          </a:p>
          <a:p>
            <a:r>
              <a:rPr lang="en-US" altLang="ko-KR" sz="700" dirty="0"/>
              <a:t>    &lt;/div&gt;</a:t>
            </a:r>
          </a:p>
          <a:p>
            <a:r>
              <a:rPr lang="en-US" altLang="ko-KR" sz="700" dirty="0"/>
              <a:t>  &lt;/div&gt;</a:t>
            </a:r>
          </a:p>
          <a:p>
            <a:endParaRPr lang="en-US" altLang="ko-KR" sz="700" dirty="0"/>
          </a:p>
          <a:p>
            <a:r>
              <a:rPr lang="en-US" altLang="ko-KR" sz="700" dirty="0"/>
              <a:t>&lt;/body&gt;</a:t>
            </a:r>
          </a:p>
          <a:p>
            <a:r>
              <a:rPr lang="en-US" altLang="ko-KR" sz="700" dirty="0"/>
              <a:t>&lt;/html&gt;</a:t>
            </a:r>
            <a:endParaRPr lang="ko-KR" altLang="en-US" sz="7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">
            <p14:nvContentPartPr>
              <p14:cNvPr id="8" name="잉크 1"/>
              <p14:cNvContentPartPr/>
              <p14:nvPr/>
            </p14:nvContentPartPr>
            <p14:xfrm>
              <a:off x="5486400" y="335915"/>
              <a:ext cx="607695" cy="679450"/>
            </p14:xfrm>
          </p:contentPart>
        </mc:Choice>
        <mc:Fallback>
          <p:pic>
            <p:nvPicPr>
              <p:cNvPr id="8" name="잉크 1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486400" y="335915"/>
                <a:ext cx="607695" cy="6794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잉크 2"/>
              <p14:cNvContentPartPr/>
              <p14:nvPr/>
            </p14:nvContentPartPr>
            <p14:xfrm>
              <a:off x="6262370" y="280035"/>
              <a:ext cx="200025" cy="543560"/>
            </p14:xfrm>
          </p:contentPart>
        </mc:Choice>
        <mc:Fallback>
          <p:pic>
            <p:nvPicPr>
              <p:cNvPr id="9" name="잉크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62370" y="280035"/>
                <a:ext cx="200025" cy="5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잉크 3"/>
              <p14:cNvContentPartPr/>
              <p14:nvPr/>
            </p14:nvContentPartPr>
            <p14:xfrm>
              <a:off x="6574155" y="255905"/>
              <a:ext cx="0" cy="383540"/>
            </p14:xfrm>
          </p:contentPart>
        </mc:Choice>
        <mc:Fallback>
          <p:pic>
            <p:nvPicPr>
              <p:cNvPr id="10" name="잉크 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74155" y="255905"/>
                <a:ext cx="0" cy="383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잉크 4"/>
              <p14:cNvContentPartPr/>
              <p14:nvPr/>
            </p14:nvContentPartPr>
            <p14:xfrm>
              <a:off x="6910070" y="191770"/>
              <a:ext cx="215900" cy="280035"/>
            </p14:xfrm>
          </p:contentPart>
        </mc:Choice>
        <mc:Fallback>
          <p:pic>
            <p:nvPicPr>
              <p:cNvPr id="11" name="잉크 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10070" y="191770"/>
                <a:ext cx="215900" cy="2800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잉크 5"/>
              <p14:cNvContentPartPr/>
              <p14:nvPr/>
            </p14:nvContentPartPr>
            <p14:xfrm>
              <a:off x="6981825" y="151765"/>
              <a:ext cx="304165" cy="440055"/>
            </p14:xfrm>
          </p:contentPart>
        </mc:Choice>
        <mc:Fallback>
          <p:pic>
            <p:nvPicPr>
              <p:cNvPr id="12" name="잉크 5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981825" y="151765"/>
                <a:ext cx="304165" cy="4400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잉크 6"/>
              <p14:cNvContentPartPr/>
              <p14:nvPr/>
            </p14:nvContentPartPr>
            <p14:xfrm>
              <a:off x="7021830" y="591820"/>
              <a:ext cx="440055" cy="383540"/>
            </p14:xfrm>
          </p:contentPart>
        </mc:Choice>
        <mc:Fallback>
          <p:pic>
            <p:nvPicPr>
              <p:cNvPr id="13" name="잉크 6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21830" y="591820"/>
                <a:ext cx="440055" cy="3835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17830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가로-고려대마크-1">
  <a:themeElements>
    <a:clrScheme name="가로-고려대마크-1 7">
      <a:dk1>
        <a:srgbClr val="41280D"/>
      </a:dk1>
      <a:lt1>
        <a:srgbClr val="FFFFFF"/>
      </a:lt1>
      <a:dk2>
        <a:srgbClr val="336699"/>
      </a:dk2>
      <a:lt2>
        <a:srgbClr val="666633"/>
      </a:lt2>
      <a:accent1>
        <a:srgbClr val="FFCC66"/>
      </a:accent1>
      <a:accent2>
        <a:srgbClr val="993300"/>
      </a:accent2>
      <a:accent3>
        <a:srgbClr val="FFFFFF"/>
      </a:accent3>
      <a:accent4>
        <a:srgbClr val="362109"/>
      </a:accent4>
      <a:accent5>
        <a:srgbClr val="FFE2B8"/>
      </a:accent5>
      <a:accent6>
        <a:srgbClr val="8A2D00"/>
      </a:accent6>
      <a:hlink>
        <a:srgbClr val="008000"/>
      </a:hlink>
      <a:folHlink>
        <a:srgbClr val="969696"/>
      </a:folHlink>
    </a:clrScheme>
    <a:fontScheme name="가로-고려대마크-1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1149350" rtl="0" eaLnBrk="1" fontAlgn="base" latinLnBrk="1" hangingPunct="1">
          <a:lnSpc>
            <a:spcPct val="5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>
            <a:tab pos="574675" algn="l"/>
          </a:tabLst>
          <a:defRPr kumimoji="1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1149350" rtl="0" eaLnBrk="1" fontAlgn="base" latinLnBrk="1" hangingPunct="1">
          <a:lnSpc>
            <a:spcPct val="5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>
            <a:tab pos="574675" algn="l"/>
          </a:tabLst>
          <a:defRPr kumimoji="1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lnDef>
  </a:objectDefaults>
  <a:extraClrSchemeLst>
    <a:extraClrScheme>
      <a:clrScheme name="가로-고려대마크-1 1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2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6">
        <a:dk1>
          <a:srgbClr val="41280D"/>
        </a:dk1>
        <a:lt1>
          <a:srgbClr val="FFFFFF"/>
        </a:lt1>
        <a:dk2>
          <a:srgbClr val="B4783C"/>
        </a:dk2>
        <a:lt2>
          <a:srgbClr val="666633"/>
        </a:lt2>
        <a:accent1>
          <a:srgbClr val="4C7188"/>
        </a:accent1>
        <a:accent2>
          <a:srgbClr val="FF9900"/>
        </a:accent2>
        <a:accent3>
          <a:srgbClr val="FFFFFF"/>
        </a:accent3>
        <a:accent4>
          <a:srgbClr val="362109"/>
        </a:accent4>
        <a:accent5>
          <a:srgbClr val="B2BBC3"/>
        </a:accent5>
        <a:accent6>
          <a:srgbClr val="E78A00"/>
        </a:accent6>
        <a:hlink>
          <a:srgbClr val="0000CC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7">
        <a:dk1>
          <a:srgbClr val="41280D"/>
        </a:dk1>
        <a:lt1>
          <a:srgbClr val="FFFFFF"/>
        </a:lt1>
        <a:dk2>
          <a:srgbClr val="336699"/>
        </a:dk2>
        <a:lt2>
          <a:srgbClr val="666633"/>
        </a:lt2>
        <a:accent1>
          <a:srgbClr val="FFCC66"/>
        </a:accent1>
        <a:accent2>
          <a:srgbClr val="993300"/>
        </a:accent2>
        <a:accent3>
          <a:srgbClr val="FFFFFF"/>
        </a:accent3>
        <a:accent4>
          <a:srgbClr val="362109"/>
        </a:accent4>
        <a:accent5>
          <a:srgbClr val="FFE2B8"/>
        </a:accent5>
        <a:accent6>
          <a:srgbClr val="8A2D00"/>
        </a:accent6>
        <a:hlink>
          <a:srgbClr val="008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가로-고려대마크-1 7">
    <a:dk1>
      <a:srgbClr val="41280D"/>
    </a:dk1>
    <a:lt1>
      <a:srgbClr val="FFFFFF"/>
    </a:lt1>
    <a:dk2>
      <a:srgbClr val="336699"/>
    </a:dk2>
    <a:lt2>
      <a:srgbClr val="666633"/>
    </a:lt2>
    <a:accent1>
      <a:srgbClr val="FFCC66"/>
    </a:accent1>
    <a:accent2>
      <a:srgbClr val="993300"/>
    </a:accent2>
    <a:accent3>
      <a:srgbClr val="FFFFFF"/>
    </a:accent3>
    <a:accent4>
      <a:srgbClr val="362109"/>
    </a:accent4>
    <a:accent5>
      <a:srgbClr val="FFE2B8"/>
    </a:accent5>
    <a:accent6>
      <a:srgbClr val="8A2D00"/>
    </a:accent6>
    <a:hlink>
      <a:srgbClr val="008000"/>
    </a:hlink>
    <a:folHlink>
      <a:srgbClr val="96969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21</Pages>
  <Paragraphs>582</Paragraphs>
  <Words>3637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조재한</dc:creator>
  <cp:lastModifiedBy>a93686351</cp:lastModifiedBy>
  <dc:title>정보기기 소프트웨어 설계(1학기)</dc:title>
  <cp:version>10.105.293.56114</cp:version>
  <dcterms:modified xsi:type="dcterms:W3CDTF">2026-03-04T03:25:38Z</dcterms:modified>
</cp:coreProperties>
</file>
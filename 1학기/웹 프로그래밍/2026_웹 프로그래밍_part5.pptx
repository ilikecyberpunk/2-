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Default Extension="emf" ContentType="image/x-emf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9" r:id="rId5"/>
  </p:sldMasterIdLst>
  <p:notesMasterIdLst>
    <p:notesMasterId r:id="rId7"/>
  </p:notesMasterIdLst>
  <p:sldIdLst>
    <p:sldId id="256" r:id="rId9"/>
    <p:sldId id="257" r:id="rId10"/>
    <p:sldId id="258" r:id="rId12"/>
    <p:sldId id="274" r:id="rId14"/>
    <p:sldId id="275" r:id="rId15"/>
    <p:sldId id="259" r:id="rId16"/>
    <p:sldId id="260" r:id="rId18"/>
    <p:sldId id="276" r:id="rId20"/>
    <p:sldId id="261" r:id="rId21"/>
    <p:sldId id="262" r:id="rId23"/>
    <p:sldId id="277" r:id="rId25"/>
    <p:sldId id="278" r:id="rId26"/>
    <p:sldId id="279" r:id="rId27"/>
    <p:sldId id="263" r:id="rId28"/>
    <p:sldId id="264" r:id="rId30"/>
    <p:sldId id="265" r:id="rId32"/>
    <p:sldId id="266" r:id="rId34"/>
    <p:sldId id="267" r:id="rId36"/>
    <p:sldId id="268" r:id="rId38"/>
    <p:sldId id="270" r:id="rId39"/>
    <p:sldId id="271" r:id="rId41"/>
    <p:sldId id="272" r:id="rId43"/>
    <p:sldId id="273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0">
          <p15:clr>
            <a:srgbClr val="A4A3A4"/>
          </p15:clr>
        </p15:guide>
        <p15:guide id="2" pos="2877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935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86" y="306"/>
      </p:cViewPr>
      <p:guideLst>
        <p:guide orient="horz" pos="2157"/>
        <p:guide pos="28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2" Type="http://schemas.openxmlformats.org/officeDocument/2006/relationships/slide" Target="slides/slide3.xml"></Relationship><Relationship Id="rId14" Type="http://schemas.openxmlformats.org/officeDocument/2006/relationships/slide" Target="slides/slide4.xml"></Relationship><Relationship Id="rId15" Type="http://schemas.openxmlformats.org/officeDocument/2006/relationships/slide" Target="slides/slide5.xml"></Relationship><Relationship Id="rId16" Type="http://schemas.openxmlformats.org/officeDocument/2006/relationships/slide" Target="slides/slide6.xml"></Relationship><Relationship Id="rId18" Type="http://schemas.openxmlformats.org/officeDocument/2006/relationships/slide" Target="slides/slide7.xml"></Relationship><Relationship Id="rId20" Type="http://schemas.openxmlformats.org/officeDocument/2006/relationships/slide" Target="slides/slide8.xml"></Relationship><Relationship Id="rId21" Type="http://schemas.openxmlformats.org/officeDocument/2006/relationships/slide" Target="slides/slide9.xml"></Relationship><Relationship Id="rId23" Type="http://schemas.openxmlformats.org/officeDocument/2006/relationships/slide" Target="slides/slide10.xml"></Relationship><Relationship Id="rId25" Type="http://schemas.openxmlformats.org/officeDocument/2006/relationships/slide" Target="slides/slide11.xml"></Relationship><Relationship Id="rId26" Type="http://schemas.openxmlformats.org/officeDocument/2006/relationships/slide" Target="slides/slide12.xml"></Relationship><Relationship Id="rId27" Type="http://schemas.openxmlformats.org/officeDocument/2006/relationships/slide" Target="slides/slide13.xml"></Relationship><Relationship Id="rId28" Type="http://schemas.openxmlformats.org/officeDocument/2006/relationships/slide" Target="slides/slide14.xml"></Relationship><Relationship Id="rId30" Type="http://schemas.openxmlformats.org/officeDocument/2006/relationships/slide" Target="slides/slide15.xml"></Relationship><Relationship Id="rId32" Type="http://schemas.openxmlformats.org/officeDocument/2006/relationships/slide" Target="slides/slide16.xml"></Relationship><Relationship Id="rId34" Type="http://schemas.openxmlformats.org/officeDocument/2006/relationships/slide" Target="slides/slide17.xml"></Relationship><Relationship Id="rId36" Type="http://schemas.openxmlformats.org/officeDocument/2006/relationships/slide" Target="slides/slide18.xml"></Relationship><Relationship Id="rId38" Type="http://schemas.openxmlformats.org/officeDocument/2006/relationships/slide" Target="slides/slide19.xml"></Relationship><Relationship Id="rId39" Type="http://schemas.openxmlformats.org/officeDocument/2006/relationships/slide" Target="slides/slide20.xml"></Relationship><Relationship Id="rId41" Type="http://schemas.openxmlformats.org/officeDocument/2006/relationships/slide" Target="slides/slide21.xml"></Relationship><Relationship Id="rId43" Type="http://schemas.openxmlformats.org/officeDocument/2006/relationships/slide" Target="slides/slide22.xml"></Relationship><Relationship Id="rId45" Type="http://schemas.openxmlformats.org/officeDocument/2006/relationships/slide" Target="slides/slide23.xml"></Relationship><Relationship Id="rId48" Type="http://schemas.openxmlformats.org/officeDocument/2006/relationships/viewProps" Target="viewProps.xml"></Relationship><Relationship Id="rId49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1732 311,'-44'0,"-1"22,-43 89,-46 22,68-66,-68 88,90-66,-23-22,23-1,-1 23,1-44,-45 110,45-88,21 22,1-23,0 1,-45 66,45-66,0-45,0 67,0-67,22 0,0 23,0-23,0 0,0 1,0-1,0 0,22-22,0 0,22 0,1-22,-23 0,45-1,-45 1,0 0,23 22,-23-22,0-1,0 1,0 22,1-22,-1 22,0-22,0 0,23-1,-23 1,22 0,-21 0,-1 0,0-1,0 1,0 0,1 22,-23-22,22 22,-22-23,22 23,-22-22,22 0,0 0,1 22,-23-22,0-1,22 23,0-22,0 0,1 22,-1-22,22 22,-22 0,23-23,-1 23,-21-22,21 22,0 0,-44-22,45 22,-23 0,0 0,0 0,1 0,-1 0,-22-22,0 0,-22 22,-1-23,-21 23,22-22,-111-44,66 21,-44 1,-111-90,88 68,23 21,-111-88,89 66,44-21,-44 21,-23-22,90 45,21-1,1 45,-1-22,23 0,0 0,0 22,-1 0,1 0,0 0,0 0,0 0,22 22,0 0,0 0,22 0,0-22,0 23,23 21,-1-22,45 89,-22-66,-45-23,44 22,-21 1,21-1,1 23,-22-45,21 23,1-23,-1 0,23 22,-22 1,-23-23,23 0,-23-22,-21 22,-1-22,22 0,-21 0,-1 0,0 0,0 0,0 23,-22-1,23-22,-1 0,-22 22,22 0,-22 1,22-23,0 22,-22 0,23 0,-23 0,22 1,-22 21,0-22,22-22,-22 22,22 1,-22-1,0 0,0 0,0 1,0-1,0 0,0 0,0 0,23-22,-23 23,0-1,22-22,0 0,-22 22,0 0,0 1,22-23,-22 22,22-22,-22 22,23-22,-23 22,0 0,0 1,0-46,0 1,0 0,0-22,0 21,0-21,0 22,0-23,0 1,0 22,0-1,0-43,0 43,-23 1,23-22,0-1,-22 1,-22-67,22 66,-1-21,23-67,-22 88,0-22,22 23,0 22,-22-67,-1 45,23-1,0 23,0 0,0-23,0 23,0-22,0 21,0 1,0 0,-22 0,22-23,-22 45,22-22,0 0,0 0,-22-1,22 1,-22-22,22 22,0-1,0 1,0 0,-23 0,1 0,0 22,22 0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0.xml"></Relationship></Relationships>
</file>

<file path=ppt/notesSlides/_rels/notesSlide1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4.xml"></Relationship></Relationships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_rels/notesSlide1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6.xml"></Relationship></Relationships>
</file>

<file path=ppt/notesSlides/_rels/notesSlide1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7.xml"></Relationship></Relationships>
</file>

<file path=ppt/notesSlides/_rels/notesSlide1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8.xml"></Relationship></Relationships>
</file>

<file path=ppt/notesSlides/_rels/notesSlide1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9.xml"></Relationship></Relationships>
</file>

<file path=ppt/notesSlides/_rels/notesSlide2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0.xml"></Relationship></Relationships>
</file>

<file path=ppt/notesSlides/_rels/notesSlide2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1.xml"></Relationship></Relationships>
</file>

<file path=ppt/notesSlides/_rels/notesSlide2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2.xml"></Relationship></Relationships>
</file>

<file path=ppt/notesSlides/_rels/notesSlide2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3.xml"></Relationship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notesSlide" Target="../notesSlides/notesSlide3.xml"></Relationship><Relationship Id="rId1" Type="http://schemas.openxmlformats.org/officeDocument/2006/relationships/slideLayout" Target="../slideLayouts/slideLayout2.xml"></Relationship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notesSlide" Target="../notesSlides/notesSlide6.xml"></Relationship><Relationship Id="rId1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notesSlide" Target="../notesSlides/notesSlide7.xml"></Relationship><Relationship Id="rId3" Type="http://schemas.openxmlformats.org/officeDocument/2006/relationships/slideLayout" Target="../slideLayouts/slideLayout2.xml"></Relationship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
<Relationships xmlns="http://schemas.openxmlformats.org/package/2006/relationships"><Relationship Id="rId2" Type="http://schemas.openxmlformats.org/officeDocument/2006/relationships/notesSlide" Target="../notesSlides/notesSlide9.xml"></Relationship><Relationship Id="rId1" Type="http://schemas.openxmlformats.org/officeDocument/2006/relationships/slideLayout" Target="../slideLayouts/slideLayout2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notesSlide" Target="../notesSlides/notesSlide10.xml"></Relationship><Relationship Id="rId1" Type="http://schemas.openxmlformats.org/officeDocument/2006/relationships/slideLayout" Target="../slideLayouts/slideLayout2.xml"></Relationship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notesSlide" Target="../notesSlides/notesSlide14.xml"></Relationship><Relationship Id="rId1" Type="http://schemas.openxmlformats.org/officeDocument/2006/relationships/slideLayout" Target="../slideLayouts/slideLayout2.xml"></Relationship></Relationships>
</file>

<file path=ppt/slides/_rels/slide15.xml.rels><?xml version="1.0" encoding="UTF-8"?>
<Relationships xmlns="http://schemas.openxmlformats.org/package/2006/relationships"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2" Type="http://schemas.openxmlformats.org/officeDocument/2006/relationships/notesSlide" Target="../notesSlides/notesSlide16.xml"></Relationship><Relationship Id="rId1" Type="http://schemas.openxmlformats.org/officeDocument/2006/relationships/slideLayout" Target="../slideLayouts/slideLayout2.xml"></Relationship></Relationships>
</file>

<file path=ppt/slides/_rels/slide17.xml.rels><?xml version="1.0" encoding="UTF-8"?>
<Relationships xmlns="http://schemas.openxmlformats.org/package/2006/relationships"><Relationship Id="rId2" Type="http://schemas.openxmlformats.org/officeDocument/2006/relationships/notesSlide" Target="../notesSlides/notesSlide17.xml"></Relationship><Relationship Id="rId1" Type="http://schemas.openxmlformats.org/officeDocument/2006/relationships/slideLayout" Target="../slideLayouts/slideLayout2.xml"></Relationship></Relationships>
</file>

<file path=ppt/slides/_rels/slide18.xml.rels><?xml version="1.0" encoding="UTF-8"?>
<Relationships xmlns="http://schemas.openxmlformats.org/package/2006/relationships"><Relationship Id="rId2" Type="http://schemas.openxmlformats.org/officeDocument/2006/relationships/notesSlide" Target="../notesSlides/notesSlide18.xml"></Relationship><Relationship Id="rId1" Type="http://schemas.openxmlformats.org/officeDocument/2006/relationships/slideLayout" Target="../slideLayouts/slideLayout2.xml"></Relationship></Relationships>
</file>

<file path=ppt/slides/_rels/slide19.xml.rels><?xml version="1.0" encoding="UTF-8"?>
<Relationships xmlns="http://schemas.openxmlformats.org/package/2006/relationships"><Relationship Id="rId2" Type="http://schemas.openxmlformats.org/officeDocument/2006/relationships/notesSlide" Target="../notesSlides/notesSlide19.xml"></Relationship><Relationship Id="rId3" Type="http://schemas.openxmlformats.org/officeDocument/2006/relationships/customXml" Target="../ink/ink1.xml"></Relationship><Relationship Id="rId4" Type="http://schemas.openxmlformats.org/officeDocument/2006/relationships/image" Target="../media/fImage991622841.emf"></Relationship><Relationship Id="rId5" Type="http://schemas.openxmlformats.org/officeDocument/2006/relationships/slideLayout" Target="../slideLayouts/slideLayout2.xml"></Relationship></Relationships>
</file>

<file path=ppt/slides/_rels/slide20.xml.rels><?xml version="1.0" encoding="UTF-8"?>
<Relationships xmlns="http://schemas.openxmlformats.org/package/2006/relationships"><Relationship Id="rId2" Type="http://schemas.openxmlformats.org/officeDocument/2006/relationships/notesSlide" Target="../notesSlides/notesSlide20.xml"></Relationship><Relationship Id="rId3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notesSlide" Target="../notesSlides/notesSlide21.xml"></Relationship><Relationship Id="rId1" Type="http://schemas.openxmlformats.org/officeDocument/2006/relationships/slideLayout" Target="../slideLayouts/slideLayout2.xml"></Relationship></Relationships>
</file>

<file path=ppt/slides/_rels/slide22.xml.rels><?xml version="1.0" encoding="UTF-8"?>
<Relationships xmlns="http://schemas.openxmlformats.org/package/2006/relationships"><Relationship Id="rId2" Type="http://schemas.openxmlformats.org/officeDocument/2006/relationships/notesSlide" Target="../notesSlides/notesSlide22.xml"></Relationship><Relationship Id="rId1" Type="http://schemas.openxmlformats.org/officeDocument/2006/relationships/slideLayout" Target="../slideLayouts/slideLayout2.xml"></Relationship></Relationships>
</file>

<file path=ppt/slides/_rels/slide23.xml.rels><?xml version="1.0" encoding="UTF-8"?>
<Relationships xmlns="http://schemas.openxmlformats.org/package/2006/relationships"><Relationship Id="rId2" Type="http://schemas.openxmlformats.org/officeDocument/2006/relationships/notesSlide" Target="../notesSlides/notesSlide23.xml"></Relationship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5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?</a:t>
            </a:r>
            <a:endParaRPr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F01940C-97BF-2AF1-C185-AC485AD9C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</a:t>
            </a:r>
            <a:endParaRPr lang="en-US" altLang="ko-KR" dirty="0"/>
          </a:p>
          <a:p>
            <a:pPr lvl="1"/>
            <a:r>
              <a:rPr lang="ko-KR" altLang="en-US" dirty="0"/>
              <a:t>자바스크립트는 웹 브라우저에서 실행되는 동적 프로그래밍 언어이다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주로 웹 개발에 사용되며</a:t>
            </a:r>
            <a:r>
              <a:rPr lang="en-US" altLang="ko-KR" dirty="0"/>
              <a:t>, </a:t>
            </a:r>
            <a:r>
              <a:rPr lang="ko-KR" altLang="en-US" dirty="0"/>
              <a:t>현재는 프론트엔드와 백엔드 개발에 모두 활용된다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Node.js</a:t>
            </a:r>
            <a:r>
              <a:rPr lang="ko-KR" altLang="en-US" dirty="0"/>
              <a:t>를 사용하면 서버 측에서도 자바스크립트를 사용할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다양한 프레임워크와 함께 사용되어 현대적인 웹 애플리케이션 개발에 핵심적인 역할을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대표적인 자바스크립트 프레임워크</a:t>
            </a:r>
          </a:p>
          <a:p>
            <a:pPr lvl="1"/>
            <a:r>
              <a:rPr lang="en-US" altLang="ko-KR" dirty="0"/>
              <a:t>React, Angular, Vue, Ext JS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4" name="Google Shape;44;p2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/>
              <a:t>2</a:t>
            </a:fld>
            <a:endParaRPr/>
          </a:p>
        </p:txBody>
      </p:sp>
      <p:sp>
        <p:nvSpPr>
          <p:cNvPr id="45" name="Google Shape;45;p2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특징</a:t>
            </a:r>
            <a:r>
              <a:rPr lang="en-US" dirty="0"/>
              <a:t>/</a:t>
            </a:r>
            <a:r>
              <a:rPr lang="en-US" dirty="0" err="1"/>
              <a:t>역할</a:t>
            </a:r>
            <a:endParaRPr dirty="0"/>
          </a:p>
        </p:txBody>
      </p:sp>
      <p:sp>
        <p:nvSpPr>
          <p:cNvPr id="52" name="Google Shape;52;p3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/>
              <a:t>3</a:t>
            </a:fld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5F510F-AB5E-7453-DD73-0E10D23C7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996974"/>
            <a:ext cx="7772400" cy="5240338"/>
          </a:xfrm>
        </p:spPr>
        <p:txBody>
          <a:bodyPr>
            <a:normAutofit fontScale="5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b="1" dirty="0"/>
              <a:t>특징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경량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가볍고 빠른 스크립팅 언어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동적 타입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변수의 데이터 타입을 명시적으로 지정하지 않음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이벤트 기반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사용자 입력 및 브라우저 이벤트에 반응한다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크로스 플랫폼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대부분의 브라우저와 </a:t>
            </a:r>
            <a:r>
              <a:rPr lang="en-US" altLang="ko-KR" dirty="0"/>
              <a:t>OS</a:t>
            </a:r>
            <a:r>
              <a:rPr lang="ko-KR" altLang="en-US" dirty="0"/>
              <a:t>에서 실행 가능하다</a:t>
            </a:r>
            <a:r>
              <a:rPr lang="en-US" altLang="ko-KR" dirty="0"/>
              <a:t>.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객체 지향 및 함수형 프로그래밍 지원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객체와 함수가 중심인 프로그래밍 패러다임을 모두 지원한다</a:t>
            </a:r>
            <a:r>
              <a:rPr lang="en-US" altLang="ko-KR" dirty="0"/>
              <a:t>.</a:t>
            </a:r>
          </a:p>
          <a:p>
            <a:pPr>
              <a:lnSpc>
                <a:spcPct val="170000"/>
              </a:lnSpc>
            </a:pPr>
            <a:r>
              <a:rPr lang="ko-KR" altLang="en-US" b="1" dirty="0"/>
              <a:t>역할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프론트엔드 개발</a:t>
            </a:r>
            <a:endParaRPr lang="en-US" altLang="ko-KR" b="1" dirty="0"/>
          </a:p>
          <a:p>
            <a:pPr lvl="2">
              <a:lnSpc>
                <a:spcPct val="170000"/>
              </a:lnSpc>
            </a:pPr>
            <a:r>
              <a:rPr lang="en-US" altLang="ko-KR" dirty="0"/>
              <a:t>HTML, CSS</a:t>
            </a:r>
            <a:r>
              <a:rPr lang="ko-KR" altLang="en-US" dirty="0"/>
              <a:t>와 함께 웹 페이지의 인터랙티브한 요소 구현한다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백엔드 개발</a:t>
            </a:r>
          </a:p>
          <a:p>
            <a:pPr lvl="2">
              <a:lnSpc>
                <a:spcPct val="170000"/>
              </a:lnSpc>
            </a:pPr>
            <a:r>
              <a:rPr lang="en-US" altLang="ko-KR" dirty="0"/>
              <a:t>Node.js</a:t>
            </a:r>
            <a:r>
              <a:rPr lang="ko-KR" altLang="en-US" dirty="0"/>
              <a:t>를 통해 서버와 데이터베이스 관리가 가능하다</a:t>
            </a:r>
            <a:r>
              <a:rPr lang="en-US" altLang="ko-KR" dirty="0"/>
              <a:t>.</a:t>
            </a:r>
          </a:p>
          <a:p>
            <a:pPr lvl="1">
              <a:lnSpc>
                <a:spcPct val="170000"/>
              </a:lnSpc>
            </a:pPr>
            <a:r>
              <a:rPr lang="ko-KR" altLang="en-US" b="1" dirty="0"/>
              <a:t>전체 스택 개발</a:t>
            </a:r>
          </a:p>
          <a:p>
            <a:pPr lvl="2">
              <a:lnSpc>
                <a:spcPct val="170000"/>
              </a:lnSpc>
            </a:pPr>
            <a:r>
              <a:rPr lang="ko-KR" altLang="en-US" dirty="0"/>
              <a:t>프론트엔드와 백엔드 모두를 하나의 언어로 관리 가능하다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1124C-C157-F7A5-157D-6B77CB34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실습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	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46B2F3-2ABF-C61B-E54F-E46D8B661F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EE2967-CC1E-FF3E-5C75-9770FBAB8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9" name="Google Shape;63;p4">
            <a:extLst>
              <a:ext uri="{FF2B5EF4-FFF2-40B4-BE49-F238E27FC236}">
                <a16:creationId xmlns:a16="http://schemas.microsoft.com/office/drawing/2014/main" id="{15B4FDD4-52CC-9029-8031-92DB61AE28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2554710"/>
              </p:ext>
            </p:extLst>
          </p:nvPr>
        </p:nvGraphicFramePr>
        <p:xfrm>
          <a:off x="442913" y="1124744"/>
          <a:ext cx="7772400" cy="305188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&lt;!DOCTYPE 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&lt;meta charset="UTF-8"&gt;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&lt;title&gt;</a:t>
                      </a:r>
                      <a:r>
                        <a:rPr lang="ko-KR" altLang="en-US" sz="1100" u="none" strike="noStrike" cap="none" dirty="0"/>
                        <a:t>예제</a:t>
                      </a:r>
                      <a:r>
                        <a:rPr lang="en-US" altLang="ko-KR" sz="1100" u="none" strike="noStrike" cap="none" dirty="0"/>
                        <a:t>1&lt;/</a:t>
                      </a:r>
                      <a:r>
                        <a:rPr lang="en-US" sz="1100" u="none" strike="noStrike" cap="none" dirty="0"/>
                        <a:t>title&gt;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&lt;button onclick="</a:t>
                      </a:r>
                      <a:r>
                        <a:rPr lang="en-US" sz="1100" b="1" u="none" strike="noStrike" cap="none" dirty="0"/>
                        <a:t>document.getElementById('</a:t>
                      </a:r>
                      <a:r>
                        <a:rPr lang="en-US" sz="1100" b="1" u="none" strike="noStrike" cap="none" dirty="0" err="1"/>
                        <a:t>lightb</a:t>
                      </a:r>
                      <a:r>
                        <a:rPr lang="en-US" sz="1100" b="1" u="none" strike="noStrike" cap="none" dirty="0"/>
                        <a:t>').src='./img/light-bulb1.png</a:t>
                      </a:r>
                      <a:r>
                        <a:rPr lang="en-US" sz="1100" u="none" strike="noStrike" cap="none" dirty="0"/>
                        <a:t>'"&gt;</a:t>
                      </a:r>
                      <a:r>
                        <a:rPr lang="ko-KR" altLang="en-US" sz="1100" u="none" strike="noStrike" cap="none" dirty="0"/>
                        <a:t>전등켜기스위치</a:t>
                      </a:r>
                      <a:r>
                        <a:rPr lang="en-US" altLang="ko-KR" sz="1100" u="none" strike="noStrike" cap="none" dirty="0"/>
                        <a:t>&lt;/</a:t>
                      </a:r>
                      <a:r>
                        <a:rPr lang="en-US" sz="1100" u="none" strike="noStrike" cap="none" dirty="0"/>
                        <a:t>button&gt;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&lt;button onclick="</a:t>
                      </a:r>
                      <a:r>
                        <a:rPr lang="en-US" sz="1100" b="1" u="none" strike="noStrike" cap="none" dirty="0"/>
                        <a:t>document.getElementById('</a:t>
                      </a:r>
                      <a:r>
                        <a:rPr lang="en-US" sz="1100" b="1" u="none" strike="noStrike" cap="none" dirty="0" err="1"/>
                        <a:t>lightb</a:t>
                      </a:r>
                      <a:r>
                        <a:rPr lang="en-US" sz="1100" b="1" u="none" strike="noStrike" cap="none" dirty="0"/>
                        <a:t>').src='./img/light-bulb2.png'</a:t>
                      </a:r>
                      <a:r>
                        <a:rPr lang="en-US" sz="1100" u="none" strike="noStrike" cap="none" dirty="0"/>
                        <a:t>"&gt;</a:t>
                      </a:r>
                      <a:r>
                        <a:rPr lang="ko-KR" altLang="en-US" sz="1100" u="none" strike="noStrike" cap="none" dirty="0"/>
                        <a:t>전등끄기스위치</a:t>
                      </a:r>
                      <a:r>
                        <a:rPr lang="en-US" altLang="ko-KR" sz="1100" u="none" strike="noStrike" cap="none" dirty="0"/>
                        <a:t>&lt;/</a:t>
                      </a:r>
                      <a:r>
                        <a:rPr lang="en-US" sz="1100" u="none" strike="noStrike" cap="none" dirty="0"/>
                        <a:t>button&gt;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&lt;img id="lightb" src="./img/light-bulb2.png" style="width:120px"&gt;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&lt;/html&gt;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DEE6DE73-B179-161A-A231-ACAB84E97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49" y="4393320"/>
            <a:ext cx="3625043" cy="1579811"/>
          </a:xfrm>
          <a:prstGeom prst="rect">
            <a:avLst/>
          </a:prstGeom>
          <a:ln>
            <a:solidFill>
              <a:srgbClr val="00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F10961C-06A6-7CA6-C537-0C8F96945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992" y="4393320"/>
            <a:ext cx="3639321" cy="1579811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94440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D8EC0E-986D-BD09-4330-F2A16438E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실습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F7F725-AA44-D32E-1A46-5363243D72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317A16-1312-2F10-E023-C2A0B0DCD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63;p4">
            <a:extLst>
              <a:ext uri="{FF2B5EF4-FFF2-40B4-BE49-F238E27FC236}">
                <a16:creationId xmlns:a16="http://schemas.microsoft.com/office/drawing/2014/main" id="{E4008AE8-C082-A79F-3297-A21955A5D6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73508656"/>
              </p:ext>
            </p:extLst>
          </p:nvPr>
        </p:nvGraphicFramePr>
        <p:xfrm>
          <a:off x="442913" y="1124744"/>
          <a:ext cx="7772400" cy="305188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&lt;!DOCTYPE 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&lt;html&gt;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&lt;meta charset="UTF-8"&gt;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  &lt;title&gt;</a:t>
                      </a:r>
                      <a:r>
                        <a:rPr lang="ko-KR" altLang="en-US" sz="1100" u="none" strike="noStrike" cap="none" dirty="0"/>
                        <a:t>예제</a:t>
                      </a:r>
                      <a:r>
                        <a:rPr lang="en-US" altLang="ko-KR" sz="1100" u="none" strike="noStrike" cap="none" dirty="0"/>
                        <a:t>2&lt;/</a:t>
                      </a:r>
                      <a:r>
                        <a:rPr lang="en-US" sz="1100" u="none" strike="noStrike" cap="none" dirty="0"/>
                        <a:t>title&gt;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&lt;/head&gt;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&lt;p&gt;</a:t>
                      </a:r>
                      <a:r>
                        <a:rPr lang="ko-KR" altLang="en-US" sz="1100" u="none" strike="noStrike" cap="none" dirty="0"/>
                        <a:t>마우스를 이미지 위로 올리면 이미지가 커집니다</a:t>
                      </a:r>
                      <a:r>
                        <a:rPr lang="en-US" altLang="ko-KR" sz="1100" u="none" strike="noStrike" cap="none" dirty="0"/>
                        <a:t>.&lt;/</a:t>
                      </a:r>
                      <a:r>
                        <a:rPr lang="en-US" sz="1100" u="none" strike="noStrike" cap="none" dirty="0"/>
                        <a:t>p&gt;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  &lt;img </a:t>
                      </a:r>
                      <a:r>
                        <a:rPr lang="en-US" sz="1100" b="1" u="none" strike="noStrike" cap="none" dirty="0"/>
                        <a:t>onmouseover</a:t>
                      </a:r>
                      <a:r>
                        <a:rPr lang="en-US" sz="1100" u="none" strike="noStrike" cap="none" dirty="0"/>
                        <a:t>="this.style.width='200px'" </a:t>
                      </a:r>
                      <a:r>
                        <a:rPr lang="en-US" sz="1100" b="1" u="none" strike="noStrike" cap="none" dirty="0"/>
                        <a:t>onmouseout</a:t>
                      </a:r>
                      <a:r>
                        <a:rPr lang="en-US" sz="1100" u="none" strike="noStrike" cap="none" dirty="0"/>
                        <a:t>="this.style.width='100px'" src="./img/dog.jpg" width="100px"&gt;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&lt;/body&gt;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&lt;/html&gt;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86CB749A-A3A6-417C-A53D-DA1D6AD20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3" y="4289313"/>
            <a:ext cx="3841055" cy="1627968"/>
          </a:xfrm>
          <a:prstGeom prst="rect">
            <a:avLst/>
          </a:prstGeom>
          <a:ln>
            <a:solidFill>
              <a:srgbClr val="000000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EF10487-8125-C45B-6DD7-2ABB18178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395" y="4289312"/>
            <a:ext cx="3650918" cy="1627968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19968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(1)</a:t>
            </a:r>
            <a:br>
              <a:rPr lang="en-US" dirty="0"/>
            </a:br>
            <a:r>
              <a:rPr lang="en-US" dirty="0"/>
              <a:t>						변수선언</a:t>
            </a:r>
            <a:endParaRPr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12228EF-339A-39B2-9C53-C99AA0AD6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각 변수 선언 방식</a:t>
            </a:r>
          </a:p>
          <a:p>
            <a:endParaRPr lang="ko-KR" altLang="en-US" sz="1600" dirty="0"/>
          </a:p>
          <a:p>
            <a:pPr marL="0" indent="0">
              <a:buNone/>
            </a:pPr>
            <a:endParaRPr lang="ko-KR" altLang="en-US" sz="1600" dirty="0"/>
          </a:p>
          <a:p>
            <a:endParaRPr lang="en-US" altLang="ko-KR" sz="1600" dirty="0"/>
          </a:p>
          <a:p>
            <a:r>
              <a:rPr lang="ko-KR" altLang="en-US" sz="1600" b="1" dirty="0"/>
              <a:t>변수 선언 방식</a:t>
            </a:r>
          </a:p>
          <a:p>
            <a:pPr lvl="1"/>
            <a:r>
              <a:rPr lang="en-US" altLang="ko-KR" sz="1600" dirty="0"/>
              <a:t>let</a:t>
            </a:r>
          </a:p>
          <a:p>
            <a:pPr lvl="2"/>
            <a:r>
              <a:rPr lang="ko-KR" altLang="en-US" sz="1600" u="sng" dirty="0"/>
              <a:t>블록 범위 변수를 선언하며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중복 선언이 불가능</a:t>
            </a:r>
            <a:r>
              <a:rPr lang="ko-KR" altLang="en-US" sz="1600" dirty="0"/>
              <a:t>합니다</a:t>
            </a:r>
            <a:r>
              <a:rPr lang="en-US" altLang="ko-KR" sz="1600" dirty="0"/>
              <a:t>. </a:t>
            </a:r>
            <a:r>
              <a:rPr lang="ko-KR" altLang="en-US" sz="1600" dirty="0"/>
              <a:t>값을 재할당할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lvl="1"/>
            <a:r>
              <a:rPr lang="en-US" altLang="ko-KR" sz="1600" dirty="0"/>
              <a:t>const</a:t>
            </a:r>
          </a:p>
          <a:p>
            <a:pPr lvl="2"/>
            <a:r>
              <a:rPr lang="ko-KR" altLang="en-US" sz="1600" u="sng" dirty="0"/>
              <a:t>블록 범위 변수를 선언하며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중복 선언이 불가능</a:t>
            </a:r>
            <a:r>
              <a:rPr lang="ko-KR" altLang="en-US" sz="1600" dirty="0"/>
              <a:t>하다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b="1" dirty="0"/>
              <a:t>선언과 동시에 초기화해야 하며 값을 재할당할 수 없다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60" name="Google Shape;60;p4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6</a:t>
            </a:fld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graphicFrame>
        <p:nvGraphicFramePr>
          <p:cNvPr id="62" name="Google Shape;62;p4"/>
          <p:cNvGraphicFramePr/>
          <p:nvPr>
            <p:extLst>
              <p:ext uri="{D42A27DB-BD31-4B8C-83A1-F6EECF244321}">
                <p14:modId xmlns:p14="http://schemas.microsoft.com/office/powerpoint/2010/main" val="4015929163"/>
              </p:ext>
            </p:extLst>
          </p:nvPr>
        </p:nvGraphicFramePr>
        <p:xfrm>
          <a:off x="896938" y="1556792"/>
          <a:ext cx="2875331" cy="7879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75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let a = 10; //</a:t>
                      </a:r>
                      <a:r>
                        <a:rPr lang="en-US" sz="1100" u="none" strike="noStrike" cap="none" dirty="0" err="1"/>
                        <a:t>블록</a:t>
                      </a:r>
                      <a:r>
                        <a:rPr lang="en-US" sz="1100" u="none" strike="noStrike" cap="none" dirty="0"/>
                        <a:t> 스코프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const b = 20; //</a:t>
                      </a:r>
                      <a:r>
                        <a:rPr lang="en-US" sz="1100" u="none" strike="noStrike" cap="none" dirty="0" err="1"/>
                        <a:t>블록</a:t>
                      </a:r>
                      <a:r>
                        <a:rPr lang="en-US" sz="1100" u="none" strike="noStrike" cap="none" dirty="0"/>
                        <a:t> 스코프 및 </a:t>
                      </a:r>
                      <a:r>
                        <a:rPr lang="en-US" sz="1100" u="none" strike="noStrike" cap="none" dirty="0" err="1"/>
                        <a:t>상수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var c = 30; //</a:t>
                      </a:r>
                      <a:r>
                        <a:rPr lang="en-US" sz="1100" u="none" strike="noStrike" cap="none" dirty="0" err="1"/>
                        <a:t>함수</a:t>
                      </a:r>
                      <a:r>
                        <a:rPr lang="en-US" sz="1100" u="none" strike="noStrike" cap="none" dirty="0"/>
                        <a:t> 스코프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3" name="Google Shape;63;p4"/>
          <p:cNvGraphicFramePr/>
          <p:nvPr>
            <p:extLst>
              <p:ext uri="{D42A27DB-BD31-4B8C-83A1-F6EECF244321}">
                <p14:modId xmlns:p14="http://schemas.microsoft.com/office/powerpoint/2010/main" val="1577093896"/>
              </p:ext>
            </p:extLst>
          </p:nvPr>
        </p:nvGraphicFramePr>
        <p:xfrm>
          <a:off x="2569184" y="3662362"/>
          <a:ext cx="2875331" cy="53645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75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let x = 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x = 10; //</a:t>
                      </a:r>
                      <a:r>
                        <a:rPr lang="en-US" sz="1100" u="none" strike="noStrike" cap="none" dirty="0" err="1"/>
                        <a:t>가능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4" name="Google Shape;64;p4"/>
          <p:cNvGraphicFramePr/>
          <p:nvPr>
            <p:extLst>
              <p:ext uri="{D42A27DB-BD31-4B8C-83A1-F6EECF244321}">
                <p14:modId xmlns:p14="http://schemas.microsoft.com/office/powerpoint/2010/main" val="4071291308"/>
              </p:ext>
            </p:extLst>
          </p:nvPr>
        </p:nvGraphicFramePr>
        <p:xfrm>
          <a:off x="2569184" y="5340816"/>
          <a:ext cx="2875331" cy="53645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75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144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const y = 15;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// y = 20; //</a:t>
                      </a:r>
                      <a:r>
                        <a:rPr lang="en-US" sz="1100" u="none" strike="noStrike" cap="none" dirty="0" err="1"/>
                        <a:t>오류</a:t>
                      </a:r>
                      <a:r>
                        <a:rPr lang="en-US" sz="1100" u="none" strike="noStrike" cap="none" dirty="0"/>
                        <a:t> </a:t>
                      </a:r>
                      <a:r>
                        <a:rPr lang="en-US" sz="1100" u="none" strike="noStrike" cap="none" dirty="0" err="1"/>
                        <a:t>발생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80EE7E-2FB7-C0DA-973A-2C10EDD9D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872095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변수 선언 방식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계속</a:t>
            </a:r>
            <a:r>
              <a:rPr lang="en-US" altLang="ko-KR" sz="1600" b="1" dirty="0"/>
              <a:t>)</a:t>
            </a:r>
          </a:p>
          <a:p>
            <a:pPr lvl="1"/>
            <a:r>
              <a:rPr lang="en-US" altLang="ko-KR" sz="1600" dirty="0"/>
              <a:t>var</a:t>
            </a:r>
          </a:p>
          <a:p>
            <a:pPr lvl="2"/>
            <a:r>
              <a:rPr lang="ko-KR" altLang="en-US" sz="1600" u="sng" dirty="0"/>
              <a:t>같은 이름으로 중복 선언이 가능</a:t>
            </a:r>
            <a:r>
              <a:rPr lang="ko-KR" altLang="en-US" sz="1600" dirty="0"/>
              <a:t>하다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재할당도 가능 하지만 예측 가능한 동작이 어려워 최근 코드에서는 잘 사용하지 않는다</a:t>
            </a:r>
            <a:r>
              <a:rPr lang="en-US" altLang="ko-KR" sz="1600" dirty="0"/>
              <a:t>.</a:t>
            </a:r>
          </a:p>
          <a:p>
            <a:pPr lvl="2"/>
            <a:endParaRPr lang="en-US" altLang="ko-KR" sz="1600" dirty="0"/>
          </a:p>
          <a:p>
            <a:pPr lvl="2"/>
            <a:endParaRPr lang="en-US" altLang="ko-KR" sz="1600" dirty="0"/>
          </a:p>
          <a:p>
            <a:r>
              <a:rPr lang="ko-KR" altLang="en-US" sz="1600" b="1" dirty="0"/>
              <a:t>웹페이지에 값 출력하는 방법</a:t>
            </a:r>
          </a:p>
          <a:p>
            <a:pPr lvl="1"/>
            <a:r>
              <a:rPr lang="en-US" altLang="ko-KR" sz="1600" dirty="0"/>
              <a:t>document.write() </a:t>
            </a:r>
            <a:r>
              <a:rPr lang="ko-KR" altLang="en-US" sz="1600" dirty="0"/>
              <a:t>혹은 </a:t>
            </a:r>
            <a:r>
              <a:rPr lang="en-US" altLang="ko-KR" sz="1600" dirty="0"/>
              <a:t>document.writeLine()</a:t>
            </a:r>
            <a:r>
              <a:rPr lang="ko-KR" altLang="en-US" sz="1600" dirty="0"/>
              <a:t>으로 웹페이지에 직접 값을 출력할 수 있다</a:t>
            </a:r>
            <a:r>
              <a:rPr lang="en-US" altLang="ko-KR" sz="1600" dirty="0"/>
              <a:t>.</a:t>
            </a:r>
          </a:p>
          <a:p>
            <a:endParaRPr lang="ko-KR" altLang="en-US" dirty="0"/>
          </a:p>
        </p:txBody>
      </p:sp>
      <p:sp>
        <p:nvSpPr>
          <p:cNvPr id="69" name="Google Shape;69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(2)</a:t>
            </a:r>
            <a:br>
              <a:rPr lang="en-US" dirty="0"/>
            </a:br>
            <a:r>
              <a:rPr lang="en-US" dirty="0"/>
              <a:t>					변수선언</a:t>
            </a:r>
            <a:r>
              <a:rPr lang="en-US" altLang="ko-KR" dirty="0"/>
              <a:t>(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72" name="Google Shape;72;p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7</a:t>
            </a:fld>
            <a:endParaRPr/>
          </a:p>
        </p:txBody>
      </p:sp>
      <p:graphicFrame>
        <p:nvGraphicFramePr>
          <p:cNvPr id="73" name="Google Shape;73;p5"/>
          <p:cNvGraphicFramePr/>
          <p:nvPr>
            <p:extLst>
              <p:ext uri="{D42A27DB-BD31-4B8C-83A1-F6EECF244321}">
                <p14:modId xmlns:p14="http://schemas.microsoft.com/office/powerpoint/2010/main" val="1466304901"/>
              </p:ext>
            </p:extLst>
          </p:nvPr>
        </p:nvGraphicFramePr>
        <p:xfrm>
          <a:off x="3419872" y="2621858"/>
          <a:ext cx="2034844" cy="7879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4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var z = 25;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var z = 30; //</a:t>
                      </a:r>
                      <a:r>
                        <a:rPr lang="en-US" sz="1100" u="none" strike="noStrike" cap="none" dirty="0" err="1"/>
                        <a:t>가능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z = 35; //</a:t>
                      </a:r>
                      <a:r>
                        <a:rPr lang="en-US" sz="1100" u="none" strike="noStrike" cap="none" dirty="0" err="1"/>
                        <a:t>가능</a:t>
                      </a:r>
                      <a:endParaRPr sz="1100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4" name="Google Shape;74;p5"/>
          <p:cNvGraphicFramePr/>
          <p:nvPr>
            <p:extLst>
              <p:ext uri="{D42A27DB-BD31-4B8C-83A1-F6EECF244321}">
                <p14:modId xmlns:p14="http://schemas.microsoft.com/office/powerpoint/2010/main" val="76378983"/>
              </p:ext>
            </p:extLst>
          </p:nvPr>
        </p:nvGraphicFramePr>
        <p:xfrm>
          <a:off x="1259632" y="4581128"/>
          <a:ext cx="3545063" cy="154312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450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1904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let </a:t>
                      </a:r>
                      <a:r>
                        <a:rPr lang="en-US" sz="1100" u="none" strike="noStrike" cap="none" dirty="0"/>
                        <a:t>a = "Hello World“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var</a:t>
                      </a:r>
                      <a:r>
                        <a:rPr lang="en-US" sz="1100" u="none" strike="noStrike" cap="none" dirty="0"/>
                        <a:t> b = 10;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const</a:t>
                      </a:r>
                      <a:r>
                        <a:rPr lang="en-US" sz="1100" u="none" strike="noStrike" cap="none" dirty="0"/>
                        <a:t> c = 2.5;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document.write(a)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document.write(b)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document.write(c)</a:t>
                      </a:r>
                      <a:endParaRPr sz="1100" u="none" strike="noStrike" cap="none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5" name="텍스트 상자 1"/>
          <p:cNvSpPr txBox="1">
            <a:spLocks/>
          </p:cNvSpPr>
          <p:nvPr/>
        </p:nvSpPr>
        <p:spPr>
          <a:xfrm rot="0">
            <a:off x="5574665" y="1479550"/>
            <a:ext cx="24790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기말에 </a:t>
            </a:r>
            <a:r>
              <a:rPr lang="ko-KR" sz="1800">
                <a:latin typeface="맑은 고딕" charset="0"/>
                <a:ea typeface="맑은 고딕" charset="0"/>
              </a:rPr>
              <a:t>문법 많이 물</a:t>
            </a:r>
            <a:r>
              <a:rPr lang="ko-KR" sz="1800">
                <a:latin typeface="맑은 고딕" charset="0"/>
                <a:ea typeface="맑은 고딕" charset="0"/>
              </a:rPr>
              <a:t>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5DA8D6-DC20-220F-1BA2-1FA9CDE6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실습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3B3730-FB1C-4613-3390-A35540D21B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72A7DF-0BC1-6C21-B7D8-4C98C4EC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041AD023-172C-A2DF-6731-669C0B55B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2630444"/>
              </p:ext>
            </p:extLst>
          </p:nvPr>
        </p:nvGraphicFramePr>
        <p:xfrm>
          <a:off x="539552" y="1268760"/>
          <a:ext cx="6264696" cy="27508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264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&lt;html&gt;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&lt;head&gt;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&lt;meta charset="UTF-8"&gt;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&lt;title&gt;</a:t>
                      </a:r>
                      <a:r>
                        <a:rPr lang="ko-KR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예제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3&lt;/title&gt;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&lt;/head&gt;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&lt;body&gt;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&lt;h1 id="test"&gt;&lt;/h1&gt;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&lt;script&gt;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let x = 5;</a:t>
                      </a:r>
                      <a:b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let y = 6;</a:t>
                      </a:r>
                      <a:b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let z = x + y;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document.getElementById("</a:t>
                      </a:r>
                      <a:r>
                        <a:rPr lang="en-US" altLang="ko-KR" sz="11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").</a:t>
                      </a:r>
                      <a:r>
                        <a:rPr lang="en-US" altLang="ko-KR" sz="11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innerHTML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z;</a:t>
                      </a:r>
                      <a:b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&lt;/script&gt;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&lt;/body&gt;</a:t>
                      </a:r>
                      <a:b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&lt;/html&gt;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369A729-75D3-914B-EF4F-31A8F2EF1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880320" y="-8105102"/>
            <a:ext cx="9144000" cy="45720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&lt;!DOCTYPE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ABABA"/>
                </a:solidFill>
                <a:effectLst/>
                <a:latin typeface="Arial Unicode MS" panose="020B0604020202020204" pitchFamily="50" charset="-127"/>
                <a:ea typeface="JetBrains Mono"/>
              </a:rPr>
              <a:t>html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&lt;html&gt;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&lt;head&gt;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&lt;meta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ABABA"/>
                </a:solidFill>
                <a:effectLst/>
                <a:latin typeface="Arial Unicode MS" panose="020B0604020202020204" pitchFamily="50" charset="-127"/>
                <a:ea typeface="JetBrains Mono"/>
              </a:rPr>
              <a:t>charset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Arial Unicode MS" panose="020B0604020202020204" pitchFamily="50" charset="-127"/>
                <a:ea typeface="JetBrains Mono"/>
              </a:rPr>
              <a:t>="UTF-8"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&lt;title&gt;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예제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3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&lt;/title&gt;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&lt;/head&gt;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&lt;body&gt;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&lt;h1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ABABA"/>
                </a:solidFill>
                <a:effectLst/>
                <a:latin typeface="Arial Unicode MS" panose="020B0604020202020204" pitchFamily="50" charset="-127"/>
                <a:ea typeface="JetBrains Mono"/>
              </a:rPr>
              <a:t>id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Arial Unicode MS" panose="020B0604020202020204" pitchFamily="50" charset="-127"/>
                <a:ea typeface="JetBrains Mono"/>
              </a:rPr>
              <a:t>="test"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&gt;&lt;/h1&gt;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&lt;script&gt;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Arial Unicode MS" panose="020B0604020202020204" pitchFamily="50" charset="-127"/>
                <a:ea typeface="JetBrains Mono"/>
              </a:rPr>
              <a:t>let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x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2AACB8"/>
                </a:solidFill>
                <a:effectLst/>
                <a:latin typeface="Arial Unicode MS" panose="020B0604020202020204" pitchFamily="50" charset="-127"/>
                <a:ea typeface="JetBrains Mono"/>
              </a:rPr>
              <a:t>5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Arial Unicode MS" panose="020B0604020202020204" pitchFamily="50" charset="-127"/>
                <a:ea typeface="JetBrains Mono"/>
              </a:rPr>
              <a:t>let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y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2AACB8"/>
                </a:solidFill>
                <a:effectLst/>
                <a:latin typeface="Arial Unicode MS" panose="020B0604020202020204" pitchFamily="50" charset="-127"/>
                <a:ea typeface="JetBrains Mono"/>
              </a:rPr>
              <a:t>6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Arial Unicode MS" panose="020B0604020202020204" pitchFamily="50" charset="-127"/>
                <a:ea typeface="JetBrains Mono"/>
              </a:rPr>
              <a:t>let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z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x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+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y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   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document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.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56A8F5"/>
                </a:solidFill>
                <a:effectLst/>
                <a:latin typeface="Arial Unicode MS" panose="020B0604020202020204" pitchFamily="50" charset="-127"/>
                <a:ea typeface="JetBrains Mono"/>
              </a:rPr>
              <a:t>getElementById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(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Arial Unicode MS" panose="020B0604020202020204" pitchFamily="50" charset="-127"/>
                <a:ea typeface="JetBrains Mono"/>
              </a:rPr>
              <a:t>"test"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).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C77DBB"/>
                </a:solidFill>
                <a:effectLst/>
                <a:latin typeface="Arial Unicode MS" panose="020B0604020202020204" pitchFamily="50" charset="-127"/>
                <a:ea typeface="JetBrains Mono"/>
              </a:rPr>
              <a:t>innerHTML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= </a:t>
            </a:r>
            <a:r>
              <a:rPr kumimoji="0" lang="ko-KR" altLang="ko-KR" sz="1500" b="0" i="1" u="none" strike="noStrike" cap="none" normalizeH="0" baseline="0">
                <a:ln>
                  <a:noFill/>
                </a:ln>
                <a:solidFill>
                  <a:srgbClr val="C77DBA"/>
                </a:solidFill>
                <a:effectLst/>
                <a:latin typeface="Arial Unicode MS" panose="020B0604020202020204" pitchFamily="50" charset="-127"/>
                <a:ea typeface="JetBrains Mono"/>
              </a:rPr>
              <a:t>z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Arial Unicode MS" panose="020B0604020202020204" pitchFamily="50" charset="-127"/>
                <a:ea typeface="JetBrains Mono"/>
              </a:rPr>
              <a:t>    </a:t>
            </a: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&lt;/script&gt;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&lt;/body&gt;</a:t>
            </a:r>
            <a:b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</a:br>
            <a:r>
              <a:rPr kumimoji="0" lang="ko-KR" altLang="ko-KR" sz="1500" b="0" i="0" u="none" strike="noStrike" cap="none" normalizeH="0" baseline="0">
                <a:ln>
                  <a:noFill/>
                </a:ln>
                <a:solidFill>
                  <a:srgbClr val="D5B778"/>
                </a:solidFill>
                <a:effectLst/>
                <a:latin typeface="Arial Unicode MS" panose="020B0604020202020204" pitchFamily="50" charset="-127"/>
                <a:ea typeface="JetBrains Mono"/>
              </a:rPr>
              <a:t>&lt;/html&gt;</a:t>
            </a: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113A-2352-EEED-7359-6DB2B0F0FDCD}"/>
              </a:ext>
            </a:extLst>
          </p:cNvPr>
          <p:cNvSpPr txBox="1"/>
          <p:nvPr/>
        </p:nvSpPr>
        <p:spPr>
          <a:xfrm>
            <a:off x="450601" y="4195632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결과는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14660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F20759-4D94-5EE4-728C-787EAE841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자바스크립트는 크게 기본 타입과 참조 타입으로 나눠진다</a:t>
            </a:r>
            <a:endParaRPr lang="en-US" altLang="ko-KR" dirty="0"/>
          </a:p>
          <a:p>
            <a:pPr lvl="1"/>
            <a:r>
              <a:rPr lang="ko-KR" altLang="en-US" dirty="0"/>
              <a:t>기본 타입</a:t>
            </a:r>
          </a:p>
          <a:p>
            <a:pPr lvl="2"/>
            <a:r>
              <a:rPr lang="en-US" altLang="ko-KR" dirty="0"/>
              <a:t>string, number, boolean, null, undefined, symbol</a:t>
            </a:r>
          </a:p>
          <a:p>
            <a:pPr lvl="1"/>
            <a:r>
              <a:rPr lang="ko-KR" altLang="en-US" dirty="0"/>
              <a:t>참조 타입</a:t>
            </a:r>
          </a:p>
          <a:p>
            <a:pPr lvl="2"/>
            <a:r>
              <a:rPr lang="en-US" altLang="ko-KR" dirty="0"/>
              <a:t>object, array, function</a:t>
            </a:r>
          </a:p>
          <a:p>
            <a:pPr marL="914400" lvl="2" indent="0">
              <a:buNone/>
            </a:pPr>
            <a:endParaRPr lang="en-US" altLang="ko-KR" dirty="0"/>
          </a:p>
          <a:p>
            <a:r>
              <a:rPr lang="ko-KR" altLang="en-US" dirty="0"/>
              <a:t>데이터 타입의 확인</a:t>
            </a:r>
          </a:p>
          <a:p>
            <a:pPr lvl="1"/>
            <a:r>
              <a:rPr lang="ko-KR" altLang="en-US" dirty="0"/>
              <a:t>데이터 타입을 확인하려면 </a:t>
            </a:r>
            <a:r>
              <a:rPr lang="en-US" altLang="ko-KR" dirty="0"/>
              <a:t>typeof </a:t>
            </a:r>
            <a:r>
              <a:rPr lang="ko-KR" altLang="en-US" dirty="0"/>
              <a:t>연산자를 사용합니다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79" name="Google Shape;79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(3)</a:t>
            </a:r>
            <a:br>
              <a:rPr lang="en-US" dirty="0"/>
            </a:br>
            <a:r>
              <a:rPr lang="en-US" dirty="0"/>
              <a:t>					자료형(DataType)</a:t>
            </a:r>
            <a:endParaRPr dirty="0"/>
          </a:p>
        </p:txBody>
      </p:sp>
      <p:sp>
        <p:nvSpPr>
          <p:cNvPr id="82" name="Google Shape;82;p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81" name="Google Shape;81;p6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9</a:t>
            </a:fld>
            <a:endParaRPr/>
          </a:p>
        </p:txBody>
      </p:sp>
      <p:graphicFrame>
        <p:nvGraphicFramePr>
          <p:cNvPr id="83" name="Google Shape;83;p6"/>
          <p:cNvGraphicFramePr/>
          <p:nvPr>
            <p:extLst>
              <p:ext uri="{D42A27DB-BD31-4B8C-83A1-F6EECF244321}">
                <p14:modId xmlns:p14="http://schemas.microsoft.com/office/powerpoint/2010/main" val="833197202"/>
              </p:ext>
            </p:extLst>
          </p:nvPr>
        </p:nvGraphicFramePr>
        <p:xfrm>
          <a:off x="4329113" y="3028946"/>
          <a:ext cx="2684156" cy="8001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68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5725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str = "Hello";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pi = 3.14;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isTrue = true;</a:t>
                      </a:r>
                      <a:endParaRPr sz="12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/>
                        <a:t>let obj = {name : "Alice", age : 25 };</a:t>
                      </a:r>
                      <a:endParaRPr sz="1200" u="none" strike="noStrike" cap="none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4" name="Google Shape;84;p6"/>
          <p:cNvGraphicFramePr/>
          <p:nvPr>
            <p:extLst>
              <p:ext uri="{D42A27DB-BD31-4B8C-83A1-F6EECF244321}">
                <p14:modId xmlns:p14="http://schemas.microsoft.com/office/powerpoint/2010/main" val="3676741084"/>
              </p:ext>
            </p:extLst>
          </p:nvPr>
        </p:nvGraphicFramePr>
        <p:xfrm>
          <a:off x="1281113" y="4725144"/>
          <a:ext cx="6096000" cy="9829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1197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 </a:t>
                      </a:r>
                      <a:r>
                        <a:rPr lang="en-US" sz="1200" b="0" u="none" strike="noStrike" cap="none" dirty="0"/>
                        <a:t>str);  //"string"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</a:t>
                      </a:r>
                      <a:r>
                        <a:rPr lang="en-US" sz="1200" b="0" u="none" strike="noStrike" cap="none" dirty="0"/>
                        <a:t> num);  //"number"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 </a:t>
                      </a:r>
                      <a:r>
                        <a:rPr lang="en-US" sz="1200" b="0" u="none" strike="noStrike" cap="none" dirty="0"/>
                        <a:t>isTrue);  //"boolean"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</a:t>
                      </a:r>
                      <a:r>
                        <a:rPr lang="en-US" sz="1200" b="0" u="none" strike="noStrike" cap="none" dirty="0"/>
                        <a:t> obj);  //"object"</a:t>
                      </a:r>
                      <a:endParaRPr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/>
                        <a:t>console.log(</a:t>
                      </a:r>
                      <a:r>
                        <a:rPr lang="en-US" sz="1200" b="1" u="none" strike="noStrike" cap="none" dirty="0"/>
                        <a:t>typeof</a:t>
                      </a:r>
                      <a:r>
                        <a:rPr lang="en-US" sz="1200" b="0" u="none" strike="noStrike" cap="none" dirty="0"/>
                        <a:t> greet);  //"function"</a:t>
                      </a:r>
                      <a:endParaRPr sz="1200" b="0" u="none" strike="noStrike" cap="none" dirty="0"/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2EC3F7-0F6A-0382-296D-3D1F950FA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자바스크립트에서는 데이터 타입을 변환할 수 있습니다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b="1" dirty="0"/>
              <a:t>명시적 변환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pPr lvl="1"/>
            <a:r>
              <a:rPr lang="ko-KR" altLang="en-US" b="1" dirty="0"/>
              <a:t>암묵적 변환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89" name="Google Shape;89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자바스크립트 </a:t>
            </a:r>
            <a:r>
              <a:rPr lang="en-US" dirty="0" err="1"/>
              <a:t>기본문법</a:t>
            </a:r>
            <a:r>
              <a:rPr lang="en-US" dirty="0"/>
              <a:t>(4)</a:t>
            </a:r>
            <a:br>
              <a:rPr lang="en-US" dirty="0"/>
            </a:br>
            <a:r>
              <a:rPr lang="en-US" dirty="0"/>
              <a:t>							형변환 </a:t>
            </a:r>
            <a:endParaRPr dirty="0"/>
          </a:p>
        </p:txBody>
      </p:sp>
      <p:sp>
        <p:nvSpPr>
          <p:cNvPr id="92" name="Google Shape;92;p7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10</a:t>
            </a:fld>
            <a:endParaRPr/>
          </a:p>
        </p:txBody>
      </p:sp>
      <p:graphicFrame>
        <p:nvGraphicFramePr>
          <p:cNvPr id="93" name="Google Shape;93;p7"/>
          <p:cNvGraphicFramePr/>
          <p:nvPr>
            <p:extLst>
              <p:ext uri="{D42A27DB-BD31-4B8C-83A1-F6EECF244321}">
                <p14:modId xmlns:p14="http://schemas.microsoft.com/office/powerpoint/2010/main" val="4275832588"/>
              </p:ext>
            </p:extLst>
          </p:nvPr>
        </p:nvGraphicFramePr>
        <p:xfrm>
          <a:off x="1281113" y="2178741"/>
          <a:ext cx="6096000" cy="8001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172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let</a:t>
                      </a:r>
                      <a:r>
                        <a:rPr lang="en-US" sz="1600" b="0" u="none" strike="noStrike" cap="none" dirty="0"/>
                        <a:t> numStr = "123";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let</a:t>
                      </a:r>
                      <a:r>
                        <a:rPr lang="en-US" sz="1600" b="0" u="none" strike="noStrike" cap="none" dirty="0"/>
                        <a:t> num = Number(numStr); //</a:t>
                      </a:r>
                      <a:r>
                        <a:rPr lang="en-US" sz="1600" b="0" u="none" strike="noStrike" cap="none" dirty="0" err="1"/>
                        <a:t>문자열</a:t>
                      </a:r>
                      <a:r>
                        <a:rPr lang="en-US" sz="1600" b="0" u="none" strike="noStrike" cap="none" dirty="0"/>
                        <a:t> -&gt; </a:t>
                      </a:r>
                      <a:r>
                        <a:rPr lang="en-US" sz="1600" b="0" u="none" strike="noStrike" cap="none" dirty="0" err="1"/>
                        <a:t>숫자</a:t>
                      </a:r>
                      <a:endParaRPr sz="1600" b="0" u="none" strike="noStrike" cap="none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console.log(num); //123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4" name="Google Shape;94;p7"/>
          <p:cNvGraphicFramePr/>
          <p:nvPr>
            <p:extLst>
              <p:ext uri="{D42A27DB-BD31-4B8C-83A1-F6EECF244321}">
                <p14:modId xmlns:p14="http://schemas.microsoft.com/office/powerpoint/2010/main" val="2073141890"/>
              </p:ext>
            </p:extLst>
          </p:nvPr>
        </p:nvGraphicFramePr>
        <p:xfrm>
          <a:off x="1281113" y="4005064"/>
          <a:ext cx="6096000" cy="5562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434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let</a:t>
                      </a:r>
                      <a:r>
                        <a:rPr lang="en-US" sz="1600" b="0" u="none" strike="noStrike" cap="none" dirty="0"/>
                        <a:t> result = "10" + 5; //</a:t>
                      </a:r>
                      <a:r>
                        <a:rPr lang="en-US" sz="1600" b="0" u="none" strike="noStrike" cap="none" dirty="0" err="1"/>
                        <a:t>숫자가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문자열로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변환됨</a:t>
                      </a:r>
                      <a:endParaRPr sz="1600" b="0" u="none" strike="noStrike" cap="none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console.log(result); //"105"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06A48-2306-3A79-3A54-061329884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자바스크립트 </a:t>
            </a:r>
            <a:r>
              <a:rPr lang="en-US" altLang="ko-KR" dirty="0" err="1"/>
              <a:t>기본문법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25E1F9-3CE4-5A68-DDF1-05AEC9D861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D74DB2-C9FE-7D0A-2B1F-1EE5BBF3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5F43C162-8DA1-ACB4-3DE0-134738679F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1391514"/>
              </p:ext>
            </p:extLst>
          </p:nvPr>
        </p:nvGraphicFramePr>
        <p:xfrm>
          <a:off x="539552" y="1268760"/>
          <a:ext cx="3672408" cy="39243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672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&lt;html&gt;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&lt;head&gt;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&lt;meta charset="UTF-8"&gt;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&lt;title&gt;</a:t>
                      </a:r>
                      <a:r>
                        <a:rPr lang="ko-KR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예제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4&lt;/title&gt;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&lt;script&gt;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let x;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document.write(x+"&lt;br&gt;");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typeof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x+"&lt;br&gt;&lt;br&gt;");</a:t>
                      </a:r>
                    </a:p>
                    <a:p>
                      <a:endParaRPr lang="en-US" altLang="ko-KR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 = 100;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document.write(x+"&lt;br&gt;");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typeof 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x+"&lt;br&gt;&lt;br&gt;");</a:t>
                      </a:r>
                    </a:p>
                    <a:p>
                      <a:endParaRPr lang="en-US" altLang="ko-KR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x = "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홍길동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document.write(x+"&lt;br&gt;");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document.write(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typeof</a:t>
                      </a:r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x+"&lt;br&gt;&lt;br&gt;");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&lt;/script&gt;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&lt;/head&gt;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&lt;body&gt;</a:t>
                      </a:r>
                    </a:p>
                    <a:p>
                      <a:endParaRPr lang="en-US" altLang="ko-KR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&lt;/body&gt;</a:t>
                      </a:r>
                    </a:p>
                    <a:p>
                      <a:r>
                        <a:rPr lang="en-US" altLang="ko-KR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&lt;/html&gt;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2CCE0493-9752-6708-D2FA-9E418BAEE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4625" y="1268760"/>
            <a:ext cx="1857375" cy="31623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48407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48823-3200-99F9-31F1-F6475D683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965190-2185-CA5B-4264-3E0CD5722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자바스크립트 </a:t>
            </a:r>
            <a:r>
              <a:rPr lang="en-US" altLang="ko-KR" dirty="0" err="1"/>
              <a:t>기본문법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A3DAA2-2ED7-AA2E-5307-05A3327789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2F3E1D-FA59-7CBF-EDCD-F03903A66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220DDDB4-EA7A-1F67-C2DF-FA5CA10E6C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5202818"/>
              </p:ext>
            </p:extLst>
          </p:nvPr>
        </p:nvGraphicFramePr>
        <p:xfrm>
          <a:off x="539552" y="1268760"/>
          <a:ext cx="4824536" cy="36957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824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7185">
                <a:tc>
                  <a:txBody>
                    <a:bodyPr/>
                    <a:lstStyle/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&lt;html&gt;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&lt;head&gt;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&lt;meta charset="UTF-8"&gt;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&lt;title&gt;</a:t>
                      </a: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예제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5&lt;/title&gt;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&lt;/head&gt;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&lt;body&gt;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&lt;script&gt;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let s = "Hello World";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let t = "How are you" + " today?";</a:t>
                      </a:r>
                    </a:p>
                    <a:p>
                      <a:endParaRPr lang="en-US" altLang="ko-KR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document.write(s + "&lt;br&gt;");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document.write(t + "&lt;br&gt;");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document.write(</a:t>
                      </a:r>
                      <a:r>
                        <a:rPr lang="en-US" altLang="ko-KR" sz="14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s.toUpperCase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+ "&lt;br&gt;");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&lt;/script&gt;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&lt;/body&gt;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&lt;/html&gt;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474C286F-AA91-F353-D464-10FFA287C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023" y="1268760"/>
            <a:ext cx="2638425" cy="1362075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8537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4CA950-90BE-4D29-7C2E-76D8A049A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 기본문법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객체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BDD4AF-04E4-BF2A-F52B-8A1BFEC17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700411"/>
          </a:xfrm>
        </p:spPr>
        <p:txBody>
          <a:bodyPr/>
          <a:lstStyle/>
          <a:p>
            <a:r>
              <a:rPr lang="ko-KR" altLang="en-US" b="1" dirty="0"/>
              <a:t>객체형</a:t>
            </a:r>
            <a:endParaRPr lang="en-US" altLang="ko-KR" b="1" dirty="0"/>
          </a:p>
          <a:p>
            <a:pPr lvl="1"/>
            <a:r>
              <a:rPr lang="ko-KR" altLang="en-US" dirty="0"/>
              <a:t>기본 데이터 타입을 제외하면 모두 객체형이다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객체는 사물의 속성과 동작을 묶어서 표현하는 기법 중의 하나이다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902CD-326B-EB53-F7C7-0AD9C7BF15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0A36E6-D9BE-8965-CA4D-B7F9A131C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Google Shape;73;p5">
            <a:extLst>
              <a:ext uri="{FF2B5EF4-FFF2-40B4-BE49-F238E27FC236}">
                <a16:creationId xmlns:a16="http://schemas.microsoft.com/office/drawing/2014/main" id="{A439F089-E193-A568-23F0-3A32CF0D3C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2063403"/>
              </p:ext>
            </p:extLst>
          </p:nvPr>
        </p:nvGraphicFramePr>
        <p:xfrm>
          <a:off x="1691680" y="2852937"/>
          <a:ext cx="6048672" cy="34925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48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let</a:t>
                      </a: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 = { name : “bob”, age : 15, gender : “man”, country : “USA” };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oogle Shape;73;p5">
            <a:extLst>
              <a:ext uri="{FF2B5EF4-FFF2-40B4-BE49-F238E27FC236}">
                <a16:creationId xmlns:a16="http://schemas.microsoft.com/office/drawing/2014/main" id="{0089380E-23DC-56D6-C799-4942129851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8256134"/>
              </p:ext>
            </p:extLst>
          </p:nvPr>
        </p:nvGraphicFramePr>
        <p:xfrm>
          <a:off x="1691680" y="3426260"/>
          <a:ext cx="6048672" cy="9220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48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document.write(parson.name + “&lt;br&gt;”);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</a:t>
                      </a:r>
                      <a:r>
                        <a:rPr lang="en-US" altLang="ko-KR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parson.age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“&lt;br&gt;”);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</a:t>
                      </a:r>
                      <a:r>
                        <a:rPr lang="en-US" altLang="ko-KR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parson.gender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“&lt;br&gt;”);</a:t>
                      </a:r>
                    </a:p>
                    <a:p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document.write(</a:t>
                      </a:r>
                      <a:r>
                        <a:rPr lang="en-US" altLang="ko-KR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parson.country</a:t>
                      </a: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“&lt;br&gt;”);</a:t>
                      </a:r>
                    </a:p>
                  </a:txBody>
                  <a:tcPr marL="68588" marR="68588" marT="34294" marB="34294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97B9990A-FA25-EAE8-546E-C420DAE2A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77" y="4572361"/>
            <a:ext cx="1666875" cy="16573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114238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45E4D-C2CD-88A0-A786-9D38338E9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조건문</a:t>
            </a:r>
          </a:p>
          <a:p>
            <a:pPr lvl="1"/>
            <a:r>
              <a:rPr lang="ko-KR" altLang="en-US" sz="1400" dirty="0"/>
              <a:t>조건문은 주어진 조건에 따라 서로 다른 코드를 실행하는데 사용된다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b="1" dirty="0"/>
              <a:t>if/else </a:t>
            </a:r>
            <a:r>
              <a:rPr lang="ko-KR" altLang="en-US" sz="1400" dirty="0"/>
              <a:t>문은 가장 기본이 되는 조건문</a:t>
            </a:r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/>
              <a:t>삼항 연산자</a:t>
            </a:r>
          </a:p>
          <a:p>
            <a:pPr lvl="1"/>
            <a:r>
              <a:rPr lang="ko-KR" altLang="en-US" sz="1200" dirty="0"/>
              <a:t>간단한 조건문 표현</a:t>
            </a:r>
          </a:p>
          <a:p>
            <a:endParaRPr lang="ko-KR" altLang="en-US" dirty="0"/>
          </a:p>
        </p:txBody>
      </p:sp>
      <p:sp>
        <p:nvSpPr>
          <p:cNvPr id="99" name="Google Shape;99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(1)</a:t>
            </a:r>
            <a:br>
              <a:rPr lang="en-US" dirty="0"/>
            </a:br>
            <a:r>
              <a:rPr lang="en-US" dirty="0"/>
              <a:t>				조건문 – if-else/</a:t>
            </a:r>
            <a:r>
              <a:rPr lang="ko-KR" altLang="en-US" dirty="0"/>
              <a:t>삼항 연산자</a:t>
            </a:r>
            <a:endParaRPr dirty="0"/>
          </a:p>
        </p:txBody>
      </p:sp>
      <p:sp>
        <p:nvSpPr>
          <p:cNvPr id="102" name="Google Shape;102;p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14</a:t>
            </a:fld>
            <a:endParaRPr/>
          </a:p>
        </p:txBody>
      </p:sp>
      <p:graphicFrame>
        <p:nvGraphicFramePr>
          <p:cNvPr id="103" name="Google Shape;103;p8"/>
          <p:cNvGraphicFramePr/>
          <p:nvPr>
            <p:extLst>
              <p:ext uri="{D42A27DB-BD31-4B8C-83A1-F6EECF244321}">
                <p14:modId xmlns:p14="http://schemas.microsoft.com/office/powerpoint/2010/main" val="12154723"/>
              </p:ext>
            </p:extLst>
          </p:nvPr>
        </p:nvGraphicFramePr>
        <p:xfrm>
          <a:off x="1259632" y="2117957"/>
          <a:ext cx="3743531" cy="17754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743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573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if</a:t>
                      </a:r>
                      <a:r>
                        <a:rPr lang="en-US" sz="1400" b="0" u="none" strike="noStrike" cap="none" dirty="0"/>
                        <a:t> (a &gt; b)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console.log("a가 b보다 큽니다.");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 </a:t>
                      </a:r>
                      <a:r>
                        <a:rPr lang="en-US" sz="1400" b="1" u="none" strike="noStrike" cap="none" dirty="0"/>
                        <a:t>else if </a:t>
                      </a:r>
                      <a:r>
                        <a:rPr lang="en-US" sz="1400" b="0" u="none" strike="noStrike" cap="none" dirty="0"/>
                        <a:t>(a === b)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console.log("a와 b가 같습니다.");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 </a:t>
                      </a:r>
                      <a:r>
                        <a:rPr lang="en-US" sz="1400" b="1" u="none" strike="noStrike" cap="none" dirty="0"/>
                        <a:t>else</a:t>
                      </a:r>
                      <a:r>
                        <a:rPr lang="en-US" sz="1400" b="0" u="none" strike="noStrike" cap="none" dirty="0"/>
                        <a:t>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console.log("a가 b보다 작습니다.");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4" name="Google Shape;104;p8"/>
          <p:cNvGraphicFramePr/>
          <p:nvPr>
            <p:extLst>
              <p:ext uri="{D42A27DB-BD31-4B8C-83A1-F6EECF244321}">
                <p14:modId xmlns:p14="http://schemas.microsoft.com/office/powerpoint/2010/main" val="110900826"/>
              </p:ext>
            </p:extLst>
          </p:nvPr>
        </p:nvGraphicFramePr>
        <p:xfrm>
          <a:off x="1259632" y="4806544"/>
          <a:ext cx="5584771" cy="4953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5847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6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const</a:t>
                      </a:r>
                      <a:r>
                        <a:rPr lang="en-US" sz="1400" b="0" u="none" strike="noStrike" cap="none" dirty="0"/>
                        <a:t> result = a &gt; b ? "a가 더 큽니다." : "b가 더 크거나 같습니다.";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console.log(result);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(2)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en-US" dirty="0"/>
              <a:t>조건문(switch)</a:t>
            </a:r>
            <a:endParaRPr dirty="0"/>
          </a:p>
        </p:txBody>
      </p:sp>
      <p:sp>
        <p:nvSpPr>
          <p:cNvPr id="112" name="Google Shape;112;p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11" name="Google Shape;111;p9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15</a:t>
            </a:fld>
            <a:endParaRPr/>
          </a:p>
        </p:txBody>
      </p:sp>
      <p:graphicFrame>
        <p:nvGraphicFramePr>
          <p:cNvPr id="113" name="Google Shape;113;p9"/>
          <p:cNvGraphicFramePr/>
          <p:nvPr/>
        </p:nvGraphicFramePr>
        <p:xfrm>
          <a:off x="1071664" y="2257898"/>
          <a:ext cx="6096000" cy="22021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259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/>
                        <a:t>switch</a:t>
                      </a:r>
                      <a:r>
                        <a:rPr lang="en-US" sz="1400" b="0" u="none" strike="noStrike" cap="none"/>
                        <a:t> (day) {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</a:t>
                      </a:r>
                      <a:r>
                        <a:rPr lang="en-US" sz="1400" b="1" u="none" strike="noStrike" cap="none"/>
                        <a:t>case</a:t>
                      </a:r>
                      <a:r>
                        <a:rPr lang="en-US" sz="1400" b="0" u="none" strike="noStrike" cap="none"/>
                        <a:t> 1: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console.log("월요일");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break;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</a:t>
                      </a:r>
                      <a:r>
                        <a:rPr lang="en-US" sz="1400" b="1" u="none" strike="noStrike" cap="none"/>
                        <a:t>case</a:t>
                      </a:r>
                      <a:r>
                        <a:rPr lang="en-US" sz="1400" b="0" u="none" strike="noStrike" cap="none"/>
                        <a:t> 2: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console.log("화요일");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break;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</a:t>
                      </a:r>
                      <a:r>
                        <a:rPr lang="en-US" sz="1400" b="1" u="none" strike="noStrike" cap="none"/>
                        <a:t>default</a:t>
                      </a:r>
                      <a:r>
                        <a:rPr lang="en-US" sz="1400" b="0" u="none" strike="noStrike" cap="none"/>
                        <a:t>:        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          console.log("주말 또는 잘못된 입력");</a:t>
                      </a:r>
                      <a:endParaRPr sz="14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/>
                        <a:t>}</a:t>
                      </a:r>
                      <a:endParaRPr sz="1400" b="0" u="none" strike="noStrike" cap="none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C049F5-1D4F-C05D-5A2D-C74662C02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  <a:p>
            <a:pPr lvl="1"/>
            <a:r>
              <a:rPr lang="en-US" altLang="ko-KR" dirty="0"/>
              <a:t>switch</a:t>
            </a:r>
            <a:r>
              <a:rPr lang="ko-KR" altLang="en-US" dirty="0"/>
              <a:t>문은 여러 경우를 처리할 때 사용된다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6F8E22-73D9-371F-1D22-41412B955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반복문은 특정 코드를 여러 번 실행할 때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고정된 횟수 반복</a:t>
            </a:r>
          </a:p>
          <a:p>
            <a:endParaRPr lang="ko-KR" altLang="en-US" dirty="0"/>
          </a:p>
          <a:p>
            <a:pPr marL="0" indent="0">
              <a:buNone/>
            </a:pPr>
            <a:endParaRPr lang="ko-KR" altLang="en-US" dirty="0"/>
          </a:p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조건이 참인 동안 반복</a:t>
            </a:r>
          </a:p>
        </p:txBody>
      </p:sp>
      <p:sp>
        <p:nvSpPr>
          <p:cNvPr id="118" name="Google Shape;118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(3)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반복문</a:t>
            </a:r>
            <a:r>
              <a:rPr lang="en-US" altLang="ko-KR" dirty="0"/>
              <a:t>(for/while)</a:t>
            </a:r>
            <a:endParaRPr dirty="0"/>
          </a:p>
        </p:txBody>
      </p:sp>
      <p:sp>
        <p:nvSpPr>
          <p:cNvPr id="121" name="Google Shape;121;p10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20" name="Google Shape;120;p10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16</a:t>
            </a:fld>
            <a:endParaRPr/>
          </a:p>
        </p:txBody>
      </p:sp>
      <p:graphicFrame>
        <p:nvGraphicFramePr>
          <p:cNvPr id="122" name="Google Shape;122;p10"/>
          <p:cNvGraphicFramePr/>
          <p:nvPr>
            <p:extLst>
              <p:ext uri="{D42A27DB-BD31-4B8C-83A1-F6EECF244321}">
                <p14:modId xmlns:p14="http://schemas.microsoft.com/office/powerpoint/2010/main" val="510736282"/>
              </p:ext>
            </p:extLst>
          </p:nvPr>
        </p:nvGraphicFramePr>
        <p:xfrm>
          <a:off x="1547664" y="2564904"/>
          <a:ext cx="4305300" cy="7086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30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for</a:t>
                      </a:r>
                      <a:r>
                        <a:rPr lang="en-US" sz="1400" b="0" u="none" strike="noStrike" cap="none" dirty="0"/>
                        <a:t> (</a:t>
                      </a:r>
                      <a:r>
                        <a:rPr lang="en-US" sz="1400" b="1" u="none" strike="noStrike" cap="none" dirty="0"/>
                        <a:t>let</a:t>
                      </a:r>
                      <a:r>
                        <a:rPr lang="en-US" sz="1400" b="0" u="none" strike="noStrike" cap="none" dirty="0"/>
                        <a:t> i = 0; i &lt; 5; i++) {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console.log(i);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" name="Google Shape;123;p10"/>
          <p:cNvGraphicFramePr/>
          <p:nvPr>
            <p:extLst>
              <p:ext uri="{D42A27DB-BD31-4B8C-83A1-F6EECF244321}">
                <p14:modId xmlns:p14="http://schemas.microsoft.com/office/powerpoint/2010/main" val="3517531087"/>
              </p:ext>
            </p:extLst>
          </p:nvPr>
        </p:nvGraphicFramePr>
        <p:xfrm>
          <a:off x="1541493" y="4437112"/>
          <a:ext cx="4305300" cy="134874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30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030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let</a:t>
                      </a:r>
                      <a:r>
                        <a:rPr lang="en-US" sz="1400" b="0" u="none" strike="noStrike" cap="none" dirty="0"/>
                        <a:t> count = 3;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while</a:t>
                      </a:r>
                      <a:r>
                        <a:rPr lang="en-US" sz="1400" b="0" u="none" strike="noStrike" cap="none" dirty="0"/>
                        <a:t> (count &gt; 0)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{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console.log(count);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count--;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E8A8D-AC48-AECF-208D-0C5925964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52525"/>
            <a:ext cx="8784976" cy="501967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DOM(Document Object Model)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문서를 프로그래밍적으로 제어할 수 있도록 하는 트리 구조이다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자바스크립트를 사용하여 </a:t>
            </a:r>
            <a:r>
              <a:rPr lang="en-US" altLang="ko-KR" dirty="0"/>
              <a:t>HTML </a:t>
            </a:r>
            <a:r>
              <a:rPr lang="ko-KR" altLang="en-US" dirty="0"/>
              <a:t>요소를 추가</a:t>
            </a:r>
            <a:r>
              <a:rPr lang="en-US" altLang="ko-KR" dirty="0"/>
              <a:t>, </a:t>
            </a:r>
            <a:r>
              <a:rPr lang="ko-KR" altLang="en-US" dirty="0"/>
              <a:t>삭제</a:t>
            </a:r>
            <a:r>
              <a:rPr lang="en-US" altLang="ko-KR" dirty="0"/>
              <a:t>, </a:t>
            </a:r>
            <a:r>
              <a:rPr lang="ko-KR" altLang="en-US" dirty="0"/>
              <a:t>변경 가능하다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lvl="1"/>
            <a:r>
              <a:rPr lang="en-US" altLang="ko-KR" dirty="0"/>
              <a:t>document.querySelector </a:t>
            </a:r>
          </a:p>
          <a:p>
            <a:pPr lvl="2"/>
            <a:r>
              <a:rPr lang="en-US" altLang="ko-KR" dirty="0"/>
              <a:t>CSS </a:t>
            </a:r>
            <a:r>
              <a:rPr lang="ko-KR" altLang="en-US" dirty="0"/>
              <a:t>선택자를 사용해 첫번째로 일치하는 요소를 선택한다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document.getElementById </a:t>
            </a:r>
          </a:p>
          <a:p>
            <a:pPr lvl="2"/>
            <a:r>
              <a:rPr lang="ko-KR" altLang="en-US" dirty="0"/>
              <a:t>특정 </a:t>
            </a:r>
            <a:r>
              <a:rPr lang="en-US" altLang="ko-KR" dirty="0"/>
              <a:t>ID</a:t>
            </a:r>
            <a:r>
              <a:rPr lang="ko-KR" altLang="en-US" dirty="0"/>
              <a:t>를 가진 요소를 선택한다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document.querySelectorAll </a:t>
            </a:r>
          </a:p>
          <a:p>
            <a:pPr lvl="2"/>
            <a:r>
              <a:rPr lang="ko-KR" altLang="en-US" dirty="0"/>
              <a:t>일치하는 모든 요소를 </a:t>
            </a:r>
            <a:r>
              <a:rPr lang="en-US" altLang="ko-KR" dirty="0"/>
              <a:t>NodeList</a:t>
            </a:r>
            <a:r>
              <a:rPr lang="ko-KR" altLang="en-US" dirty="0"/>
              <a:t>로 반환한다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document.getElementsByClassName </a:t>
            </a:r>
          </a:p>
          <a:p>
            <a:pPr lvl="2"/>
            <a:r>
              <a:rPr lang="ko-KR" altLang="en-US" dirty="0"/>
              <a:t>특정 클래스 이름을 가진 요소를 </a:t>
            </a:r>
            <a:r>
              <a:rPr lang="en-US" altLang="ko-KR" dirty="0"/>
              <a:t>HTMLCollection</a:t>
            </a:r>
            <a:r>
              <a:rPr lang="ko-KR" altLang="en-US" dirty="0"/>
              <a:t>으로 반환한다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document.getElementsByTagName </a:t>
            </a:r>
          </a:p>
          <a:p>
            <a:pPr lvl="2"/>
            <a:r>
              <a:rPr lang="ko-KR" altLang="en-US" dirty="0"/>
              <a:t>특정 태그 이름을 가진 요소를 </a:t>
            </a:r>
            <a:r>
              <a:rPr lang="en-US" altLang="ko-KR" dirty="0"/>
              <a:t>HTMLCollection</a:t>
            </a:r>
            <a:r>
              <a:rPr lang="ko-KR" altLang="en-US" dirty="0"/>
              <a:t>으로 반환한다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28" name="Google Shape;128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DOM 조작</a:t>
            </a:r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30" name="Google Shape;130;p11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17</a:t>
            </a:fld>
            <a:endParaRPr/>
          </a:p>
        </p:txBody>
      </p:sp>
      <p:graphicFrame>
        <p:nvGraphicFramePr>
          <p:cNvPr id="132" name="Google Shape;132;p11"/>
          <p:cNvGraphicFramePr/>
          <p:nvPr>
            <p:extLst>
              <p:ext uri="{D42A27DB-BD31-4B8C-83A1-F6EECF244321}">
                <p14:modId xmlns:p14="http://schemas.microsoft.com/office/powerpoint/2010/main" val="3282010268"/>
              </p:ext>
            </p:extLst>
          </p:nvPr>
        </p:nvGraphicFramePr>
        <p:xfrm>
          <a:off x="1331640" y="2276872"/>
          <a:ext cx="6027191" cy="3124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2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3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const</a:t>
                      </a:r>
                      <a:r>
                        <a:rPr lang="en-US" sz="1600" b="0" u="none" strike="noStrike" cap="none" dirty="0"/>
                        <a:t> element = document.querySelector("</a:t>
                      </a:r>
                      <a:r>
                        <a:rPr lang="en-US" sz="1600" b="1" u="none" strike="noStrike" cap="none" dirty="0"/>
                        <a:t>#myElement</a:t>
                      </a:r>
                      <a:r>
                        <a:rPr lang="en-US" sz="1600" b="0" u="none" strike="noStrike" cap="none" dirty="0"/>
                        <a:t>");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DOM 수정</a:t>
            </a:r>
            <a:endParaRPr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38CDE6C-C4B7-33AE-E528-BDA01A457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519988" cy="5019675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요소 생성 및 추가</a:t>
            </a:r>
          </a:p>
          <a:p>
            <a:endParaRPr lang="ko-KR" altLang="en-US" sz="1600" dirty="0"/>
          </a:p>
          <a:p>
            <a:pPr marL="0" indent="0">
              <a:buNone/>
            </a:pPr>
            <a:endParaRPr lang="ko-KR" altLang="en-US" sz="1600" dirty="0"/>
          </a:p>
          <a:p>
            <a:endParaRPr lang="en-US" altLang="ko-KR" sz="1600" dirty="0"/>
          </a:p>
          <a:p>
            <a:pPr lvl="1"/>
            <a:r>
              <a:rPr lang="en-US" altLang="ko-KR" sz="1400" dirty="0"/>
              <a:t>document.createElement: </a:t>
            </a:r>
            <a:r>
              <a:rPr lang="ko-KR" altLang="en-US" sz="1400" dirty="0"/>
              <a:t>새로운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생성한다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element.appendChild: </a:t>
            </a:r>
            <a:r>
              <a:rPr lang="ko-KR" altLang="en-US" sz="1400" dirty="0"/>
              <a:t>부모 요소에 자식 요소를 추가한다</a:t>
            </a:r>
            <a:r>
              <a:rPr lang="en-US" altLang="ko-KR" sz="1400" dirty="0"/>
              <a:t>.</a:t>
            </a:r>
          </a:p>
          <a:p>
            <a:r>
              <a:rPr lang="ko-KR" altLang="en-US" sz="1600" dirty="0"/>
              <a:t>요소 삭제</a:t>
            </a:r>
          </a:p>
          <a:p>
            <a:pPr marL="0" indent="0">
              <a:buNone/>
            </a:pPr>
            <a:endParaRPr lang="ko-KR" altLang="en-US" sz="1600" dirty="0"/>
          </a:p>
          <a:p>
            <a:endParaRPr lang="en-US" altLang="ko-KR" sz="1600" dirty="0"/>
          </a:p>
          <a:p>
            <a:pPr lvl="1"/>
            <a:r>
              <a:rPr lang="en-US" altLang="ko-KR" sz="1400" dirty="0"/>
              <a:t>parentNode.removeChild: </a:t>
            </a:r>
            <a:r>
              <a:rPr lang="ko-KR" altLang="en-US" sz="1400" dirty="0"/>
              <a:t>부모 요소에서 자식 요소를 제거한다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139" name="Google Shape;139;p12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18</a:t>
            </a:fld>
            <a:endParaRPr/>
          </a:p>
        </p:txBody>
      </p:sp>
      <p:sp>
        <p:nvSpPr>
          <p:cNvPr id="140" name="Google Shape;140;p12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graphicFrame>
        <p:nvGraphicFramePr>
          <p:cNvPr id="141" name="Google Shape;141;p12"/>
          <p:cNvGraphicFramePr/>
          <p:nvPr>
            <p:extLst>
              <p:ext uri="{D42A27DB-BD31-4B8C-83A1-F6EECF244321}">
                <p14:modId xmlns:p14="http://schemas.microsoft.com/office/powerpoint/2010/main" val="1865408357"/>
              </p:ext>
            </p:extLst>
          </p:nvPr>
        </p:nvGraphicFramePr>
        <p:xfrm>
          <a:off x="896938" y="1556792"/>
          <a:ext cx="7772400" cy="74122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41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const</a:t>
                      </a:r>
                      <a:r>
                        <a:rPr lang="en-US" sz="1400" b="0" u="none" strike="noStrike" cap="none" dirty="0"/>
                        <a:t> newElement = document.createElement("div");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newElement.textContent = "</a:t>
                      </a:r>
                      <a:r>
                        <a:rPr lang="en-US" sz="1400" b="0" u="none" strike="noStrike" cap="none" dirty="0" err="1"/>
                        <a:t>새로운</a:t>
                      </a:r>
                      <a:r>
                        <a:rPr lang="en-US" sz="1400" b="0" u="none" strike="noStrike" cap="none" dirty="0"/>
                        <a:t> </a:t>
                      </a:r>
                      <a:r>
                        <a:rPr lang="en-US" sz="1400" b="0" u="none" strike="noStrike" cap="none" dirty="0" err="1"/>
                        <a:t>요소</a:t>
                      </a:r>
                      <a:r>
                        <a:rPr lang="en-US" sz="1400" b="0" u="none" strike="noStrike" cap="none" dirty="0"/>
                        <a:t>";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document.body.appendChild(newElement);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" name="Google Shape;142;p12"/>
          <p:cNvGraphicFramePr/>
          <p:nvPr>
            <p:extLst>
              <p:ext uri="{D42A27DB-BD31-4B8C-83A1-F6EECF244321}">
                <p14:modId xmlns:p14="http://schemas.microsoft.com/office/powerpoint/2010/main" val="3384062846"/>
              </p:ext>
            </p:extLst>
          </p:nvPr>
        </p:nvGraphicFramePr>
        <p:xfrm>
          <a:off x="901017" y="3573016"/>
          <a:ext cx="7884000" cy="50292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78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29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000000"/>
                          </a:solidFill>
                        </a:rPr>
                        <a:t>const</a:t>
                      </a:r>
                      <a:r>
                        <a:rPr lang="en-US" sz="1400" b="0" u="none" strike="noStrike" cap="none" dirty="0">
                          <a:solidFill>
                            <a:srgbClr val="000000"/>
                          </a:solidFill>
                        </a:rPr>
                        <a:t> elementToRemove = document.getElementById("removeMe");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>
                          <a:solidFill>
                            <a:srgbClr val="000000"/>
                          </a:solidFill>
                        </a:rPr>
                        <a:t>elementToRemove.parentNode.removeChild(elementToRemove);</a:t>
                      </a:r>
                      <a:endParaRPr sz="1400" b="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68588" marR="68588" marT="34294" marB="34294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916419-A2D6-ECFB-3C3D-6A539F693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850" cy="5019675"/>
          </a:xfrm>
        </p:spPr>
        <p:txBody>
          <a:bodyPr>
            <a:normAutofit/>
          </a:bodyPr>
          <a:lstStyle/>
          <a:p>
            <a:r>
              <a:rPr lang="ko-KR" altLang="en-US" sz="1200" dirty="0"/>
              <a:t>이벤트 핸들링</a:t>
            </a:r>
          </a:p>
          <a:p>
            <a:endParaRPr lang="ko-KR" altLang="en-US" sz="1200" dirty="0"/>
          </a:p>
          <a:p>
            <a:endParaRPr lang="ko-KR" altLang="en-US" sz="1200" dirty="0"/>
          </a:p>
          <a:p>
            <a:endParaRPr lang="ko-KR" altLang="en-US" sz="1200" dirty="0"/>
          </a:p>
          <a:p>
            <a:pPr marL="0" indent="0">
              <a:buNone/>
            </a:pPr>
            <a:endParaRPr lang="ko-KR" altLang="en-US" sz="1200" dirty="0"/>
          </a:p>
          <a:p>
            <a:r>
              <a:rPr lang="ko-KR" altLang="en-US" sz="1200" b="1" dirty="0"/>
              <a:t>이벤트 리스너를 통해 사용자의 동작에 반응하는 코드를 작성할 수 있습니다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b="1" dirty="0"/>
              <a:t>addEventListener: </a:t>
            </a:r>
            <a:r>
              <a:rPr lang="ko-KR" altLang="en-US" sz="1200" b="1" dirty="0"/>
              <a:t>요소에 이벤트를 등록합니다</a:t>
            </a:r>
            <a:r>
              <a:rPr lang="en-US" altLang="ko-KR" sz="1200" b="1" dirty="0"/>
              <a:t>.</a:t>
            </a:r>
          </a:p>
          <a:p>
            <a:pPr lvl="1"/>
            <a:r>
              <a:rPr lang="ko-KR" altLang="en-US" sz="1200" dirty="0"/>
              <a:t>다양한 이벤트 종류</a:t>
            </a:r>
          </a:p>
          <a:p>
            <a:pPr lvl="1"/>
            <a:r>
              <a:rPr lang="ko-KR" altLang="en-US" sz="1200" dirty="0"/>
              <a:t>클릭 이벤트 </a:t>
            </a:r>
            <a:r>
              <a:rPr lang="en-US" altLang="ko-KR" sz="1200" dirty="0"/>
              <a:t>: click</a:t>
            </a:r>
          </a:p>
          <a:p>
            <a:pPr lvl="1"/>
            <a:r>
              <a:rPr lang="ko-KR" altLang="en-US" sz="1200" dirty="0"/>
              <a:t>키보드 입력 이벤트 </a:t>
            </a:r>
            <a:r>
              <a:rPr lang="en-US" altLang="ko-KR" sz="1200" dirty="0"/>
              <a:t>: keydown, keyup</a:t>
            </a:r>
          </a:p>
          <a:p>
            <a:pPr lvl="1"/>
            <a:r>
              <a:rPr lang="ko-KR" altLang="en-US" sz="1200" dirty="0"/>
              <a:t>마우스 이벤트 </a:t>
            </a:r>
            <a:r>
              <a:rPr lang="en-US" altLang="ko-KR" sz="1200" dirty="0"/>
              <a:t>: mousemove, mouseover, mouseout</a:t>
            </a:r>
          </a:p>
          <a:p>
            <a:pPr lvl="1"/>
            <a:r>
              <a:rPr lang="ko-KR" altLang="en-US" sz="1200" dirty="0"/>
              <a:t>폼 이벤트 </a:t>
            </a:r>
            <a:r>
              <a:rPr lang="en-US" altLang="ko-KR" sz="1200" dirty="0"/>
              <a:t>: submit, change</a:t>
            </a:r>
          </a:p>
          <a:p>
            <a:r>
              <a:rPr lang="ko-KR" altLang="en-US" sz="1200" b="1" dirty="0"/>
              <a:t>이벤트 전파</a:t>
            </a:r>
          </a:p>
          <a:p>
            <a:pPr lvl="1"/>
            <a:r>
              <a:rPr lang="ko-KR" altLang="en-US" sz="1200" dirty="0"/>
              <a:t>캡처링 </a:t>
            </a:r>
            <a:r>
              <a:rPr lang="en-US" altLang="ko-KR" sz="1200" dirty="0"/>
              <a:t>: </a:t>
            </a:r>
            <a:r>
              <a:rPr lang="ko-KR" altLang="en-US" sz="1200" dirty="0"/>
              <a:t>이벤트가 상위 요소에서 하위 요소로 전달된다</a:t>
            </a:r>
            <a:r>
              <a:rPr lang="en-US" altLang="ko-KR" sz="1200" dirty="0"/>
              <a:t>.</a:t>
            </a:r>
          </a:p>
          <a:p>
            <a:pPr lvl="1"/>
            <a:r>
              <a:rPr lang="ko-KR" altLang="en-US" sz="1200" dirty="0"/>
              <a:t>버블링 </a:t>
            </a:r>
            <a:r>
              <a:rPr lang="en-US" altLang="ko-KR" sz="1200" dirty="0"/>
              <a:t>: </a:t>
            </a:r>
            <a:r>
              <a:rPr lang="ko-KR" altLang="en-US" sz="1200" dirty="0"/>
              <a:t>이벤트가 하위 요소에서 상위 요소로 전달된다</a:t>
            </a:r>
            <a:r>
              <a:rPr lang="en-US" altLang="ko-KR" sz="1200" dirty="0"/>
              <a:t>.</a:t>
            </a:r>
          </a:p>
          <a:p>
            <a:endParaRPr lang="en-US" altLang="ko-KR" sz="1700" dirty="0"/>
          </a:p>
          <a:p>
            <a:endParaRPr lang="ko-KR" altLang="en-US" dirty="0"/>
          </a:p>
        </p:txBody>
      </p:sp>
      <p:sp>
        <p:nvSpPr>
          <p:cNvPr id="147" name="Google Shape;147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이벤트 핸들링</a:t>
            </a:r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19</a:t>
            </a:fld>
            <a:endParaRPr/>
          </a:p>
        </p:txBody>
      </p:sp>
      <p:sp>
        <p:nvSpPr>
          <p:cNvPr id="151" name="Google Shape;151;p13"/>
          <p:cNvSpPr txBox="1"/>
          <p:nvPr/>
        </p:nvSpPr>
        <p:spPr>
          <a:xfrm>
            <a:off x="897255" y="1412875"/>
            <a:ext cx="5707380" cy="1054735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wrap="square" lIns="68580" tIns="34290" rIns="68580" bIns="3429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sz="16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const button = document.querySelector("#myButton");</a:t>
            </a:r>
            <a:endParaRPr lang="ko-KR" altLang="en-US" sz="16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>
              <a:buFontTx/>
              <a:buNone/>
            </a:pPr>
            <a:r>
              <a:rPr lang="en-US" sz="16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button.addEventListener("click", function() {    </a:t>
            </a:r>
            <a:endParaRPr lang="ko-KR" altLang="en-US" sz="16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>
              <a:buFontTx/>
              <a:buNone/>
            </a:pPr>
            <a:r>
              <a:rPr lang="en-US" sz="16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  alert("버튼이 클릭되었습니다!");</a:t>
            </a:r>
            <a:endParaRPr lang="ko-KR" altLang="en-US" sz="16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>
              <a:buFontTx/>
              <a:buNone/>
            </a:pPr>
            <a:r>
              <a:rPr lang="en-US" sz="16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});</a:t>
            </a:r>
            <a:endParaRPr lang="ko-KR" altLang="en-US" sz="16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</p:txBody>
      </p:sp>
      <p:graphicFrame>
        <p:nvGraphicFramePr>
          <p:cNvPr id="4" name="Google Shape;160;p14">
            <a:extLst>
              <a:ext uri="{FF2B5EF4-FFF2-40B4-BE49-F238E27FC236}">
                <a16:creationId xmlns:a16="http://schemas.microsoft.com/office/drawing/2014/main" id="{7A081F93-DE36-4010-FDA8-E5463FE8F5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2466915"/>
              </p:ext>
            </p:extLst>
          </p:nvPr>
        </p:nvGraphicFramePr>
        <p:xfrm>
          <a:off x="835416" y="5147144"/>
          <a:ext cx="5830106" cy="11353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830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9154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document.querySelector("#child").addEventListener("click", (event) =&gt;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event.stopPropagation(); // </a:t>
                      </a:r>
                      <a:r>
                        <a:rPr lang="en-US" sz="1400" b="0" u="none" strike="noStrike" cap="none" dirty="0" err="1"/>
                        <a:t>이벤트</a:t>
                      </a:r>
                      <a:r>
                        <a:rPr lang="en-US" sz="1400" b="0" u="none" strike="noStrike" cap="none" dirty="0"/>
                        <a:t> </a:t>
                      </a:r>
                      <a:r>
                        <a:rPr lang="en-US" sz="1400" b="0" u="none" strike="noStrike" cap="none" dirty="0" err="1"/>
                        <a:t>전파</a:t>
                      </a:r>
                      <a:r>
                        <a:rPr lang="en-US" sz="1400" b="0" u="none" strike="noStrike" cap="none" dirty="0"/>
                        <a:t> </a:t>
                      </a:r>
                      <a:r>
                        <a:rPr lang="en-US" sz="1400" b="0" u="none" strike="noStrike" cap="none" dirty="0" err="1"/>
                        <a:t>중단</a:t>
                      </a:r>
                      <a:r>
                        <a:rPr lang="en-US" sz="1400" b="0" u="none" strike="noStrike" cap="none" dirty="0"/>
                        <a:t>    </a:t>
                      </a:r>
                      <a:endParaRPr sz="1400" b="0" u="none" strike="noStrike" cap="none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console.log("Child clicked");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2" name="잉크 1"/>
              <p14:cNvContentPartPr/>
              <p14:nvPr/>
            </p14:nvContentPartPr>
            <p14:xfrm>
              <a:off x="5126355" y="4366260"/>
              <a:ext cx="720090" cy="760095"/>
            </p14:xfrm>
          </p:contentPart>
        </mc:Choice>
        <mc:Fallback>
          <p:pic>
            <p:nvPicPr>
              <p:cNvPr id="152" name="잉크 1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26355" y="4366260"/>
                <a:ext cx="720090" cy="76009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C950ED5-438A-251E-B92C-E4109972E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/>
          <a:lstStyle/>
          <a:p>
            <a:r>
              <a:rPr lang="ko-KR" altLang="en-US" dirty="0"/>
              <a:t>문제 </a:t>
            </a:r>
            <a:r>
              <a:rPr lang="en-US" altLang="ko-KR" dirty="0"/>
              <a:t>1 : </a:t>
            </a:r>
            <a:r>
              <a:rPr lang="ko-KR" altLang="en-US" dirty="0"/>
              <a:t>계산기 프로그램 만들기</a:t>
            </a:r>
          </a:p>
          <a:p>
            <a:pPr lvl="1"/>
            <a:r>
              <a:rPr lang="en-US" altLang="ko-KR" dirty="0"/>
              <a:t>HTML</a:t>
            </a:r>
            <a:r>
              <a:rPr lang="ko-KR" altLang="en-US" dirty="0"/>
              <a:t>로 버튼과 입력 필드 구성 후 계산 로직 구현해본다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operator </a:t>
            </a:r>
            <a:r>
              <a:rPr lang="ko-KR" altLang="en-US" dirty="0"/>
              <a:t>부분은 선택박스로 만들어서 사용해본다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실행결과</a:t>
            </a:r>
          </a:p>
          <a:p>
            <a:pPr lvl="1"/>
            <a:r>
              <a:rPr lang="ko-KR" altLang="en-US" dirty="0"/>
              <a:t>사용자 입력 </a:t>
            </a:r>
            <a:r>
              <a:rPr lang="en-US" altLang="ko-KR" dirty="0"/>
              <a:t>: num1 = 15, num2 = 10, operator = x</a:t>
            </a:r>
          </a:p>
          <a:p>
            <a:pPr lvl="1"/>
            <a:r>
              <a:rPr lang="ko-KR" altLang="en-US" dirty="0"/>
              <a:t>출력 </a:t>
            </a:r>
            <a:r>
              <a:rPr lang="en-US" altLang="ko-KR" dirty="0"/>
              <a:t>: Result : 150</a:t>
            </a:r>
          </a:p>
          <a:p>
            <a:endParaRPr lang="ko-KR" altLang="en-US" dirty="0"/>
          </a:p>
        </p:txBody>
      </p:sp>
      <p:sp>
        <p:nvSpPr>
          <p:cNvPr id="167" name="Google Shape;167;p15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20</a:t>
            </a:fld>
            <a:endParaRPr/>
          </a:p>
        </p:txBody>
      </p:sp>
      <p:sp>
        <p:nvSpPr>
          <p:cNvPr id="168" name="Google Shape;168;p15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69" name="텍스트 상자 1"/>
          <p:cNvSpPr txBox="1">
            <a:spLocks/>
          </p:cNvSpPr>
          <p:nvPr/>
        </p:nvSpPr>
        <p:spPr>
          <a:xfrm rot="0">
            <a:off x="1996440" y="4671060"/>
            <a:ext cx="38506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G</a:t>
            </a:r>
            <a:r>
              <a:rPr lang="ko-KR" sz="1800">
                <a:latin typeface="맑은 고딕" charset="0"/>
                <a:ea typeface="맑은 고딕" charset="0"/>
              </a:rPr>
              <a:t>ot</a:t>
            </a:r>
            <a:r>
              <a:rPr lang="ko-KR" sz="1800">
                <a:latin typeface="맑은 고딕" charset="0"/>
                <a:ea typeface="맑은 고딕" charset="0"/>
              </a:rPr>
              <a:t>t</a:t>
            </a:r>
            <a:r>
              <a:rPr lang="ko-KR" sz="1800">
                <a:latin typeface="맑은 고딕" charset="0"/>
                <a:ea typeface="맑은 고딕" charset="0"/>
              </a:rPr>
              <a:t>a </a:t>
            </a:r>
            <a:r>
              <a:rPr lang="ko-KR" sz="1800">
                <a:latin typeface="맑은 고딕" charset="0"/>
                <a:ea typeface="맑은 고딕" charset="0"/>
              </a:rPr>
              <a:t>k</a:t>
            </a:r>
            <a:r>
              <a:rPr lang="ko-KR" sz="1800">
                <a:latin typeface="맑은 고딕" charset="0"/>
                <a:ea typeface="맑은 고딕" charset="0"/>
              </a:rPr>
              <a:t>now : onclick</a:t>
            </a:r>
            <a:r>
              <a:rPr lang="ko-KR" sz="1800">
                <a:latin typeface="맑은 고딕" charset="0"/>
                <a:ea typeface="맑은 고딕" charset="0"/>
              </a:rPr>
              <a:t>,</a:t>
            </a:r>
            <a:r>
              <a:rPr lang="ko-KR" sz="1800">
                <a:latin typeface="맑은 고딕" charset="0"/>
                <a:ea typeface="맑은 고딕" charset="0"/>
              </a:rPr>
              <a:t> se</a:t>
            </a:r>
            <a:r>
              <a:rPr lang="ko-KR" sz="1800">
                <a:latin typeface="맑은 고딕" charset="0"/>
                <a:ea typeface="맑은 고딕" charset="0"/>
              </a:rPr>
              <a:t>l</a:t>
            </a:r>
            <a:r>
              <a:rPr lang="ko-KR" sz="1800">
                <a:latin typeface="맑은 고딕" charset="0"/>
                <a:ea typeface="맑은 고딕" charset="0"/>
              </a:rPr>
              <a:t>e</a:t>
            </a:r>
            <a:r>
              <a:rPr lang="ko-KR" sz="1800">
                <a:latin typeface="맑은 고딕" charset="0"/>
                <a:ea typeface="맑은 고딕" charset="0"/>
              </a:rPr>
              <a:t>c</a:t>
            </a:r>
            <a:r>
              <a:rPr lang="ko-KR" sz="1800">
                <a:latin typeface="맑은 고딕" charset="0"/>
                <a:ea typeface="맑은 고딕" charset="0"/>
              </a:rPr>
              <a:t>t, opti</a:t>
            </a:r>
            <a:r>
              <a:rPr lang="ko-KR" sz="1800">
                <a:latin typeface="맑은 고딕" charset="0"/>
                <a:ea typeface="맑은 고딕" charset="0"/>
              </a:rPr>
              <a:t>o</a:t>
            </a:r>
            <a:r>
              <a:rPr lang="ko-KR" sz="1800">
                <a:latin typeface="맑은 고딕" charset="0"/>
                <a:ea typeface="맑은 고딕" charset="0"/>
              </a:rPr>
              <a:t>n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0" name="텍스트 상자 2"/>
          <p:cNvSpPr txBox="1">
            <a:spLocks/>
          </p:cNvSpPr>
          <p:nvPr/>
        </p:nvSpPr>
        <p:spPr>
          <a:xfrm rot="0">
            <a:off x="1950720" y="5554980"/>
            <a:ext cx="31648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이런거 </a:t>
            </a:r>
            <a:r>
              <a:rPr lang="ko-KR" sz="1800">
                <a:latin typeface="맑은 고딕" charset="0"/>
                <a:ea typeface="맑은 고딕" charset="0"/>
              </a:rPr>
              <a:t>기말 실기시험에 나옴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BD1052B-A25B-F65A-B9F5-4FC8D41B5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문제 </a:t>
            </a:r>
            <a:r>
              <a:rPr lang="en-US" altLang="ko-KR" dirty="0"/>
              <a:t>2 : TODO_LIST </a:t>
            </a:r>
            <a:r>
              <a:rPr lang="ko-KR" altLang="en-US" dirty="0"/>
              <a:t>만들기</a:t>
            </a:r>
          </a:p>
          <a:p>
            <a:pPr lvl="1"/>
            <a:r>
              <a:rPr lang="ko-KR" altLang="en-US" dirty="0"/>
              <a:t>사용자 입력을 받아 리스트에 추가 및 삭제 기능 구현해본다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실행 결과 </a:t>
            </a:r>
          </a:p>
          <a:p>
            <a:pPr lvl="1"/>
            <a:r>
              <a:rPr lang="ko-KR" altLang="en-US" dirty="0"/>
              <a:t>사용자 입력 </a:t>
            </a:r>
            <a:r>
              <a:rPr lang="en-US" altLang="ko-KR" dirty="0"/>
              <a:t>: "Study JavaScript"</a:t>
            </a:r>
          </a:p>
          <a:p>
            <a:pPr lvl="1"/>
            <a:r>
              <a:rPr lang="ko-KR" altLang="en-US" dirty="0"/>
              <a:t>리스트 추가 </a:t>
            </a:r>
            <a:r>
              <a:rPr lang="en-US" altLang="ko-KR" dirty="0"/>
              <a:t>: Study JavaScript </a:t>
            </a:r>
            <a:r>
              <a:rPr lang="ko-KR" altLang="en-US" dirty="0"/>
              <a:t>항목 생성이 생성된다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75" name="Google Shape;175;p16"/>
          <p:cNvSpPr txBox="1"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21</a:t>
            </a:fld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184" name="Google Shape;184;p17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83" name="Google Shape;183;p17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22</a:t>
            </a:fld>
            <a:endParaRPr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D0310AA-BC3F-78B7-E8DD-822B80B7F3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문제 </a:t>
            </a:r>
            <a:r>
              <a:rPr lang="en-US" altLang="ko-KR" dirty="0"/>
              <a:t>3 : </a:t>
            </a:r>
            <a:r>
              <a:rPr lang="ko-KR" altLang="en-US" dirty="0"/>
              <a:t>시계 만들기</a:t>
            </a:r>
          </a:p>
          <a:p>
            <a:pPr lvl="1"/>
            <a:r>
              <a:rPr lang="ko-KR" altLang="en-US" dirty="0"/>
              <a:t>현재 시간을 실시간으로 업데이트하여 화면에 표시하는 프로그램을 만들어본다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실행 결과 </a:t>
            </a:r>
          </a:p>
          <a:p>
            <a:pPr lvl="1"/>
            <a:r>
              <a:rPr lang="ko-KR" altLang="en-US" dirty="0"/>
              <a:t>출력 </a:t>
            </a:r>
            <a:r>
              <a:rPr lang="en-US" altLang="ko-KR" dirty="0"/>
              <a:t>: </a:t>
            </a:r>
            <a:r>
              <a:rPr lang="ko-KR" altLang="en-US" dirty="0"/>
              <a:t>현재 시간</a:t>
            </a:r>
            <a:r>
              <a:rPr lang="en-US" altLang="ko-KR" dirty="0"/>
              <a:t>: 11:30:19</a:t>
            </a: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/>
              <a:t>프로그램 만들기</a:t>
            </a:r>
            <a:endParaRPr/>
          </a:p>
        </p:txBody>
      </p:sp>
      <p:sp>
        <p:nvSpPr>
          <p:cNvPr id="190" name="Google Shape;190;p18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rmAutofit/>
          </a:bodyPr>
          <a:lstStyle/>
          <a:p>
            <a:pPr marL="257175" indent="-257175"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문제 4 : 퀴즈 게임 만들기</a:t>
            </a:r>
            <a:endParaRPr/>
          </a:p>
          <a:p>
            <a:pPr marL="557213" lvl="1" indent="-214313">
              <a:spcBef>
                <a:spcPts val="300"/>
              </a:spcBef>
              <a:spcAft>
                <a:spcPts val="0"/>
              </a:spcAft>
              <a:buSzPts val="2000"/>
              <a:buChar char="⬥"/>
            </a:pPr>
            <a:r>
              <a:rPr lang="en-US"/>
              <a:t>퀴즈 질문 및 응답에 따라서 점수로 계산하도록 한다.</a:t>
            </a:r>
            <a:endParaRPr/>
          </a:p>
          <a:p>
            <a:pPr marL="257175" indent="-257175">
              <a:spcBef>
                <a:spcPts val="33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실행 결과 </a:t>
            </a:r>
            <a:endParaRPr/>
          </a:p>
          <a:p>
            <a:pPr marL="557213" lvl="1" indent="-214313">
              <a:spcBef>
                <a:spcPts val="300"/>
              </a:spcBef>
              <a:spcAft>
                <a:spcPts val="0"/>
              </a:spcAft>
              <a:buSzPts val="2000"/>
              <a:buChar char="⬥"/>
            </a:pPr>
            <a:r>
              <a:rPr lang="en-US"/>
              <a:t>?</a:t>
            </a:r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91" name="Google Shape;191;p18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23</Pages>
  <Paragraphs>333</Paragraphs>
  <Words>2079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2026-03-04T03:26:08Z</dcterms:modified>
</cp:coreProperties>
</file>
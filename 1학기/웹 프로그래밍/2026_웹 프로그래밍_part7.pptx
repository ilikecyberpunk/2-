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Default Extension="emf" ContentType="image/x-emf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4" r:id="rId5"/>
  </p:sldMasterIdLst>
  <p:notesMasterIdLst>
    <p:notesMasterId r:id="rId7"/>
  </p:notesMasterIdLst>
  <p:sldIdLst>
    <p:sldId id="287" r:id="rId9"/>
    <p:sldId id="289" r:id="rId10"/>
    <p:sldId id="290" r:id="rId11"/>
    <p:sldId id="266" r:id="rId12"/>
    <p:sldId id="267" r:id="rId13"/>
    <p:sldId id="268" r:id="rId15"/>
    <p:sldId id="270" r:id="rId17"/>
    <p:sldId id="288" r:id="rId19"/>
  </p:sldIdLst>
  <p:sldSz cx="9144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0">
          <p15:clr>
            <a:srgbClr val="A4A3A4"/>
          </p15:clr>
        </p15:guide>
        <p15:guide id="2" pos="2879" userDrawn="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935" autoAdjust="0"/>
    <p:restoredTop sz="94660"/>
  </p:normalViewPr>
  <p:slideViewPr>
    <p:cSldViewPr snapToGrid="1" snapToObjects="1">
      <p:cViewPr varScale="1">
        <p:scale>
          <a:sx n="97" d="100"/>
          <a:sy n="97" d="100"/>
        </p:scale>
        <p:origin x="1986" y="306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5" Type="http://schemas.openxmlformats.org/officeDocument/2006/relationships/slideMaster" Target="slideMasters/slideMaster1.xml"></Relationship><Relationship Id="rId6" Type="http://schemas.openxmlformats.org/officeDocument/2006/relationships/theme" Target="theme/theme1.xml"></Relationship><Relationship Id="rId7" Type="http://schemas.openxmlformats.org/officeDocument/2006/relationships/notesMaster" Target="notesMasters/notesMaster1.xml"></Relationship><Relationship Id="rId9" Type="http://schemas.openxmlformats.org/officeDocument/2006/relationships/slide" Target="slides/slide1.xml"></Relationship><Relationship Id="rId10" Type="http://schemas.openxmlformats.org/officeDocument/2006/relationships/slide" Target="slides/slide2.xml"></Relationship><Relationship Id="rId11" Type="http://schemas.openxmlformats.org/officeDocument/2006/relationships/slide" Target="slides/slide3.xml"></Relationship><Relationship Id="rId12" Type="http://schemas.openxmlformats.org/officeDocument/2006/relationships/slide" Target="slides/slide4.xml"></Relationship><Relationship Id="rId13" Type="http://schemas.openxmlformats.org/officeDocument/2006/relationships/slide" Target="slides/slide5.xml"></Relationship><Relationship Id="rId15" Type="http://schemas.openxmlformats.org/officeDocument/2006/relationships/slide" Target="slides/slide6.xml"></Relationship><Relationship Id="rId17" Type="http://schemas.openxmlformats.org/officeDocument/2006/relationships/slide" Target="slides/slide7.xml"></Relationship><Relationship Id="rId19" Type="http://schemas.openxmlformats.org/officeDocument/2006/relationships/slide" Target="slides/slide8.xml"></Relationship><Relationship Id="rId22" Type="http://schemas.openxmlformats.org/officeDocument/2006/relationships/viewProps" Target="viewProps.xml"></Relationship><Relationship Id="rId23" Type="http://schemas.openxmlformats.org/officeDocument/2006/relationships/presProps" Target="presProps.xml"></Relationship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2399 0,'-111'66,"-45"90,-244 177,200-178,67-21,-134 110,90-66,110-134,-88 112,88-67,0-23,-44 90,22-45,67-45,-22 1,-1 0,1-1,22-43,-1 65,-21-43,22 22,0-23,22 23,-23-1,23 1,-22-23,22 23,-22 0,22-23,-22 23,22-1,0 1,-22 44,22-44,0-23,0 23,0-1,0-21,22-1,-22 23,44 22,-44-45,22 23,1-45,-23 45,22-1,22 1,-22-23,1 23,21 0,-22-1,1-21,21-1,-22 23,23 0,-1-1,0-21,45 88,-44-66,-1-1,1-21,66 88,-45-44,45 44,-66-66,44 44,-23-45,-21-21,-1 22,1-1,43 45,-21-44,-22 0,21-23,23 67,-67-89,23 45,-1-23,1 1,-1-23,-22 0,45 67,0-45,-23-21,0 21,67 67,-66-66,44 21,-23-21,-21-1,44 1,-67-45,-22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1021 0,'-44'44,"-89"67,-134 67,134-67,-67 22,89-66,89-45,-23 0,23 0,0-22,0 23,22-1,22-22,0 0,0 0,23 0,-23 0,22 0,1 0,-23 0,22 0,-21 0,21 0,0 0,-21 0,21 0,-22 0,23-22,-23-1,-22 1,22 22,-22-44,0-1,0 1,-22 22,0-45,-23-44,1 89,22-45,-23 23,1-1,22 23,-23 0,23-23,0 23,22 0,-23 22,1-22,22 0,-22 22,0 0,0 0,22 22,-23 22,23 23,0-1,0 1,0-22,0 21,0 45,23-44,-1 66,0-88,0 21,0 23,1-44,-23-1,0-22,22-22,0 0,0 0,23-44,-23-23,0 0,67-110,-45 66,-21 44,21-44,-44 67,0 21,0 23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866 0,'-22'22,"-23"67,-66 88,22-43,-44 132,66-155,-44 89,67-133,-67 133,89-111,-1-1,-21 1,22 0,0 89,22-134,0 23,0-23,0-21,0 21,0 1,0-1,0 0,0 1,0 88,0-44,22-22,0 21,22 68,-21-67,43 44,-44-44,23 44,-1-66,-21-23,21 45,-22-22,23 22,-23-23,0 23,22 0,1 0,-23 0,23 0,21 0,-66-23,22-21,23 21,-45 1,0 0,22-23,0 45,0 0,23 88,-23-66,-22-44,45 66,-23-66,-22-22,22-1,0 23,-22-45,0 0,0 22,22-21,1-1,-23 22,22-21,-22-1,66 22,-43-22,-23 1,0-1,22-22,-22 22,22 0,-22 0,0-22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599 0,'-22'22,"-22"44,-23-43,-44 88,22 0,45-67,-45 1,44-23,23 0,0 0,0-22,22 22,-22-22,44 0,22 0,1-22,-23 0,111 22,-111 0,45 0,-23 0,1 22,-23-22,22 0,-21 0,-23 22,22-22,0 0,-44-22,22 0,-22-22,-23 21,45-21,-66 22,43 0,-21-1,22 1,0 22,-1-22,1 0,0 22,0 0,-1 22,23 0,-22 0,0 23,22-23,0 0,0 45,0-45,-22 0,22 0,-22 23,22-23,0 0,-23 23,23-1,0 1,0-23,0 0,0 0,0-44,23 22,-23-44,66-23,-66 23,22 21,1 1,-23 0,22 0,0-1,-22 1,22 0,1-22,-23 21,22 1,-22 0,22 22,-22-22,0 0,22 22,-22-23,22 1,1 0,-1 22,-22 0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67E21-F3AE-43E5-8344-710FD999BB11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8DAAC-260C-484A-B0EF-1E8BC18453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59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21532B7C-1815-9377-3CDD-C090DE35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>
            <a:extLst>
              <a:ext uri="{FF2B5EF4-FFF2-40B4-BE49-F238E27FC236}">
                <a16:creationId xmlns:a16="http://schemas.microsoft.com/office/drawing/2014/main" id="{ABC55CDB-B97E-50CB-08FF-5DFCC9F2F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:notes">
            <a:extLst>
              <a:ext uri="{FF2B5EF4-FFF2-40B4-BE49-F238E27FC236}">
                <a16:creationId xmlns:a16="http://schemas.microsoft.com/office/drawing/2014/main" id="{D3A47E9C-7A57-5E2E-338E-3C59B7E821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8189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0" y="1497013"/>
            <a:ext cx="9144000" cy="50800"/>
            <a:chOff x="0" y="583"/>
            <a:chExt cx="5760" cy="50"/>
          </a:xfrm>
        </p:grpSpPr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0" y="6288088"/>
            <a:ext cx="9144000" cy="50800"/>
            <a:chOff x="0" y="583"/>
            <a:chExt cx="5760" cy="50"/>
          </a:xfrm>
        </p:grpSpPr>
        <p:sp>
          <p:nvSpPr>
            <p:cNvPr id="9" name="Rectangle 1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" name="Rectangle 13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614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1676400"/>
            <a:ext cx="7010400" cy="1752600"/>
          </a:xfrm>
        </p:spPr>
        <p:txBody>
          <a:bodyPr anchor="ctr"/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62000" y="4343400"/>
            <a:ext cx="7696200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000" b="1"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3E709-C6A3-4DBD-82F7-6E5ED028B1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제목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913" y="146050"/>
            <a:ext cx="7772400" cy="762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차트 개체 틀 2"/>
          <p:cNvSpPr>
            <a:spLocks noGrp="1"/>
          </p:cNvSpPr>
          <p:nvPr>
            <p:ph type="chart" idx="1"/>
          </p:nvPr>
        </p:nvSpPr>
        <p:spPr>
          <a:xfrm>
            <a:off x="444500" y="1152525"/>
            <a:ext cx="7772400" cy="5019675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66BAE-B407-4D4C-92B0-3DCDF5F79E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300">
                <a:solidFill>
                  <a:schemeClr val="tx2"/>
                </a:solidFill>
                <a:latin typeface="+mn-ea"/>
                <a:ea typeface="굴림" pitchFamily="50" charset="-127"/>
              </a:defRPr>
            </a:lvl1pPr>
          </a:lstStyle>
          <a:p>
            <a:pPr>
              <a:defRPr/>
            </a:pPr>
            <a:fld id="{7654FC3B-6869-4E9F-A7F1-8E695089650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0" y="1152525"/>
            <a:ext cx="777240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96938" y="6392863"/>
            <a:ext cx="3109912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 kumimoji="0">
                <a:solidFill>
                  <a:srgbClr val="40458C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0" y="954088"/>
            <a:ext cx="9144000" cy="50800"/>
            <a:chOff x="0" y="583"/>
            <a:chExt cx="5760" cy="50"/>
          </a:xfrm>
        </p:grpSpPr>
        <p:sp>
          <p:nvSpPr>
            <p:cNvPr id="1035" name="Rectangle 14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6" name="Rectangle 17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0" y="6383338"/>
            <a:ext cx="9144000" cy="60325"/>
            <a:chOff x="0" y="583"/>
            <a:chExt cx="5760" cy="50"/>
          </a:xfrm>
        </p:grpSpPr>
        <p:sp>
          <p:nvSpPr>
            <p:cNvPr id="1033" name="Rectangle 2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4" name="Rectangle 23"/>
            <p:cNvSpPr>
              <a:spLocks noChangeArrowheads="1"/>
            </p:cNvSpPr>
            <p:nvPr userDrawn="1"/>
          </p:nvSpPr>
          <p:spPr bwMode="auto">
            <a:xfrm>
              <a:off x="1638" y="590"/>
              <a:ext cx="4122" cy="43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10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4605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40458C"/>
        </a:buClr>
        <a:buFont typeface="Wingdings" pitchFamily="2" charset="2"/>
        <a:buChar char="n"/>
        <a:defRPr kumimoji="1" sz="2200">
          <a:solidFill>
            <a:srgbClr val="40458C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Times New Roman" pitchFamily="18" charset="0"/>
        <a:buChar char="–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customXml" Target="../ink/ink1.xml"></Relationship><Relationship Id="rId2" Type="http://schemas.openxmlformats.org/officeDocument/2006/relationships/image" Target="../media/fImage41169741.emf"></Relationship><Relationship Id="rId3" Type="http://schemas.openxmlformats.org/officeDocument/2006/relationships/customXml" Target="../ink/ink2.xml"></Relationship><Relationship Id="rId4" Type="http://schemas.openxmlformats.org/officeDocument/2006/relationships/image" Target="../media/fImage3636988467.emf"></Relationship><Relationship Id="rId5" Type="http://schemas.openxmlformats.org/officeDocument/2006/relationships/customXml" Target="../ink/ink3.xml"></Relationship><Relationship Id="rId6" Type="http://schemas.openxmlformats.org/officeDocument/2006/relationships/image" Target="../media/fImage3476996334.emf"></Relationship><Relationship Id="rId7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notesSlide" Target="../notesSlides/notesSlide4.xml"></Relationship><Relationship Id="rId3" Type="http://schemas.openxmlformats.org/officeDocument/2006/relationships/customXml" Target="../ink/ink4.xml"></Relationship><Relationship Id="rId4" Type="http://schemas.openxmlformats.org/officeDocument/2006/relationships/image" Target="../media/fImage38361006500.emf"></Relationship><Relationship Id="rId5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notesSlide" Target="../notesSlides/notesSlide5.xml"></Relationship><Relationship Id="rId1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notesSlide" Target="../notesSlides/notesSlide6.xml"></Relationship><Relationship Id="rId1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7.xml"></Relationship><Relationship Id="rId1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3" Type="http://schemas.openxmlformats.org/officeDocument/2006/relationships/image" Target="../media/image1.png"></Relationship><Relationship Id="rId2" Type="http://schemas.openxmlformats.org/officeDocument/2006/relationships/notesSlide" Target="../notesSlides/notesSlide8.xml"></Relationship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6420-79E1-F495-47F6-CFF02C92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FFF52-91E3-332C-388F-833F6DA44CE1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ko-KR" altLang="en-US" dirty="0"/>
              <a:t>웹 프로그래밍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part 7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1C8CD7-E553-BD68-17BA-011E9601DAA6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ko-KR" altLang="en-US" dirty="0"/>
              <a:t>금오공과대학교</a:t>
            </a:r>
            <a:endParaRPr lang="en-US" altLang="ko-KR" dirty="0"/>
          </a:p>
          <a:p>
            <a:r>
              <a:rPr lang="ko-KR" altLang="en-US" dirty="0"/>
              <a:t>조재한</a:t>
            </a:r>
          </a:p>
        </p:txBody>
      </p:sp>
    </p:spTree>
    <p:extLst>
      <p:ext uri="{BB962C8B-B14F-4D97-AF65-F5344CB8AC3E}">
        <p14:creationId xmlns:p14="http://schemas.microsoft.com/office/powerpoint/2010/main" val="787213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E4BC5-DC99-82C6-5030-CF0A62720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en-US" altLang="ko-KR" dirty="0"/>
              <a:t>DOM</a:t>
            </a:r>
            <a:r>
              <a:rPr lang="ko-KR" altLang="en-US" dirty="0"/>
              <a:t>이란 무엇인가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5276C-FC25-469E-6EEE-6879E8DAC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519795" cy="5019675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b="1" dirty="0"/>
              <a:t>정의</a:t>
            </a:r>
          </a:p>
          <a:p>
            <a:pPr lvl="1"/>
            <a:r>
              <a:rPr lang="en-US" altLang="ko-KR" dirty="0"/>
              <a:t>DOM(Document Object Model)</a:t>
            </a:r>
            <a:r>
              <a:rPr lang="ko-KR" altLang="en-US" dirty="0"/>
              <a:t>은 웹 브라우저가 </a:t>
            </a:r>
            <a:r>
              <a:rPr lang="en-US" altLang="ko-KR" dirty="0"/>
              <a:t>HTML</a:t>
            </a:r>
            <a:r>
              <a:rPr lang="ko-KR" altLang="en-US" dirty="0"/>
              <a:t>과</a:t>
            </a:r>
            <a:r>
              <a:rPr lang="en-US" altLang="ko-KR" dirty="0"/>
              <a:t> XML </a:t>
            </a:r>
            <a:r>
              <a:rPr lang="ko-KR" altLang="en-US" dirty="0"/>
              <a:t>문서를 트리 형태의 객체로 변환한 구조이다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구조를 통해 자바스크립트가 </a:t>
            </a:r>
            <a:r>
              <a:rPr lang="en-US" altLang="ko-KR" dirty="0"/>
              <a:t>HTML </a:t>
            </a:r>
            <a:r>
              <a:rPr lang="ko-KR" altLang="en-US" dirty="0"/>
              <a:t>문서의 내용과 구조를 동적으로 읽고 조작할 수 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DOM</a:t>
            </a:r>
            <a:r>
              <a:rPr lang="ko-KR" altLang="en-US" b="1" dirty="0"/>
              <a:t>이 필요한 이유</a:t>
            </a:r>
          </a:p>
          <a:p>
            <a:pPr lvl="1"/>
            <a:r>
              <a:rPr lang="ko-KR" altLang="en-US" dirty="0"/>
              <a:t>웹 페이지는 본래 정적인 </a:t>
            </a:r>
            <a:r>
              <a:rPr lang="en-US" altLang="ko-KR" dirty="0"/>
              <a:t>HTML </a:t>
            </a:r>
            <a:r>
              <a:rPr lang="ko-KR" altLang="en-US" dirty="0"/>
              <a:t>문서이다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사용자와 상호작용하려면 페이지 내용이 동적으로 변경되어야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DOM</a:t>
            </a:r>
            <a:r>
              <a:rPr lang="ko-KR" altLang="en-US" dirty="0"/>
              <a:t>은 자바스크립트가 페이지 내용을 실시간으로 변경할 수 있게 하는 가교 역할을 한다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구조적 특징</a:t>
            </a:r>
          </a:p>
          <a:p>
            <a:pPr lvl="1"/>
            <a:r>
              <a:rPr lang="en-US" altLang="ko-KR" dirty="0"/>
              <a:t>DOM</a:t>
            </a:r>
            <a:r>
              <a:rPr lang="ko-KR" altLang="en-US" dirty="0"/>
              <a:t>은 계층적 트리 구조이다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요소는 각각 노드</a:t>
            </a:r>
            <a:r>
              <a:rPr lang="en-US" altLang="ko-KR" dirty="0"/>
              <a:t>(Node)</a:t>
            </a:r>
            <a:r>
              <a:rPr lang="ko-KR" altLang="en-US" dirty="0"/>
              <a:t>로 표현된다</a:t>
            </a:r>
            <a:r>
              <a:rPr lang="en-US" altLang="ko-KR" dirty="0"/>
              <a:t>. </a:t>
            </a:r>
          </a:p>
          <a:p>
            <a:pPr lvl="2"/>
            <a:r>
              <a:rPr lang="ko-KR" altLang="en-US" dirty="0"/>
              <a:t>그 중 대부분은 요소 노드</a:t>
            </a:r>
            <a:r>
              <a:rPr lang="en-US" altLang="ko-KR" dirty="0"/>
              <a:t>(Element Node)</a:t>
            </a:r>
            <a:r>
              <a:rPr lang="ko-KR" altLang="en-US" dirty="0"/>
              <a:t>로 볼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텍스트</a:t>
            </a:r>
            <a:r>
              <a:rPr lang="en-US" altLang="ko-KR" dirty="0"/>
              <a:t>, </a:t>
            </a:r>
            <a:r>
              <a:rPr lang="ko-KR" altLang="en-US" dirty="0"/>
              <a:t>주석</a:t>
            </a:r>
            <a:r>
              <a:rPr lang="en-US" altLang="ko-KR" dirty="0"/>
              <a:t>, </a:t>
            </a:r>
            <a:r>
              <a:rPr lang="ko-KR" altLang="en-US" dirty="0"/>
              <a:t>속성 등도 모두 각각의 노드로 존재한다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6D81EA-EA03-3D51-E3CC-BDA68536C9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3FBC25-AB05-EED7-DB45-FDA891350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텍스트 상자 1"/>
          <p:cNvSpPr txBox="1">
            <a:spLocks/>
          </p:cNvSpPr>
          <p:nvPr/>
        </p:nvSpPr>
        <p:spPr>
          <a:xfrm rot="0">
            <a:off x="4262755" y="623570"/>
            <a:ext cx="225044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택스트 </a:t>
            </a:r>
            <a:r>
              <a:rPr lang="ko-KR" sz="1800">
                <a:latin typeface="맑은 고딕" charset="0"/>
                <a:ea typeface="맑은 고딕" charset="0"/>
              </a:rPr>
              <a:t>다 알아야 함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805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54AED-9D8C-EF1A-B94A-6648BE16A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en-US" altLang="ko-KR" dirty="0"/>
              <a:t>DOM</a:t>
            </a:r>
            <a:r>
              <a:rPr lang="ko-KR" altLang="en-US" dirty="0"/>
              <a:t>과 브라우저의 동작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F427DD-65E7-E602-B780-C2E48F512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05" y="1152525"/>
            <a:ext cx="8712835" cy="5019675"/>
          </a:xfrm>
        </p:spPr>
        <p:txBody>
          <a:bodyPr>
            <a:normAutofit/>
          </a:bodyPr>
          <a:lstStyle/>
          <a:p>
            <a:r>
              <a:rPr lang="en-US" altLang="ko-KR" b="1" dirty="0"/>
              <a:t>DOM </a:t>
            </a:r>
            <a:r>
              <a:rPr lang="ko-KR" altLang="en-US" b="1" dirty="0"/>
              <a:t>생성 과정</a:t>
            </a:r>
          </a:p>
          <a:p>
            <a:pPr lvl="1"/>
            <a:r>
              <a:rPr lang="ko-KR" altLang="en-US" dirty="0"/>
              <a:t>브라우저가 </a:t>
            </a:r>
            <a:r>
              <a:rPr lang="en-US" altLang="ko-KR" dirty="0"/>
              <a:t>HTML </a:t>
            </a:r>
            <a:r>
              <a:rPr lang="ko-KR" altLang="en-US" dirty="0"/>
              <a:t>파일을 읽어들인다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파서를 통해 </a:t>
            </a:r>
            <a:r>
              <a:rPr lang="en-US" altLang="ko-KR" dirty="0"/>
              <a:t>DOM Tree </a:t>
            </a:r>
            <a:r>
              <a:rPr lang="ko-KR" altLang="en-US" dirty="0"/>
              <a:t>생성한다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ko-KR" altLang="en-US" dirty="0"/>
              <a:t>자바스크립트는 </a:t>
            </a:r>
            <a:r>
              <a:rPr lang="en-US" altLang="ko-KR" dirty="0"/>
              <a:t>DOM API</a:t>
            </a:r>
            <a:r>
              <a:rPr lang="ko-KR" altLang="en-US" dirty="0"/>
              <a:t>를 통해 이 </a:t>
            </a:r>
            <a:r>
              <a:rPr lang="en-US" altLang="ko-KR" dirty="0"/>
              <a:t>Tree</a:t>
            </a:r>
            <a:r>
              <a:rPr lang="ko-KR" altLang="en-US" dirty="0"/>
              <a:t>에 접근 가능하다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ko-KR" altLang="en-US" dirty="0"/>
              <a:t>사용자의 동작</a:t>
            </a:r>
            <a:r>
              <a:rPr lang="en-US" altLang="ko-KR" dirty="0"/>
              <a:t>(input, click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따라 </a:t>
            </a:r>
            <a:r>
              <a:rPr lang="en-US" altLang="ko-KR" dirty="0"/>
              <a:t>DOM</a:t>
            </a:r>
            <a:r>
              <a:rPr lang="ko-KR" altLang="en-US" dirty="0"/>
              <a:t>을 실시간 수정 → 화면에 즉시 반영된다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b="1" dirty="0"/>
              <a:t>실시간 반영의 중요성</a:t>
            </a:r>
          </a:p>
          <a:p>
            <a:pPr lvl="1"/>
            <a:r>
              <a:rPr lang="en-US" altLang="ko-KR" dirty="0"/>
              <a:t>DOM</a:t>
            </a:r>
            <a:r>
              <a:rPr lang="ko-KR" altLang="en-US" dirty="0"/>
              <a:t>을 수정하면 브라우저가 다시 렌더링</a:t>
            </a:r>
            <a:r>
              <a:rPr lang="en-US" altLang="ko-KR" dirty="0"/>
              <a:t>(repaint/reflow) </a:t>
            </a:r>
            <a:r>
              <a:rPr lang="ko-KR" altLang="en-US" dirty="0"/>
              <a:t>하므로</a:t>
            </a:r>
            <a:r>
              <a:rPr lang="en-US" altLang="ko-KR" dirty="0"/>
              <a:t>, </a:t>
            </a:r>
            <a:r>
              <a:rPr lang="ko-KR" altLang="en-US" dirty="0"/>
              <a:t>부적절한 </a:t>
            </a:r>
            <a:r>
              <a:rPr lang="en-US" altLang="ko-KR" dirty="0"/>
              <a:t>DOM </a:t>
            </a:r>
            <a:r>
              <a:rPr lang="ko-KR" altLang="en-US" dirty="0"/>
              <a:t>조작은 성능 저하로 이어질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따라서 </a:t>
            </a:r>
            <a:r>
              <a:rPr lang="en-US" altLang="ko-KR" dirty="0"/>
              <a:t>DOM </a:t>
            </a:r>
            <a:r>
              <a:rPr lang="ko-KR" altLang="en-US" dirty="0"/>
              <a:t>조작은 신중하고 최소화된 방식으로 작성하는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463E7D-E658-837F-E370-5895E4386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D2F8A4-12DA-3BD0-9E1C-8E586F45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6" name="잉크 2"/>
              <p14:cNvContentPartPr/>
              <p14:nvPr/>
            </p14:nvContentPartPr>
            <p14:xfrm>
              <a:off x="-151765" y="1103630"/>
              <a:ext cx="943610" cy="2454910"/>
            </p14:xfrm>
          </p:contentPart>
        </mc:Choice>
        <mc:Fallback>
          <p:pic>
            <p:nvPicPr>
              <p:cNvPr id="6" name="잉크 2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51765" y="1103630"/>
                <a:ext cx="943610" cy="2454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3"/>
              <p14:cNvContentPartPr/>
              <p14:nvPr/>
            </p14:nvContentPartPr>
            <p14:xfrm>
              <a:off x="815975" y="991870"/>
              <a:ext cx="367665" cy="359410"/>
            </p14:xfrm>
          </p:contentPart>
        </mc:Choice>
        <mc:Fallback>
          <p:pic>
            <p:nvPicPr>
              <p:cNvPr id="7" name="잉크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5975" y="991870"/>
                <a:ext cx="367665" cy="3594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잉크 4"/>
              <p14:cNvContentPartPr/>
              <p14:nvPr/>
            </p14:nvContentPartPr>
            <p14:xfrm>
              <a:off x="424180" y="3702685"/>
              <a:ext cx="431800" cy="2079625"/>
            </p14:xfrm>
          </p:contentPart>
        </mc:Choice>
        <mc:Fallback>
          <p:pic>
            <p:nvPicPr>
              <p:cNvPr id="8" name="잉크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4180" y="3702685"/>
                <a:ext cx="431800" cy="20796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0147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E8A8D-AC48-AECF-208D-0C5925964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" y="1152525"/>
            <a:ext cx="8785225" cy="5019675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DOM(Document Object Model)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문서를 프로그래밍적으로 제어할 수 있도록 하는 트리 구조이다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자바스크립트를 사용하여 </a:t>
            </a:r>
            <a:r>
              <a:rPr lang="en-US" altLang="ko-KR" dirty="0"/>
              <a:t>HTML </a:t>
            </a:r>
            <a:r>
              <a:rPr lang="ko-KR" altLang="en-US" dirty="0"/>
              <a:t>요소를 추가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변경 가능하다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document.querySelector </a:t>
            </a:r>
          </a:p>
          <a:p>
            <a:pPr lvl="2"/>
            <a:r>
              <a:rPr lang="en-US" altLang="ko-KR" dirty="0"/>
              <a:t>CSS </a:t>
            </a:r>
            <a:r>
              <a:rPr lang="ko-KR" altLang="en-US" dirty="0"/>
              <a:t>선택자를 사용해 첫번째로 일치하는 요소를 선택한다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document.getElementById </a:t>
            </a:r>
          </a:p>
          <a:p>
            <a:pPr lvl="2"/>
            <a:r>
              <a:rPr lang="ko-KR" altLang="en-US" dirty="0"/>
              <a:t>특정 </a:t>
            </a:r>
            <a:r>
              <a:rPr lang="en-US" altLang="ko-KR" dirty="0"/>
              <a:t>ID</a:t>
            </a:r>
            <a:r>
              <a:rPr lang="ko-KR" altLang="en-US" dirty="0"/>
              <a:t>를 가진 요소를 선택한다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document.querySelectorAll </a:t>
            </a:r>
          </a:p>
          <a:p>
            <a:pPr lvl="2"/>
            <a:r>
              <a:rPr lang="ko-KR" altLang="en-US" dirty="0"/>
              <a:t>일치하는 모든 요소를 </a:t>
            </a:r>
            <a:r>
              <a:rPr lang="en-US" altLang="ko-KR" dirty="0"/>
              <a:t>NodeList</a:t>
            </a:r>
            <a:r>
              <a:rPr lang="ko-KR" altLang="en-US" dirty="0"/>
              <a:t>로 반환한다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document.getElementsByClassName </a:t>
            </a:r>
          </a:p>
          <a:p>
            <a:pPr lvl="2"/>
            <a:r>
              <a:rPr lang="ko-KR" altLang="en-US" dirty="0"/>
              <a:t>특정 클래스 이름을 가진 요소를 </a:t>
            </a:r>
            <a:r>
              <a:rPr lang="en-US" altLang="ko-KR" dirty="0"/>
              <a:t>HTMLCollection</a:t>
            </a:r>
            <a:r>
              <a:rPr lang="ko-KR" altLang="en-US" dirty="0"/>
              <a:t>으로 반환한다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document.getElementsByTagName </a:t>
            </a:r>
          </a:p>
          <a:p>
            <a:pPr lvl="2"/>
            <a:r>
              <a:rPr lang="ko-KR" altLang="en-US" dirty="0"/>
              <a:t>특정 태그 이름을 가진 요소를 </a:t>
            </a:r>
            <a:r>
              <a:rPr lang="en-US" altLang="ko-KR" dirty="0"/>
              <a:t>HTMLCollection</a:t>
            </a:r>
            <a:r>
              <a:rPr lang="ko-KR" altLang="en-US" dirty="0"/>
              <a:t>으로 반환한다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128" name="Google Shape;128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DOM 조작</a:t>
            </a:r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30" name="Google Shape;130;p11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4</a:t>
            </a:fld>
            <a:endParaRPr/>
          </a:p>
        </p:txBody>
      </p:sp>
      <p:graphicFrame>
        <p:nvGraphicFramePr>
          <p:cNvPr id="132" name="Google Shape;132;p11"/>
          <p:cNvGraphicFramePr/>
          <p:nvPr>
            <p:extLst>
              <p:ext uri="{D42A27DB-BD31-4B8C-83A1-F6EECF244321}">
                <p14:modId xmlns:p14="http://schemas.microsoft.com/office/powerpoint/2010/main" val="3282010268"/>
              </p:ext>
            </p:extLst>
          </p:nvPr>
        </p:nvGraphicFramePr>
        <p:xfrm>
          <a:off x="1331640" y="2276872"/>
          <a:ext cx="6027191" cy="3124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27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const</a:t>
                      </a:r>
                      <a:r>
                        <a:rPr lang="en-US" sz="1600" b="0" u="none" strike="noStrike" cap="none" dirty="0"/>
                        <a:t> element = document.querySelector("</a:t>
                      </a:r>
                      <a:r>
                        <a:rPr lang="en-US" sz="1600" b="1" u="none" strike="noStrike" cap="none" dirty="0"/>
                        <a:t>#myElement</a:t>
                      </a:r>
                      <a:r>
                        <a:rPr lang="en-US" sz="1600" b="0" u="none" strike="noStrike" cap="none" dirty="0"/>
                        <a:t>");</a:t>
                      </a:r>
                      <a:endParaRPr sz="16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3" name="잉크 5"/>
              <p14:cNvContentPartPr/>
              <p14:nvPr/>
            </p14:nvContentPartPr>
            <p14:xfrm>
              <a:off x="328295" y="3479165"/>
              <a:ext cx="215900" cy="287655"/>
            </p14:xfrm>
          </p:contentPart>
        </mc:Choice>
        <mc:Fallback>
          <p:pic>
            <p:nvPicPr>
              <p:cNvPr id="133" name="잉크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295" y="3479165"/>
                <a:ext cx="215900" cy="28765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DOM 수정</a:t>
            </a:r>
            <a:endParaRPr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38CDE6C-C4B7-33AE-E528-BDA01A45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519988" cy="5019675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요소 생성 및 추가</a:t>
            </a:r>
          </a:p>
          <a:p>
            <a:endParaRPr lang="ko-KR" altLang="en-US" sz="1600" dirty="0"/>
          </a:p>
          <a:p>
            <a:pPr marL="0" indent="0">
              <a:buNone/>
            </a:pPr>
            <a:endParaRPr lang="ko-KR" altLang="en-US" sz="1600" dirty="0"/>
          </a:p>
          <a:p>
            <a:endParaRPr lang="en-US" altLang="ko-KR" sz="1600" dirty="0"/>
          </a:p>
          <a:p>
            <a:pPr lvl="1"/>
            <a:r>
              <a:rPr lang="en-US" altLang="ko-KR" sz="1400" dirty="0"/>
              <a:t>document.createElement: </a:t>
            </a:r>
            <a:r>
              <a:rPr lang="ko-KR" altLang="en-US" sz="1400" dirty="0"/>
              <a:t>새로운 </a:t>
            </a:r>
            <a:r>
              <a:rPr lang="en-US" altLang="ko-KR" sz="1400" dirty="0"/>
              <a:t>HTML </a:t>
            </a:r>
            <a:r>
              <a:rPr lang="ko-KR" altLang="en-US" sz="1400" dirty="0"/>
              <a:t>요소를 생성한다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element.appendChild: </a:t>
            </a:r>
            <a:r>
              <a:rPr lang="ko-KR" altLang="en-US" sz="1400" dirty="0"/>
              <a:t>부모 요소에 자식 요소를 추가한다</a:t>
            </a:r>
            <a:r>
              <a:rPr lang="en-US" altLang="ko-KR" sz="1400" dirty="0"/>
              <a:t>.</a:t>
            </a:r>
          </a:p>
          <a:p>
            <a:r>
              <a:rPr lang="ko-KR" altLang="en-US" sz="1600" dirty="0"/>
              <a:t>요소 삭제</a:t>
            </a:r>
          </a:p>
          <a:p>
            <a:pPr marL="0" indent="0">
              <a:buNone/>
            </a:pPr>
            <a:endParaRPr lang="ko-KR" altLang="en-US" sz="1600" dirty="0"/>
          </a:p>
          <a:p>
            <a:endParaRPr lang="en-US" altLang="ko-KR" sz="1600" dirty="0"/>
          </a:p>
          <a:p>
            <a:pPr lvl="1"/>
            <a:r>
              <a:rPr lang="en-US" altLang="ko-KR" sz="1400" dirty="0"/>
              <a:t>parentNode.removeChild: </a:t>
            </a:r>
            <a:r>
              <a:rPr lang="ko-KR" altLang="en-US" sz="1400" dirty="0"/>
              <a:t>부모 요소에서 자식 요소를 제거한다</a:t>
            </a:r>
            <a:r>
              <a:rPr lang="en-US" altLang="ko-KR" sz="1400" dirty="0"/>
              <a:t>.</a:t>
            </a:r>
          </a:p>
          <a:p>
            <a:endParaRPr lang="ko-KR" altLang="en-US" dirty="0"/>
          </a:p>
        </p:txBody>
      </p:sp>
      <p:sp>
        <p:nvSpPr>
          <p:cNvPr id="139" name="Google Shape;139;p12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5</a:t>
            </a:fld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graphicFrame>
        <p:nvGraphicFramePr>
          <p:cNvPr id="141" name="Google Shape;141;p12"/>
          <p:cNvGraphicFramePr/>
          <p:nvPr>
            <p:extLst>
              <p:ext uri="{D42A27DB-BD31-4B8C-83A1-F6EECF244321}">
                <p14:modId xmlns:p14="http://schemas.microsoft.com/office/powerpoint/2010/main" val="1865408357"/>
              </p:ext>
            </p:extLst>
          </p:nvPr>
        </p:nvGraphicFramePr>
        <p:xfrm>
          <a:off x="896938" y="1556792"/>
          <a:ext cx="7772400" cy="741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1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const</a:t>
                      </a:r>
                      <a:r>
                        <a:rPr lang="en-US" sz="1400" b="0" u="none" strike="noStrike" cap="none" dirty="0"/>
                        <a:t> newElement = document.createElement("div");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newElement.textContent = "새로운 </a:t>
                      </a:r>
                      <a:r>
                        <a:rPr lang="en-US" sz="1400" b="0" u="none" strike="noStrike" cap="none" dirty="0" err="1"/>
                        <a:t>요소</a:t>
                      </a:r>
                      <a:r>
                        <a:rPr lang="en-US" sz="1400" b="0" u="none" strike="noStrike" cap="none" dirty="0"/>
                        <a:t>";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document.body.appendChild(newElement);</a:t>
                      </a:r>
                      <a:endParaRPr sz="14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2" name="Google Shape;142;p12"/>
          <p:cNvGraphicFramePr/>
          <p:nvPr>
            <p:extLst>
              <p:ext uri="{D42A27DB-BD31-4B8C-83A1-F6EECF244321}">
                <p14:modId xmlns:p14="http://schemas.microsoft.com/office/powerpoint/2010/main" val="3384062846"/>
              </p:ext>
            </p:extLst>
          </p:nvPr>
        </p:nvGraphicFramePr>
        <p:xfrm>
          <a:off x="901017" y="3573016"/>
          <a:ext cx="7884000" cy="5029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8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000000"/>
                          </a:solidFill>
                        </a:rPr>
                        <a:t>const</a:t>
                      </a:r>
                      <a:r>
                        <a:rPr lang="en-US" sz="1400" b="0" u="none" strike="noStrike" cap="none" dirty="0">
                          <a:solidFill>
                            <a:srgbClr val="000000"/>
                          </a:solidFill>
                        </a:rPr>
                        <a:t> elementToRemove = document.getElementById("removeMe");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000000"/>
                          </a:solidFill>
                        </a:rPr>
                        <a:t>elementToRemove.parentNode.removeChild(elementToRemove);</a:t>
                      </a:r>
                      <a:endParaRPr sz="1400" b="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68588" marR="68588" marT="34294" marB="34294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16419-A2D6-ECFB-3C3D-6A539F693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943924" cy="5019675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이벤트 핸들링</a:t>
            </a:r>
          </a:p>
          <a:p>
            <a:endParaRPr lang="ko-KR" altLang="en-US" sz="1200" dirty="0"/>
          </a:p>
          <a:p>
            <a:endParaRPr lang="ko-KR" altLang="en-US" sz="1200" dirty="0"/>
          </a:p>
          <a:p>
            <a:endParaRPr lang="ko-KR" altLang="en-US" sz="1200" dirty="0"/>
          </a:p>
          <a:p>
            <a:pPr marL="0" indent="0">
              <a:buNone/>
            </a:pPr>
            <a:endParaRPr lang="ko-KR" altLang="en-US" sz="1200" dirty="0"/>
          </a:p>
          <a:p>
            <a:r>
              <a:rPr lang="ko-KR" altLang="en-US" sz="1200" b="1" dirty="0"/>
              <a:t>이벤트 리스너를 통해 사용자의 동작에 반응하는 코드를 작성할 수 있습니다</a:t>
            </a:r>
            <a:r>
              <a:rPr lang="en-US" altLang="ko-KR" sz="1200" b="1" dirty="0"/>
              <a:t>.</a:t>
            </a:r>
          </a:p>
          <a:p>
            <a:r>
              <a:rPr lang="en-US" altLang="ko-KR" sz="1200" b="1" dirty="0"/>
              <a:t>addEventListener: </a:t>
            </a:r>
            <a:r>
              <a:rPr lang="ko-KR" altLang="en-US" sz="1200" b="1" dirty="0"/>
              <a:t>요소에 이벤트를 등록합니다</a:t>
            </a:r>
            <a:r>
              <a:rPr lang="en-US" altLang="ko-KR" sz="1200" b="1" dirty="0"/>
              <a:t>.</a:t>
            </a:r>
          </a:p>
          <a:p>
            <a:pPr lvl="1"/>
            <a:r>
              <a:rPr lang="ko-KR" altLang="en-US" sz="1200" dirty="0"/>
              <a:t>다양한 이벤트 종류</a:t>
            </a:r>
          </a:p>
          <a:p>
            <a:pPr lvl="1"/>
            <a:r>
              <a:rPr lang="ko-KR" altLang="en-US" sz="1200" dirty="0"/>
              <a:t>클릭 이벤트 </a:t>
            </a:r>
            <a:r>
              <a:rPr lang="en-US" altLang="ko-KR" sz="1200" dirty="0"/>
              <a:t>: click</a:t>
            </a:r>
          </a:p>
          <a:p>
            <a:pPr lvl="1"/>
            <a:r>
              <a:rPr lang="ko-KR" altLang="en-US" sz="1200" dirty="0"/>
              <a:t>키보드 입력 이벤트 </a:t>
            </a:r>
            <a:r>
              <a:rPr lang="en-US" altLang="ko-KR" sz="1200" dirty="0"/>
              <a:t>: keydown, keyup</a:t>
            </a:r>
          </a:p>
          <a:p>
            <a:pPr lvl="1"/>
            <a:r>
              <a:rPr lang="ko-KR" altLang="en-US" sz="1200" dirty="0"/>
              <a:t>마우스 이벤트 </a:t>
            </a:r>
            <a:r>
              <a:rPr lang="en-US" altLang="ko-KR" sz="1200" dirty="0"/>
              <a:t>: mousemove, mouseover, mouseout</a:t>
            </a:r>
          </a:p>
          <a:p>
            <a:pPr lvl="1"/>
            <a:r>
              <a:rPr lang="ko-KR" altLang="en-US" sz="1200" dirty="0"/>
              <a:t>폼 이벤트 </a:t>
            </a:r>
            <a:r>
              <a:rPr lang="en-US" altLang="ko-KR" sz="1200" dirty="0"/>
              <a:t>: submit, change</a:t>
            </a:r>
          </a:p>
          <a:p>
            <a:r>
              <a:rPr lang="ko-KR" altLang="en-US" sz="1200" b="1" dirty="0"/>
              <a:t>이벤트 전파</a:t>
            </a:r>
          </a:p>
          <a:p>
            <a:pPr lvl="1"/>
            <a:r>
              <a:rPr lang="ko-KR" altLang="en-US" sz="1200" dirty="0"/>
              <a:t>캡처링 </a:t>
            </a:r>
            <a:r>
              <a:rPr lang="en-US" altLang="ko-KR" sz="1200" dirty="0"/>
              <a:t>: </a:t>
            </a:r>
            <a:r>
              <a:rPr lang="ko-KR" altLang="en-US" sz="1200" dirty="0"/>
              <a:t>이벤트가 상위 요소에서 하위 요소로 전달된다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버블링 </a:t>
            </a:r>
            <a:r>
              <a:rPr lang="en-US" altLang="ko-KR" sz="1200" dirty="0"/>
              <a:t>: </a:t>
            </a:r>
            <a:r>
              <a:rPr lang="ko-KR" altLang="en-US" sz="1200" dirty="0"/>
              <a:t>이벤트가 하위 요소에서 상위 요소로 전달된다</a:t>
            </a:r>
            <a:r>
              <a:rPr lang="en-US" altLang="ko-KR" sz="1200" dirty="0"/>
              <a:t>.</a:t>
            </a:r>
          </a:p>
          <a:p>
            <a:endParaRPr lang="en-US" altLang="ko-KR" sz="1700" dirty="0"/>
          </a:p>
          <a:p>
            <a:endParaRPr lang="ko-KR" altLang="en-US" dirty="0"/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이벤트 핸들링</a:t>
            </a:r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6</a:t>
            </a:fld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896938" y="1412776"/>
            <a:ext cx="5707062" cy="105410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const button = document.querySelector("#myButton");</a:t>
            </a:r>
            <a:endParaRPr sz="1600" dirty="0"/>
          </a:p>
          <a:p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button.addEventListener("click", function() {    </a:t>
            </a:r>
            <a:endParaRPr sz="1600" dirty="0"/>
          </a:p>
          <a:p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alert("버튼이 클릭되었습니다!");</a:t>
            </a:r>
            <a:endParaRPr sz="1600" dirty="0"/>
          </a:p>
          <a:p>
            <a:r>
              <a:rPr lang="en-US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});</a:t>
            </a:r>
            <a:endParaRPr sz="16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" name="Google Shape;160;p14">
            <a:extLst>
              <a:ext uri="{FF2B5EF4-FFF2-40B4-BE49-F238E27FC236}">
                <a16:creationId xmlns:a16="http://schemas.microsoft.com/office/drawing/2014/main" id="{7A081F93-DE36-4010-FDA8-E5463FE8F5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2466915"/>
              </p:ext>
            </p:extLst>
          </p:nvPr>
        </p:nvGraphicFramePr>
        <p:xfrm>
          <a:off x="835416" y="5147144"/>
          <a:ext cx="5830106" cy="113538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830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15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document.querySelector("#child").addEventListener("click", (event) =&gt; { 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 event.stopPropagation(); // </a:t>
                      </a:r>
                      <a:r>
                        <a:rPr lang="en-US" sz="1400" b="0" u="none" strike="noStrike" cap="none" dirty="0" err="1"/>
                        <a:t>이벤트</a:t>
                      </a:r>
                      <a:r>
                        <a:rPr lang="en-US" sz="1400" b="0" u="none" strike="noStrike" cap="none" dirty="0"/>
                        <a:t> </a:t>
                      </a:r>
                      <a:r>
                        <a:rPr lang="en-US" sz="1400" b="0" u="none" strike="noStrike" cap="none" dirty="0" err="1"/>
                        <a:t>전파</a:t>
                      </a:r>
                      <a:r>
                        <a:rPr lang="en-US" sz="1400" b="0" u="none" strike="noStrike" cap="none" dirty="0"/>
                        <a:t> </a:t>
                      </a:r>
                      <a:r>
                        <a:rPr lang="en-US" sz="1400" b="0" u="none" strike="noStrike" cap="none" dirty="0" err="1"/>
                        <a:t>중단</a:t>
                      </a:r>
                      <a:r>
                        <a:rPr lang="en-US" sz="1400" b="0" u="none" strike="noStrike" cap="none" dirty="0"/>
                        <a:t>    </a:t>
                      </a:r>
                      <a:endParaRPr sz="1400" b="0" u="none" strike="noStrike" cap="none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 console.log("Child clicked");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});</a:t>
                      </a:r>
                      <a:endParaRPr sz="14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실습 </a:t>
            </a:r>
            <a:r>
              <a:rPr lang="en-US" altLang="ko-KR" dirty="0"/>
              <a:t>1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배열 </a:t>
            </a:r>
            <a:r>
              <a:rPr lang="en-US" altLang="ko-KR" dirty="0"/>
              <a:t>+ DOM </a:t>
            </a:r>
            <a:r>
              <a:rPr lang="ko-KR" altLang="en-US" dirty="0"/>
              <a:t>연동 </a:t>
            </a:r>
            <a:endParaRPr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C950ED5-438A-251E-B92C-E4109972E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836315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HTML </a:t>
            </a:r>
            <a:r>
              <a:rPr lang="ko-KR" altLang="en-US" dirty="0"/>
              <a:t>목록을 배열 데이터로 생성한다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버튼 클릭 시 추가</a:t>
            </a:r>
            <a:r>
              <a:rPr lang="en-US" altLang="ko-KR" dirty="0"/>
              <a:t>/</a:t>
            </a:r>
            <a:r>
              <a:rPr lang="ko-KR" altLang="en-US" dirty="0"/>
              <a:t>삭제</a:t>
            </a:r>
            <a:r>
              <a:rPr lang="en-US" altLang="ko-KR" dirty="0"/>
              <a:t>/</a:t>
            </a:r>
            <a:r>
              <a:rPr lang="ko-KR" altLang="en-US" dirty="0"/>
              <a:t>필터를 하는 간단한 프로그램을 만들어 본다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167" name="Google Shape;167;p15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7</a:t>
            </a:fld>
            <a:endParaRPr/>
          </a:p>
        </p:txBody>
      </p:sp>
      <p:sp>
        <p:nvSpPr>
          <p:cNvPr id="168" name="Google Shape;168;p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8B36D-CC4C-2A05-FDBE-DDABD858CA1C}"/>
              </a:ext>
            </a:extLst>
          </p:cNvPr>
          <p:cNvSpPr txBox="1"/>
          <p:nvPr/>
        </p:nvSpPr>
        <p:spPr>
          <a:xfrm>
            <a:off x="539552" y="1844824"/>
            <a:ext cx="4320480" cy="445506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&lt;!DOCTYPE html&gt;</a:t>
            </a:r>
          </a:p>
          <a:p>
            <a:r>
              <a:rPr lang="en-US" altLang="ko-KR" sz="1050" dirty="0"/>
              <a:t>&lt;html&gt;</a:t>
            </a:r>
          </a:p>
          <a:p>
            <a:r>
              <a:rPr lang="en-US" altLang="ko-KR" sz="1050" dirty="0"/>
              <a:t>&lt;head&gt;</a:t>
            </a:r>
          </a:p>
          <a:p>
            <a:r>
              <a:rPr lang="en-US" altLang="ko-KR" sz="1050" dirty="0"/>
              <a:t>  &lt;meta charset="UTF-8"&gt;</a:t>
            </a:r>
          </a:p>
          <a:p>
            <a:r>
              <a:rPr lang="en-US" altLang="ko-KR" sz="1050" dirty="0"/>
              <a:t>  &lt;title&gt;</a:t>
            </a:r>
            <a:r>
              <a:rPr lang="ko-KR" altLang="en-US" sz="1050" dirty="0"/>
              <a:t>과일 목록</a:t>
            </a:r>
            <a:r>
              <a:rPr lang="en-US" altLang="ko-KR" sz="1050" dirty="0"/>
              <a:t>&lt;/title&gt;</a:t>
            </a:r>
          </a:p>
          <a:p>
            <a:r>
              <a:rPr lang="en-US" altLang="ko-KR" sz="1050" b="1" dirty="0"/>
              <a:t>  &lt;style&gt;</a:t>
            </a:r>
          </a:p>
          <a:p>
            <a:r>
              <a:rPr lang="en-US" altLang="ko-KR" sz="1050" b="1" dirty="0"/>
              <a:t>    body {</a:t>
            </a:r>
          </a:p>
          <a:p>
            <a:r>
              <a:rPr lang="en-US" altLang="ko-KR" sz="1050" b="1" dirty="0"/>
              <a:t>      font-family: Arial; padding: 20px;</a:t>
            </a:r>
          </a:p>
          <a:p>
            <a:r>
              <a:rPr lang="en-US" altLang="ko-KR" sz="1050" b="1" dirty="0"/>
              <a:t>    }</a:t>
            </a:r>
          </a:p>
          <a:p>
            <a:r>
              <a:rPr lang="en-US" altLang="ko-KR" sz="1050" b="1" dirty="0"/>
              <a:t>    li {</a:t>
            </a:r>
          </a:p>
          <a:p>
            <a:r>
              <a:rPr lang="en-US" altLang="ko-KR" sz="1050" b="1" dirty="0"/>
              <a:t>      margin: 5px 0;</a:t>
            </a:r>
          </a:p>
          <a:p>
            <a:r>
              <a:rPr lang="en-US" altLang="ko-KR" sz="1050" b="1" dirty="0"/>
              <a:t>    }</a:t>
            </a:r>
          </a:p>
          <a:p>
            <a:r>
              <a:rPr lang="en-US" altLang="ko-KR" sz="1050" b="1" dirty="0"/>
              <a:t>  &lt;/style&gt;</a:t>
            </a:r>
          </a:p>
          <a:p>
            <a:r>
              <a:rPr lang="en-US" altLang="ko-KR" sz="1050" dirty="0"/>
              <a:t>  </a:t>
            </a:r>
          </a:p>
          <a:p>
            <a:r>
              <a:rPr lang="en-US" altLang="ko-KR" sz="1050" dirty="0"/>
              <a:t>&lt;/head&gt;</a:t>
            </a:r>
          </a:p>
          <a:p>
            <a:r>
              <a:rPr lang="en-US" altLang="ko-KR" sz="1050" dirty="0"/>
              <a:t>&lt;body&gt;</a:t>
            </a:r>
          </a:p>
          <a:p>
            <a:r>
              <a:rPr lang="en-US" altLang="ko-KR" sz="1050" dirty="0"/>
              <a:t>  &lt;h2&gt;</a:t>
            </a:r>
            <a:r>
              <a:rPr lang="ko-KR" altLang="en-US" sz="1050" dirty="0"/>
              <a:t>과일 목록</a:t>
            </a:r>
            <a:r>
              <a:rPr lang="en-US" altLang="ko-KR" sz="1050" dirty="0"/>
              <a:t>&lt;/h2&gt;</a:t>
            </a:r>
          </a:p>
          <a:p>
            <a:endParaRPr lang="en-US" altLang="ko-KR" sz="1050" dirty="0"/>
          </a:p>
          <a:p>
            <a:r>
              <a:rPr lang="en-US" altLang="ko-KR" sz="1050" dirty="0"/>
              <a:t>  &lt;ul id="</a:t>
            </a:r>
            <a:r>
              <a:rPr lang="en-US" altLang="ko-KR" sz="1050" dirty="0" err="1"/>
              <a:t>fruitList</a:t>
            </a:r>
            <a:r>
              <a:rPr lang="en-US" altLang="ko-KR" sz="1050" dirty="0"/>
              <a:t>"&gt;&lt;/ul&gt;</a:t>
            </a:r>
          </a:p>
          <a:p>
            <a:endParaRPr lang="en-US" altLang="ko-KR" sz="1050" dirty="0"/>
          </a:p>
          <a:p>
            <a:r>
              <a:rPr lang="en-US" altLang="ko-KR" sz="1050" dirty="0"/>
              <a:t>  &lt;input type="text" id="</a:t>
            </a:r>
            <a:r>
              <a:rPr lang="en-US" altLang="ko-KR" sz="1050" dirty="0" err="1"/>
              <a:t>fruitInput</a:t>
            </a:r>
            <a:r>
              <a:rPr lang="en-US" altLang="ko-KR" sz="1050" dirty="0"/>
              <a:t>" placeholder="</a:t>
            </a:r>
            <a:r>
              <a:rPr lang="ko-KR" altLang="en-US" sz="1050" dirty="0"/>
              <a:t>과일 이름 입력</a:t>
            </a:r>
            <a:r>
              <a:rPr lang="en-US" altLang="ko-KR" sz="1050" dirty="0"/>
              <a:t>"/&gt;</a:t>
            </a:r>
          </a:p>
          <a:p>
            <a:r>
              <a:rPr lang="en-US" altLang="ko-KR" sz="1050" dirty="0"/>
              <a:t>  &lt;button onclick="</a:t>
            </a:r>
            <a:r>
              <a:rPr lang="en-US" altLang="ko-KR" sz="1050" dirty="0" err="1"/>
              <a:t>addFruit</a:t>
            </a:r>
            <a:r>
              <a:rPr lang="en-US" altLang="ko-KR" sz="1050" dirty="0"/>
              <a:t>()"&gt;</a:t>
            </a:r>
            <a:r>
              <a:rPr lang="ko-KR" altLang="en-US" sz="1050" dirty="0"/>
              <a:t>추가</a:t>
            </a:r>
            <a:r>
              <a:rPr lang="en-US" altLang="ko-KR" sz="1050" dirty="0"/>
              <a:t>&lt;/button&gt;</a:t>
            </a:r>
          </a:p>
          <a:p>
            <a:r>
              <a:rPr lang="en-US" altLang="ko-KR" sz="1050" dirty="0"/>
              <a:t>  &lt;button onclick="</a:t>
            </a:r>
            <a:r>
              <a:rPr lang="en-US" altLang="ko-KR" sz="1050" dirty="0" err="1"/>
              <a:t>removeLast</a:t>
            </a:r>
            <a:r>
              <a:rPr lang="en-US" altLang="ko-KR" sz="1050" dirty="0"/>
              <a:t>()"&gt;</a:t>
            </a:r>
            <a:r>
              <a:rPr lang="ko-KR" altLang="en-US" sz="1050" dirty="0"/>
              <a:t>마지막 삭제</a:t>
            </a:r>
            <a:r>
              <a:rPr lang="en-US" altLang="ko-KR" sz="1050" dirty="0"/>
              <a:t>&lt;/button&gt;</a:t>
            </a:r>
          </a:p>
          <a:p>
            <a:r>
              <a:rPr lang="en-US" altLang="ko-KR" sz="1050" dirty="0"/>
              <a:t>  &lt;button onclick="</a:t>
            </a:r>
            <a:r>
              <a:rPr lang="en-US" altLang="ko-KR" sz="1050" dirty="0" err="1"/>
              <a:t>filterFruits</a:t>
            </a:r>
            <a:r>
              <a:rPr lang="en-US" altLang="ko-KR" sz="1050" dirty="0"/>
              <a:t>()"&gt;'</a:t>
            </a:r>
            <a:r>
              <a:rPr lang="ko-KR" altLang="en-US" sz="1050" dirty="0"/>
              <a:t>사</a:t>
            </a:r>
            <a:r>
              <a:rPr lang="en-US" altLang="ko-KR" sz="1050" dirty="0"/>
              <a:t>'</a:t>
            </a:r>
            <a:r>
              <a:rPr lang="ko-KR" altLang="en-US" sz="1050" dirty="0"/>
              <a:t>로 시작하는 과일만</a:t>
            </a:r>
            <a:r>
              <a:rPr lang="en-US" altLang="ko-KR" sz="1050" dirty="0"/>
              <a:t>&lt;/button&gt;</a:t>
            </a:r>
          </a:p>
          <a:p>
            <a:r>
              <a:rPr lang="en-US" altLang="ko-KR" sz="1050" dirty="0"/>
              <a:t>  &lt;button onclick="reset()"&gt;</a:t>
            </a:r>
            <a:r>
              <a:rPr lang="ko-KR" altLang="en-US" sz="1050" dirty="0"/>
              <a:t>전체 보기</a:t>
            </a:r>
            <a:r>
              <a:rPr lang="en-US" altLang="ko-KR" sz="1050" dirty="0"/>
              <a:t>&lt;/button&gt;</a:t>
            </a:r>
          </a:p>
          <a:p>
            <a:r>
              <a:rPr lang="en-US" altLang="ko-KR" sz="1050" dirty="0"/>
              <a:t>&lt;/body&gt;</a:t>
            </a:r>
          </a:p>
          <a:p>
            <a:r>
              <a:rPr lang="en-US" altLang="ko-KR" sz="1050" dirty="0"/>
              <a:t>&lt;/html&gt;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3730BA-5C38-E2F7-7F99-2362B1D7C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2564904"/>
            <a:ext cx="3818329" cy="2635846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3E61452E-9DD9-A0C2-E8A8-6DAF1357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>
            <a:extLst>
              <a:ext uri="{FF2B5EF4-FFF2-40B4-BE49-F238E27FC236}">
                <a16:creationId xmlns:a16="http://schemas.microsoft.com/office/drawing/2014/main" id="{86382427-398A-871D-E302-4E42650B33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실습 </a:t>
            </a:r>
            <a:r>
              <a:rPr lang="en-US" altLang="ko-KR" dirty="0"/>
              <a:t>1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배열 </a:t>
            </a:r>
            <a:r>
              <a:rPr lang="en-US" altLang="ko-KR" dirty="0"/>
              <a:t>+ DOM </a:t>
            </a:r>
            <a:r>
              <a:rPr lang="ko-KR" altLang="en-US" dirty="0"/>
              <a:t>연동 </a:t>
            </a:r>
            <a:endParaRPr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53604A-644C-B4E3-36E9-FC86F803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052067"/>
            <a:ext cx="7772400" cy="504725"/>
          </a:xfrm>
        </p:spPr>
        <p:txBody>
          <a:bodyPr>
            <a:normAutofit fontScale="55000" lnSpcReduction="20000"/>
          </a:bodyPr>
          <a:lstStyle/>
          <a:p>
            <a:r>
              <a:rPr lang="ko-KR" altLang="en-US" b="1" dirty="0"/>
              <a:t>실행과 동시에 과일목록이 출력될 수 있도록 수정한다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구현된 자바스크립트는 아래와 같다</a:t>
            </a:r>
            <a:r>
              <a:rPr lang="en-US" altLang="ko-KR" b="1" dirty="0"/>
              <a:t>.</a:t>
            </a:r>
          </a:p>
          <a:p>
            <a:endParaRPr lang="ko-KR" altLang="en-US" dirty="0"/>
          </a:p>
        </p:txBody>
      </p:sp>
      <p:sp>
        <p:nvSpPr>
          <p:cNvPr id="167" name="Google Shape;167;p15">
            <a:extLst>
              <a:ext uri="{FF2B5EF4-FFF2-40B4-BE49-F238E27FC236}">
                <a16:creationId xmlns:a16="http://schemas.microsoft.com/office/drawing/2014/main" id="{3F40FED3-D7E5-FC09-26EB-7B38FBD926D3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8</a:t>
            </a:fld>
            <a:endParaRPr/>
          </a:p>
        </p:txBody>
      </p:sp>
      <p:sp>
        <p:nvSpPr>
          <p:cNvPr id="168" name="Google Shape;168;p15">
            <a:extLst>
              <a:ext uri="{FF2B5EF4-FFF2-40B4-BE49-F238E27FC236}">
                <a16:creationId xmlns:a16="http://schemas.microsoft.com/office/drawing/2014/main" id="{199C4D99-DFA4-9843-AD31-E4C35F2E1AC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CF41B-4251-FE8D-1553-628EDC2DDE93}"/>
              </a:ext>
            </a:extLst>
          </p:cNvPr>
          <p:cNvSpPr txBox="1"/>
          <p:nvPr/>
        </p:nvSpPr>
        <p:spPr>
          <a:xfrm>
            <a:off x="539552" y="1487681"/>
            <a:ext cx="4320480" cy="489364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&lt;script&gt;</a:t>
            </a:r>
          </a:p>
          <a:p>
            <a:r>
              <a:rPr lang="en-US" altLang="ko-KR" sz="800" dirty="0"/>
              <a:t>    let fruits = ["</a:t>
            </a:r>
            <a:r>
              <a:rPr lang="ko-KR" altLang="en-US" sz="800" dirty="0"/>
              <a:t>사과</a:t>
            </a:r>
            <a:r>
              <a:rPr lang="en-US" altLang="ko-KR" sz="800" dirty="0"/>
              <a:t>", "</a:t>
            </a:r>
            <a:r>
              <a:rPr lang="ko-KR" altLang="en-US" sz="800" dirty="0"/>
              <a:t>바나나</a:t>
            </a:r>
            <a:r>
              <a:rPr lang="en-US" altLang="ko-KR" sz="800" dirty="0"/>
              <a:t>", "</a:t>
            </a:r>
            <a:r>
              <a:rPr lang="ko-KR" altLang="en-US" sz="800" dirty="0"/>
              <a:t>포도</a:t>
            </a:r>
            <a:r>
              <a:rPr lang="en-US" altLang="ko-KR" sz="800" dirty="0"/>
              <a:t>"];</a:t>
            </a:r>
          </a:p>
          <a:p>
            <a:r>
              <a:rPr lang="en-US" altLang="ko-KR" sz="800" dirty="0"/>
              <a:t>    function render() {</a:t>
            </a:r>
          </a:p>
          <a:p>
            <a:r>
              <a:rPr lang="en-US" altLang="ko-KR" sz="800" dirty="0"/>
              <a:t>      const list = document.getElementById("</a:t>
            </a:r>
            <a:r>
              <a:rPr lang="en-US" altLang="ko-KR" sz="800" dirty="0" err="1"/>
              <a:t>fruitList</a:t>
            </a:r>
            <a:r>
              <a:rPr lang="en-US" altLang="ko-KR" sz="800" dirty="0"/>
              <a:t>");</a:t>
            </a:r>
          </a:p>
          <a:p>
            <a:r>
              <a:rPr lang="en-US" altLang="ko-KR" sz="800" dirty="0"/>
              <a:t>      </a:t>
            </a:r>
            <a:r>
              <a:rPr lang="en-US" altLang="ko-KR" sz="800" dirty="0" err="1"/>
              <a:t>list.innerHTML</a:t>
            </a:r>
            <a:r>
              <a:rPr lang="en-US" altLang="ko-KR" sz="800" dirty="0"/>
              <a:t> = "";</a:t>
            </a:r>
          </a:p>
          <a:p>
            <a:r>
              <a:rPr lang="en-US" altLang="ko-KR" sz="800" dirty="0"/>
              <a:t>      </a:t>
            </a:r>
            <a:r>
              <a:rPr lang="en-US" altLang="ko-KR" sz="800" dirty="0" err="1"/>
              <a:t>fruits.forEach</a:t>
            </a:r>
            <a:r>
              <a:rPr lang="en-US" altLang="ko-KR" sz="800" dirty="0"/>
              <a:t>(fruit =&gt; {</a:t>
            </a:r>
          </a:p>
          <a:p>
            <a:r>
              <a:rPr lang="en-US" altLang="ko-KR" sz="800" dirty="0"/>
              <a:t>        const li = document.createElement("li");</a:t>
            </a:r>
          </a:p>
          <a:p>
            <a:r>
              <a:rPr lang="en-US" altLang="ko-KR" sz="800" dirty="0"/>
              <a:t>        </a:t>
            </a:r>
            <a:r>
              <a:rPr lang="en-US" altLang="ko-KR" sz="800" dirty="0" err="1"/>
              <a:t>li.textContent</a:t>
            </a:r>
            <a:r>
              <a:rPr lang="en-US" altLang="ko-KR" sz="800" dirty="0"/>
              <a:t> = fruit;</a:t>
            </a:r>
          </a:p>
          <a:p>
            <a:r>
              <a:rPr lang="en-US" altLang="ko-KR" sz="800" dirty="0"/>
              <a:t>        </a:t>
            </a:r>
            <a:r>
              <a:rPr lang="en-US" altLang="ko-KR" sz="800" dirty="0" err="1"/>
              <a:t>list.appendChild</a:t>
            </a:r>
            <a:r>
              <a:rPr lang="en-US" altLang="ko-KR" sz="800" dirty="0"/>
              <a:t>(li);</a:t>
            </a:r>
          </a:p>
          <a:p>
            <a:r>
              <a:rPr lang="en-US" altLang="ko-KR" sz="800" dirty="0"/>
              <a:t>      });</a:t>
            </a:r>
          </a:p>
          <a:p>
            <a:r>
              <a:rPr lang="en-US" altLang="ko-KR" sz="800" dirty="0"/>
              <a:t>    }</a:t>
            </a:r>
          </a:p>
          <a:p>
            <a:r>
              <a:rPr lang="en-US" altLang="ko-KR" sz="800" dirty="0"/>
              <a:t>    function </a:t>
            </a:r>
            <a:r>
              <a:rPr lang="en-US" altLang="ko-KR" sz="800" dirty="0" err="1"/>
              <a:t>addFruit</a:t>
            </a:r>
            <a:r>
              <a:rPr lang="en-US" altLang="ko-KR" sz="800" dirty="0"/>
              <a:t>() {</a:t>
            </a:r>
          </a:p>
          <a:p>
            <a:r>
              <a:rPr lang="en-US" altLang="ko-KR" sz="800" dirty="0"/>
              <a:t>      const input = document.getElementById("</a:t>
            </a:r>
            <a:r>
              <a:rPr lang="en-US" altLang="ko-KR" sz="800" dirty="0" err="1"/>
              <a:t>fruitInput</a:t>
            </a:r>
            <a:r>
              <a:rPr lang="en-US" altLang="ko-KR" sz="800" dirty="0"/>
              <a:t>");</a:t>
            </a:r>
          </a:p>
          <a:p>
            <a:r>
              <a:rPr lang="en-US" altLang="ko-KR" sz="800" dirty="0"/>
              <a:t>      const value = </a:t>
            </a:r>
            <a:r>
              <a:rPr lang="en-US" altLang="ko-KR" sz="800" dirty="0" err="1"/>
              <a:t>input.value.trim</a:t>
            </a:r>
            <a:r>
              <a:rPr lang="en-US" altLang="ko-KR" sz="800" dirty="0"/>
              <a:t>();</a:t>
            </a:r>
          </a:p>
          <a:p>
            <a:r>
              <a:rPr lang="en-US" altLang="ko-KR" sz="800" dirty="0"/>
              <a:t>      if (value) {</a:t>
            </a:r>
          </a:p>
          <a:p>
            <a:r>
              <a:rPr lang="en-US" altLang="ko-KR" sz="800" dirty="0"/>
              <a:t>        </a:t>
            </a:r>
            <a:r>
              <a:rPr lang="en-US" altLang="ko-KR" sz="800" dirty="0" err="1"/>
              <a:t>fruits.push</a:t>
            </a:r>
            <a:r>
              <a:rPr lang="en-US" altLang="ko-KR" sz="800" dirty="0"/>
              <a:t>(value);</a:t>
            </a:r>
          </a:p>
          <a:p>
            <a:r>
              <a:rPr lang="en-US" altLang="ko-KR" sz="800" dirty="0"/>
              <a:t>        </a:t>
            </a:r>
            <a:r>
              <a:rPr lang="en-US" altLang="ko-KR" sz="800" dirty="0" err="1"/>
              <a:t>input.value</a:t>
            </a:r>
            <a:r>
              <a:rPr lang="en-US" altLang="ko-KR" sz="800" dirty="0"/>
              <a:t> = "";</a:t>
            </a:r>
          </a:p>
          <a:p>
            <a:r>
              <a:rPr lang="en-US" altLang="ko-KR" sz="800" dirty="0"/>
              <a:t>        render();</a:t>
            </a:r>
          </a:p>
          <a:p>
            <a:r>
              <a:rPr lang="en-US" altLang="ko-KR" sz="800" dirty="0"/>
              <a:t>      }</a:t>
            </a:r>
          </a:p>
          <a:p>
            <a:r>
              <a:rPr lang="en-US" altLang="ko-KR" sz="800" dirty="0"/>
              <a:t>    }</a:t>
            </a:r>
          </a:p>
          <a:p>
            <a:r>
              <a:rPr lang="en-US" altLang="ko-KR" sz="800" dirty="0"/>
              <a:t>    function </a:t>
            </a:r>
            <a:r>
              <a:rPr lang="en-US" altLang="ko-KR" sz="800" dirty="0" err="1"/>
              <a:t>removeLast</a:t>
            </a:r>
            <a:r>
              <a:rPr lang="en-US" altLang="ko-KR" sz="800" dirty="0"/>
              <a:t>() {</a:t>
            </a:r>
          </a:p>
          <a:p>
            <a:r>
              <a:rPr lang="en-US" altLang="ko-KR" sz="800" dirty="0"/>
              <a:t>      </a:t>
            </a:r>
            <a:r>
              <a:rPr lang="en-US" altLang="ko-KR" sz="800" dirty="0" err="1"/>
              <a:t>fruits.pop</a:t>
            </a:r>
            <a:r>
              <a:rPr lang="en-US" altLang="ko-KR" sz="800" dirty="0"/>
              <a:t>();</a:t>
            </a:r>
          </a:p>
          <a:p>
            <a:r>
              <a:rPr lang="en-US" altLang="ko-KR" sz="800" dirty="0"/>
              <a:t>      render();</a:t>
            </a:r>
          </a:p>
          <a:p>
            <a:r>
              <a:rPr lang="en-US" altLang="ko-KR" sz="800" dirty="0"/>
              <a:t>    }</a:t>
            </a:r>
          </a:p>
          <a:p>
            <a:r>
              <a:rPr lang="en-US" altLang="ko-KR" sz="800" dirty="0"/>
              <a:t>    function </a:t>
            </a:r>
            <a:r>
              <a:rPr lang="en-US" altLang="ko-KR" sz="800" dirty="0" err="1"/>
              <a:t>filterFruits</a:t>
            </a:r>
            <a:r>
              <a:rPr lang="en-US" altLang="ko-KR" sz="800" dirty="0"/>
              <a:t>() {</a:t>
            </a:r>
          </a:p>
          <a:p>
            <a:r>
              <a:rPr lang="en-US" altLang="ko-KR" sz="800" dirty="0"/>
              <a:t>      const filtered = </a:t>
            </a:r>
            <a:r>
              <a:rPr lang="en-US" altLang="ko-KR" sz="800" dirty="0" err="1"/>
              <a:t>fruits.filter</a:t>
            </a:r>
            <a:r>
              <a:rPr lang="en-US" altLang="ko-KR" sz="800" dirty="0"/>
              <a:t>(fruit =&gt; </a:t>
            </a:r>
            <a:r>
              <a:rPr lang="en-US" altLang="ko-KR" sz="800" dirty="0" err="1"/>
              <a:t>fruit.startsWith</a:t>
            </a:r>
            <a:r>
              <a:rPr lang="en-US" altLang="ko-KR" sz="800" dirty="0"/>
              <a:t>("</a:t>
            </a:r>
            <a:r>
              <a:rPr lang="ko-KR" altLang="en-US" sz="800" dirty="0"/>
              <a:t>사</a:t>
            </a:r>
            <a:r>
              <a:rPr lang="en-US" altLang="ko-KR" sz="800" dirty="0"/>
              <a:t>"));</a:t>
            </a:r>
          </a:p>
          <a:p>
            <a:r>
              <a:rPr lang="en-US" altLang="ko-KR" sz="800" dirty="0"/>
              <a:t>      const list = document.getElementById("</a:t>
            </a:r>
            <a:r>
              <a:rPr lang="en-US" altLang="ko-KR" sz="800" dirty="0" err="1"/>
              <a:t>fruitList</a:t>
            </a:r>
            <a:r>
              <a:rPr lang="en-US" altLang="ko-KR" sz="800" dirty="0"/>
              <a:t>");</a:t>
            </a:r>
          </a:p>
          <a:p>
            <a:r>
              <a:rPr lang="en-US" altLang="ko-KR" sz="800" dirty="0"/>
              <a:t>      </a:t>
            </a:r>
            <a:r>
              <a:rPr lang="en-US" altLang="ko-KR" sz="800" dirty="0" err="1"/>
              <a:t>list.innerHTML</a:t>
            </a:r>
            <a:r>
              <a:rPr lang="en-US" altLang="ko-KR" sz="800" dirty="0"/>
              <a:t> = "";</a:t>
            </a:r>
          </a:p>
          <a:p>
            <a:r>
              <a:rPr lang="en-US" altLang="ko-KR" sz="800" dirty="0"/>
              <a:t>      </a:t>
            </a:r>
            <a:r>
              <a:rPr lang="en-US" altLang="ko-KR" sz="800" dirty="0" err="1"/>
              <a:t>filtered.forEach</a:t>
            </a:r>
            <a:r>
              <a:rPr lang="en-US" altLang="ko-KR" sz="800" dirty="0"/>
              <a:t>(fruit =&gt; {</a:t>
            </a:r>
          </a:p>
          <a:p>
            <a:r>
              <a:rPr lang="en-US" altLang="ko-KR" sz="800" dirty="0"/>
              <a:t>        const li = document.createElement("li");</a:t>
            </a:r>
          </a:p>
          <a:p>
            <a:r>
              <a:rPr lang="en-US" altLang="ko-KR" sz="800" dirty="0"/>
              <a:t>        </a:t>
            </a:r>
            <a:r>
              <a:rPr lang="en-US" altLang="ko-KR" sz="800" dirty="0" err="1"/>
              <a:t>li.textContent</a:t>
            </a:r>
            <a:r>
              <a:rPr lang="en-US" altLang="ko-KR" sz="800" dirty="0"/>
              <a:t> = fruit;</a:t>
            </a:r>
          </a:p>
          <a:p>
            <a:r>
              <a:rPr lang="en-US" altLang="ko-KR" sz="800" dirty="0"/>
              <a:t>        </a:t>
            </a:r>
            <a:r>
              <a:rPr lang="en-US" altLang="ko-KR" sz="800" dirty="0" err="1"/>
              <a:t>list.appendChild</a:t>
            </a:r>
            <a:r>
              <a:rPr lang="en-US" altLang="ko-KR" sz="800" dirty="0"/>
              <a:t>(li);</a:t>
            </a:r>
          </a:p>
          <a:p>
            <a:r>
              <a:rPr lang="en-US" altLang="ko-KR" sz="800" dirty="0"/>
              <a:t>      });</a:t>
            </a:r>
          </a:p>
          <a:p>
            <a:r>
              <a:rPr lang="en-US" altLang="ko-KR" sz="800" dirty="0"/>
              <a:t>    }</a:t>
            </a:r>
          </a:p>
          <a:p>
            <a:r>
              <a:rPr lang="en-US" altLang="ko-KR" sz="800" dirty="0"/>
              <a:t>    function reset() {</a:t>
            </a:r>
          </a:p>
          <a:p>
            <a:r>
              <a:rPr lang="en-US" altLang="ko-KR" sz="800" dirty="0"/>
              <a:t>      render();</a:t>
            </a:r>
          </a:p>
          <a:p>
            <a:r>
              <a:rPr lang="en-US" altLang="ko-KR" sz="800" dirty="0"/>
              <a:t>    }</a:t>
            </a:r>
          </a:p>
          <a:p>
            <a:r>
              <a:rPr lang="en-US" altLang="ko-KR" sz="800" dirty="0"/>
              <a:t>    render(); // </a:t>
            </a:r>
            <a:r>
              <a:rPr lang="ko-KR" altLang="en-US" sz="800" dirty="0"/>
              <a:t>처음 목록 그리기</a:t>
            </a:r>
          </a:p>
          <a:p>
            <a:r>
              <a:rPr lang="ko-KR" altLang="en-US" sz="800" dirty="0"/>
              <a:t>  </a:t>
            </a:r>
            <a:r>
              <a:rPr lang="en-US" altLang="ko-KR" sz="800" dirty="0"/>
              <a:t>&lt;/script&gt;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60E6EC-5838-7269-B1B2-DB4343DA0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2569554"/>
            <a:ext cx="3818329" cy="2635846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34293414"/>
      </p:ext>
    </p:extLst>
  </p:cSld>
  <p:clrMapOvr>
    <a:masterClrMapping/>
  </p:clrMapOvr>
</p:sld>
</file>

<file path=ppt/theme/theme1.xml><?xml version="1.0" encoding="utf-8"?>
<a:theme xmlns:a="http://schemas.openxmlformats.org/drawingml/2006/main" name="가로-고려대마크-1">
  <a:themeElements>
    <a:clrScheme name="가로-고려대마크-1 7">
      <a:dk1>
        <a:srgbClr val="41280D"/>
      </a:dk1>
      <a:lt1>
        <a:srgbClr val="FFFFFF"/>
      </a:lt1>
      <a:dk2>
        <a:srgbClr val="336699"/>
      </a:dk2>
      <a:lt2>
        <a:srgbClr val="666633"/>
      </a:lt2>
      <a:accent1>
        <a:srgbClr val="FFCC66"/>
      </a:accent1>
      <a:accent2>
        <a:srgbClr val="993300"/>
      </a:accent2>
      <a:accent3>
        <a:srgbClr val="FFFFFF"/>
      </a:accent3>
      <a:accent4>
        <a:srgbClr val="362109"/>
      </a:accent4>
      <a:accent5>
        <a:srgbClr val="FFE2B8"/>
      </a:accent5>
      <a:accent6>
        <a:srgbClr val="8A2D00"/>
      </a:accent6>
      <a:hlink>
        <a:srgbClr val="008000"/>
      </a:hlink>
      <a:folHlink>
        <a:srgbClr val="969696"/>
      </a:folHlink>
    </a:clrScheme>
    <a:fontScheme name="가로-고려대마크-1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가로-고려대마크-1 1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2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6">
        <a:dk1>
          <a:srgbClr val="41280D"/>
        </a:dk1>
        <a:lt1>
          <a:srgbClr val="FFFFFF"/>
        </a:lt1>
        <a:dk2>
          <a:srgbClr val="B4783C"/>
        </a:dk2>
        <a:lt2>
          <a:srgbClr val="666633"/>
        </a:lt2>
        <a:accent1>
          <a:srgbClr val="4C7188"/>
        </a:accent1>
        <a:accent2>
          <a:srgbClr val="FF9900"/>
        </a:accent2>
        <a:accent3>
          <a:srgbClr val="FFFFFF"/>
        </a:accent3>
        <a:accent4>
          <a:srgbClr val="362109"/>
        </a:accent4>
        <a:accent5>
          <a:srgbClr val="B2BBC3"/>
        </a:accent5>
        <a:accent6>
          <a:srgbClr val="E78A00"/>
        </a:accent6>
        <a:hlink>
          <a:srgbClr val="0000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7">
        <a:dk1>
          <a:srgbClr val="41280D"/>
        </a:dk1>
        <a:lt1>
          <a:srgbClr val="FFFFFF"/>
        </a:lt1>
        <a:dk2>
          <a:srgbClr val="336699"/>
        </a:dk2>
        <a:lt2>
          <a:srgbClr val="666633"/>
        </a:lt2>
        <a:accent1>
          <a:srgbClr val="FFCC66"/>
        </a:accent1>
        <a:accent2>
          <a:srgbClr val="993300"/>
        </a:accent2>
        <a:accent3>
          <a:srgbClr val="FFFFFF"/>
        </a:accent3>
        <a:accent4>
          <a:srgbClr val="362109"/>
        </a:accent4>
        <a:accent5>
          <a:srgbClr val="FFE2B8"/>
        </a:accent5>
        <a:accent6>
          <a:srgbClr val="8A2D00"/>
        </a:accent6>
        <a:hlink>
          <a:srgbClr val="008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8</Pages>
  <Paragraphs>160</Paragraphs>
  <Words>959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조재한</dc:creator>
  <cp:lastModifiedBy>a93686351</cp:lastModifiedBy>
  <dc:title>정보기기 소프트웨어 설계(1학기)</dc:title>
  <cp:version>10.105.293.56114</cp:version>
  <dcterms:modified xsi:type="dcterms:W3CDTF">2026-03-04T03:26:41Z</dcterms:modified>
</cp:coreProperties>
</file>